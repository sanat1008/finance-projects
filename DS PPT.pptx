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1" r:id="rId3"/>
    <p:sldId id="258" r:id="rId4"/>
    <p:sldId id="259" r:id="rId5"/>
    <p:sldId id="261" r:id="rId6"/>
    <p:sldId id="272" r:id="rId7"/>
    <p:sldId id="265" r:id="rId8"/>
    <p:sldId id="266" r:id="rId9"/>
    <p:sldId id="269" r:id="rId10"/>
    <p:sldId id="267" r:id="rId11"/>
    <p:sldId id="270" r:id="rId12"/>
    <p:sldId id="27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snapToGrid="0">
      <p:cViewPr>
        <p:scale>
          <a:sx n="89" d="100"/>
          <a:sy n="89" d="100"/>
        </p:scale>
        <p:origin x="45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194B4-C948-D0B0-125E-241A9EA985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6DA326-B2EF-D743-BC00-6AEC824B5E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F0F9BC1-2858-2EBB-505E-554AFF7BE6E5}"/>
              </a:ext>
            </a:extLst>
          </p:cNvPr>
          <p:cNvSpPr>
            <a:spLocks noGrp="1"/>
          </p:cNvSpPr>
          <p:nvPr>
            <p:ph type="dt" sz="half" idx="10"/>
          </p:nvPr>
        </p:nvSpPr>
        <p:spPr/>
        <p:txBody>
          <a:bodyPr/>
          <a:lstStyle/>
          <a:p>
            <a:fld id="{D68D7478-770E-462A-AE0C-80DABD918689}" type="datetimeFigureOut">
              <a:rPr lang="en-IN" smtClean="0"/>
              <a:t>24-07-2024</a:t>
            </a:fld>
            <a:endParaRPr lang="en-IN"/>
          </a:p>
        </p:txBody>
      </p:sp>
      <p:sp>
        <p:nvSpPr>
          <p:cNvPr id="5" name="Footer Placeholder 4">
            <a:extLst>
              <a:ext uri="{FF2B5EF4-FFF2-40B4-BE49-F238E27FC236}">
                <a16:creationId xmlns:a16="http://schemas.microsoft.com/office/drawing/2014/main" id="{FBEAEC38-B08D-357A-EB84-3370CED610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844D5F-8245-92C3-500E-9073B84B9D8A}"/>
              </a:ext>
            </a:extLst>
          </p:cNvPr>
          <p:cNvSpPr>
            <a:spLocks noGrp="1"/>
          </p:cNvSpPr>
          <p:nvPr>
            <p:ph type="sldNum" sz="quarter" idx="12"/>
          </p:nvPr>
        </p:nvSpPr>
        <p:spPr/>
        <p:txBody>
          <a:bodyPr/>
          <a:lstStyle/>
          <a:p>
            <a:fld id="{FA399DEA-2FB7-4279-BBCC-A71FF970FAD6}" type="slidenum">
              <a:rPr lang="en-IN" smtClean="0"/>
              <a:t>‹#›</a:t>
            </a:fld>
            <a:endParaRPr lang="en-IN"/>
          </a:p>
        </p:txBody>
      </p:sp>
    </p:spTree>
    <p:extLst>
      <p:ext uri="{BB962C8B-B14F-4D97-AF65-F5344CB8AC3E}">
        <p14:creationId xmlns:p14="http://schemas.microsoft.com/office/powerpoint/2010/main" val="1912336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A78A2-0015-0ECC-F39D-CC7C6C9986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10098C-C076-42CB-4C9A-FC4C82BBAC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1104AE-0654-3E16-621D-D0B5128CB111}"/>
              </a:ext>
            </a:extLst>
          </p:cNvPr>
          <p:cNvSpPr>
            <a:spLocks noGrp="1"/>
          </p:cNvSpPr>
          <p:nvPr>
            <p:ph type="dt" sz="half" idx="10"/>
          </p:nvPr>
        </p:nvSpPr>
        <p:spPr/>
        <p:txBody>
          <a:bodyPr/>
          <a:lstStyle/>
          <a:p>
            <a:fld id="{D68D7478-770E-462A-AE0C-80DABD918689}" type="datetimeFigureOut">
              <a:rPr lang="en-IN" smtClean="0"/>
              <a:t>24-07-2024</a:t>
            </a:fld>
            <a:endParaRPr lang="en-IN"/>
          </a:p>
        </p:txBody>
      </p:sp>
      <p:sp>
        <p:nvSpPr>
          <p:cNvPr id="5" name="Footer Placeholder 4">
            <a:extLst>
              <a:ext uri="{FF2B5EF4-FFF2-40B4-BE49-F238E27FC236}">
                <a16:creationId xmlns:a16="http://schemas.microsoft.com/office/drawing/2014/main" id="{7C26539C-B6B0-24D1-5075-C23C437C3D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50A806-508F-FBBE-55DB-3CA8A29E0743}"/>
              </a:ext>
            </a:extLst>
          </p:cNvPr>
          <p:cNvSpPr>
            <a:spLocks noGrp="1"/>
          </p:cNvSpPr>
          <p:nvPr>
            <p:ph type="sldNum" sz="quarter" idx="12"/>
          </p:nvPr>
        </p:nvSpPr>
        <p:spPr/>
        <p:txBody>
          <a:bodyPr/>
          <a:lstStyle/>
          <a:p>
            <a:fld id="{FA399DEA-2FB7-4279-BBCC-A71FF970FAD6}" type="slidenum">
              <a:rPr lang="en-IN" smtClean="0"/>
              <a:t>‹#›</a:t>
            </a:fld>
            <a:endParaRPr lang="en-IN"/>
          </a:p>
        </p:txBody>
      </p:sp>
    </p:spTree>
    <p:extLst>
      <p:ext uri="{BB962C8B-B14F-4D97-AF65-F5344CB8AC3E}">
        <p14:creationId xmlns:p14="http://schemas.microsoft.com/office/powerpoint/2010/main" val="2851051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E51B0-FA1C-2F22-3F1C-F57C4DAD9D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CB3F421-B466-C583-6FC4-4FC52C24EE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320F77-BC46-8331-7F9F-17EB5F411ADF}"/>
              </a:ext>
            </a:extLst>
          </p:cNvPr>
          <p:cNvSpPr>
            <a:spLocks noGrp="1"/>
          </p:cNvSpPr>
          <p:nvPr>
            <p:ph type="dt" sz="half" idx="10"/>
          </p:nvPr>
        </p:nvSpPr>
        <p:spPr/>
        <p:txBody>
          <a:bodyPr/>
          <a:lstStyle/>
          <a:p>
            <a:fld id="{D68D7478-770E-462A-AE0C-80DABD918689}" type="datetimeFigureOut">
              <a:rPr lang="en-IN" smtClean="0"/>
              <a:t>24-07-2024</a:t>
            </a:fld>
            <a:endParaRPr lang="en-IN"/>
          </a:p>
        </p:txBody>
      </p:sp>
      <p:sp>
        <p:nvSpPr>
          <p:cNvPr id="5" name="Footer Placeholder 4">
            <a:extLst>
              <a:ext uri="{FF2B5EF4-FFF2-40B4-BE49-F238E27FC236}">
                <a16:creationId xmlns:a16="http://schemas.microsoft.com/office/drawing/2014/main" id="{2F56F530-1BDF-1CB3-8DFA-62009E0577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A509C4-3E83-3A5C-BCA1-B631DEF8AFBD}"/>
              </a:ext>
            </a:extLst>
          </p:cNvPr>
          <p:cNvSpPr>
            <a:spLocks noGrp="1"/>
          </p:cNvSpPr>
          <p:nvPr>
            <p:ph type="sldNum" sz="quarter" idx="12"/>
          </p:nvPr>
        </p:nvSpPr>
        <p:spPr/>
        <p:txBody>
          <a:bodyPr/>
          <a:lstStyle/>
          <a:p>
            <a:fld id="{FA399DEA-2FB7-4279-BBCC-A71FF970FAD6}" type="slidenum">
              <a:rPr lang="en-IN" smtClean="0"/>
              <a:t>‹#›</a:t>
            </a:fld>
            <a:endParaRPr lang="en-IN"/>
          </a:p>
        </p:txBody>
      </p:sp>
    </p:spTree>
    <p:extLst>
      <p:ext uri="{BB962C8B-B14F-4D97-AF65-F5344CB8AC3E}">
        <p14:creationId xmlns:p14="http://schemas.microsoft.com/office/powerpoint/2010/main" val="1295526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BBFEA-933C-C483-AA42-71CEE699C0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6450402-141E-B616-EE16-956CFB847D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AC492DD-86BF-A84E-02C2-E41F23B7F2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08E9C5A-3956-B9CF-3478-5D1772B3897D}"/>
              </a:ext>
            </a:extLst>
          </p:cNvPr>
          <p:cNvSpPr>
            <a:spLocks noGrp="1"/>
          </p:cNvSpPr>
          <p:nvPr>
            <p:ph type="dt" sz="half" idx="10"/>
          </p:nvPr>
        </p:nvSpPr>
        <p:spPr/>
        <p:txBody>
          <a:bodyPr/>
          <a:lstStyle/>
          <a:p>
            <a:fld id="{D68D7478-770E-462A-AE0C-80DABD918689}" type="datetimeFigureOut">
              <a:rPr lang="en-IN" smtClean="0"/>
              <a:t>24-07-2024</a:t>
            </a:fld>
            <a:endParaRPr lang="en-IN"/>
          </a:p>
        </p:txBody>
      </p:sp>
      <p:sp>
        <p:nvSpPr>
          <p:cNvPr id="6" name="Footer Placeholder 5">
            <a:extLst>
              <a:ext uri="{FF2B5EF4-FFF2-40B4-BE49-F238E27FC236}">
                <a16:creationId xmlns:a16="http://schemas.microsoft.com/office/drawing/2014/main" id="{33F3B2E8-974F-A9DF-9EFE-1E03D180F1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98C014-733E-198E-E3F2-5331101F040C}"/>
              </a:ext>
            </a:extLst>
          </p:cNvPr>
          <p:cNvSpPr>
            <a:spLocks noGrp="1"/>
          </p:cNvSpPr>
          <p:nvPr>
            <p:ph type="sldNum" sz="quarter" idx="12"/>
          </p:nvPr>
        </p:nvSpPr>
        <p:spPr/>
        <p:txBody>
          <a:bodyPr/>
          <a:lstStyle/>
          <a:p>
            <a:fld id="{FA399DEA-2FB7-4279-BBCC-A71FF970FAD6}" type="slidenum">
              <a:rPr lang="en-IN" smtClean="0"/>
              <a:t>‹#›</a:t>
            </a:fld>
            <a:endParaRPr lang="en-IN"/>
          </a:p>
        </p:txBody>
      </p:sp>
    </p:spTree>
    <p:extLst>
      <p:ext uri="{BB962C8B-B14F-4D97-AF65-F5344CB8AC3E}">
        <p14:creationId xmlns:p14="http://schemas.microsoft.com/office/powerpoint/2010/main" val="3511702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08EE8-4DD7-CC8D-BA07-826B1C597FD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CB850E-6096-0279-6B6B-AA606A7062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E2BBCD-8133-2A18-1058-17B994695A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9B9917-3092-8BE9-845E-59915E9AD8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B6B2BE-8118-E93E-3C8F-AC727FE863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48E8D84-851E-D4C5-924C-6360FC4FA44C}"/>
              </a:ext>
            </a:extLst>
          </p:cNvPr>
          <p:cNvSpPr>
            <a:spLocks noGrp="1"/>
          </p:cNvSpPr>
          <p:nvPr>
            <p:ph type="dt" sz="half" idx="10"/>
          </p:nvPr>
        </p:nvSpPr>
        <p:spPr/>
        <p:txBody>
          <a:bodyPr/>
          <a:lstStyle/>
          <a:p>
            <a:fld id="{D68D7478-770E-462A-AE0C-80DABD918689}" type="datetimeFigureOut">
              <a:rPr lang="en-IN" smtClean="0"/>
              <a:t>24-07-2024</a:t>
            </a:fld>
            <a:endParaRPr lang="en-IN"/>
          </a:p>
        </p:txBody>
      </p:sp>
      <p:sp>
        <p:nvSpPr>
          <p:cNvPr id="8" name="Footer Placeholder 7">
            <a:extLst>
              <a:ext uri="{FF2B5EF4-FFF2-40B4-BE49-F238E27FC236}">
                <a16:creationId xmlns:a16="http://schemas.microsoft.com/office/drawing/2014/main" id="{C0B0F846-1584-0F3C-6929-016EB1EE22F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E7675B6-D89C-E9DF-EBB0-A2478745B04A}"/>
              </a:ext>
            </a:extLst>
          </p:cNvPr>
          <p:cNvSpPr>
            <a:spLocks noGrp="1"/>
          </p:cNvSpPr>
          <p:nvPr>
            <p:ph type="sldNum" sz="quarter" idx="12"/>
          </p:nvPr>
        </p:nvSpPr>
        <p:spPr/>
        <p:txBody>
          <a:bodyPr/>
          <a:lstStyle/>
          <a:p>
            <a:fld id="{FA399DEA-2FB7-4279-BBCC-A71FF970FAD6}" type="slidenum">
              <a:rPr lang="en-IN" smtClean="0"/>
              <a:t>‹#›</a:t>
            </a:fld>
            <a:endParaRPr lang="en-IN"/>
          </a:p>
        </p:txBody>
      </p:sp>
    </p:spTree>
    <p:extLst>
      <p:ext uri="{BB962C8B-B14F-4D97-AF65-F5344CB8AC3E}">
        <p14:creationId xmlns:p14="http://schemas.microsoft.com/office/powerpoint/2010/main" val="2385421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241EE-5161-5C2B-E497-08D1C951B28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E5B7C8A-5EE7-60E8-493A-2F43B97D2B6B}"/>
              </a:ext>
            </a:extLst>
          </p:cNvPr>
          <p:cNvSpPr>
            <a:spLocks noGrp="1"/>
          </p:cNvSpPr>
          <p:nvPr>
            <p:ph type="dt" sz="half" idx="10"/>
          </p:nvPr>
        </p:nvSpPr>
        <p:spPr/>
        <p:txBody>
          <a:bodyPr/>
          <a:lstStyle/>
          <a:p>
            <a:fld id="{D68D7478-770E-462A-AE0C-80DABD918689}" type="datetimeFigureOut">
              <a:rPr lang="en-IN" smtClean="0"/>
              <a:t>24-07-2024</a:t>
            </a:fld>
            <a:endParaRPr lang="en-IN"/>
          </a:p>
        </p:txBody>
      </p:sp>
      <p:sp>
        <p:nvSpPr>
          <p:cNvPr id="4" name="Footer Placeholder 3">
            <a:extLst>
              <a:ext uri="{FF2B5EF4-FFF2-40B4-BE49-F238E27FC236}">
                <a16:creationId xmlns:a16="http://schemas.microsoft.com/office/drawing/2014/main" id="{ED4AF24A-22F1-7CAB-C920-0E3E8EB2437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AD398D8-A67F-65BF-3D6C-7765E2ECB42A}"/>
              </a:ext>
            </a:extLst>
          </p:cNvPr>
          <p:cNvSpPr>
            <a:spLocks noGrp="1"/>
          </p:cNvSpPr>
          <p:nvPr>
            <p:ph type="sldNum" sz="quarter" idx="12"/>
          </p:nvPr>
        </p:nvSpPr>
        <p:spPr/>
        <p:txBody>
          <a:bodyPr/>
          <a:lstStyle/>
          <a:p>
            <a:fld id="{FA399DEA-2FB7-4279-BBCC-A71FF970FAD6}" type="slidenum">
              <a:rPr lang="en-IN" smtClean="0"/>
              <a:t>‹#›</a:t>
            </a:fld>
            <a:endParaRPr lang="en-IN"/>
          </a:p>
        </p:txBody>
      </p:sp>
    </p:spTree>
    <p:extLst>
      <p:ext uri="{BB962C8B-B14F-4D97-AF65-F5344CB8AC3E}">
        <p14:creationId xmlns:p14="http://schemas.microsoft.com/office/powerpoint/2010/main" val="3492752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72268D-E857-18E3-D764-61A9D0B95271}"/>
              </a:ext>
            </a:extLst>
          </p:cNvPr>
          <p:cNvSpPr>
            <a:spLocks noGrp="1"/>
          </p:cNvSpPr>
          <p:nvPr>
            <p:ph type="dt" sz="half" idx="10"/>
          </p:nvPr>
        </p:nvSpPr>
        <p:spPr/>
        <p:txBody>
          <a:bodyPr/>
          <a:lstStyle/>
          <a:p>
            <a:fld id="{D68D7478-770E-462A-AE0C-80DABD918689}" type="datetimeFigureOut">
              <a:rPr lang="en-IN" smtClean="0"/>
              <a:t>24-07-2024</a:t>
            </a:fld>
            <a:endParaRPr lang="en-IN"/>
          </a:p>
        </p:txBody>
      </p:sp>
      <p:sp>
        <p:nvSpPr>
          <p:cNvPr id="3" name="Footer Placeholder 2">
            <a:extLst>
              <a:ext uri="{FF2B5EF4-FFF2-40B4-BE49-F238E27FC236}">
                <a16:creationId xmlns:a16="http://schemas.microsoft.com/office/drawing/2014/main" id="{56363885-CF52-7A3A-4A0F-31F1B6B6968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1E9DD3A-594C-2035-029C-E545C4A03653}"/>
              </a:ext>
            </a:extLst>
          </p:cNvPr>
          <p:cNvSpPr>
            <a:spLocks noGrp="1"/>
          </p:cNvSpPr>
          <p:nvPr>
            <p:ph type="sldNum" sz="quarter" idx="12"/>
          </p:nvPr>
        </p:nvSpPr>
        <p:spPr/>
        <p:txBody>
          <a:bodyPr/>
          <a:lstStyle/>
          <a:p>
            <a:fld id="{FA399DEA-2FB7-4279-BBCC-A71FF970FAD6}" type="slidenum">
              <a:rPr lang="en-IN" smtClean="0"/>
              <a:t>‹#›</a:t>
            </a:fld>
            <a:endParaRPr lang="en-IN"/>
          </a:p>
        </p:txBody>
      </p:sp>
    </p:spTree>
    <p:extLst>
      <p:ext uri="{BB962C8B-B14F-4D97-AF65-F5344CB8AC3E}">
        <p14:creationId xmlns:p14="http://schemas.microsoft.com/office/powerpoint/2010/main" val="413454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9A8F5-5069-85EA-6E1D-313E5C3FC3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852F8E2-F177-E623-0832-61602BEBF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BDABF0-2A9E-2DA5-F915-9AEDD80C8C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62D4E4-5CE6-864D-CBD0-8909622C7496}"/>
              </a:ext>
            </a:extLst>
          </p:cNvPr>
          <p:cNvSpPr>
            <a:spLocks noGrp="1"/>
          </p:cNvSpPr>
          <p:nvPr>
            <p:ph type="dt" sz="half" idx="10"/>
          </p:nvPr>
        </p:nvSpPr>
        <p:spPr/>
        <p:txBody>
          <a:bodyPr/>
          <a:lstStyle/>
          <a:p>
            <a:fld id="{D68D7478-770E-462A-AE0C-80DABD918689}" type="datetimeFigureOut">
              <a:rPr lang="en-IN" smtClean="0"/>
              <a:t>24-07-2024</a:t>
            </a:fld>
            <a:endParaRPr lang="en-IN"/>
          </a:p>
        </p:txBody>
      </p:sp>
      <p:sp>
        <p:nvSpPr>
          <p:cNvPr id="6" name="Footer Placeholder 5">
            <a:extLst>
              <a:ext uri="{FF2B5EF4-FFF2-40B4-BE49-F238E27FC236}">
                <a16:creationId xmlns:a16="http://schemas.microsoft.com/office/drawing/2014/main" id="{39ED6F90-4D61-0447-07FE-D4CD23120B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89A1D6-D934-7480-4256-06431F725F78}"/>
              </a:ext>
            </a:extLst>
          </p:cNvPr>
          <p:cNvSpPr>
            <a:spLocks noGrp="1"/>
          </p:cNvSpPr>
          <p:nvPr>
            <p:ph type="sldNum" sz="quarter" idx="12"/>
          </p:nvPr>
        </p:nvSpPr>
        <p:spPr/>
        <p:txBody>
          <a:bodyPr/>
          <a:lstStyle/>
          <a:p>
            <a:fld id="{FA399DEA-2FB7-4279-BBCC-A71FF970FAD6}" type="slidenum">
              <a:rPr lang="en-IN" smtClean="0"/>
              <a:t>‹#›</a:t>
            </a:fld>
            <a:endParaRPr lang="en-IN"/>
          </a:p>
        </p:txBody>
      </p:sp>
    </p:spTree>
    <p:extLst>
      <p:ext uri="{BB962C8B-B14F-4D97-AF65-F5344CB8AC3E}">
        <p14:creationId xmlns:p14="http://schemas.microsoft.com/office/powerpoint/2010/main" val="175516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1135-848C-5D04-234C-DBEA7B3366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6087D55-6545-69AE-2E0F-301DFFD5FE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4DFD885-293B-9F25-A212-885B04B7C2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DE0004-24A0-4B0B-BF6D-D1161FC5FD28}"/>
              </a:ext>
            </a:extLst>
          </p:cNvPr>
          <p:cNvSpPr>
            <a:spLocks noGrp="1"/>
          </p:cNvSpPr>
          <p:nvPr>
            <p:ph type="dt" sz="half" idx="10"/>
          </p:nvPr>
        </p:nvSpPr>
        <p:spPr/>
        <p:txBody>
          <a:bodyPr/>
          <a:lstStyle/>
          <a:p>
            <a:fld id="{D68D7478-770E-462A-AE0C-80DABD918689}" type="datetimeFigureOut">
              <a:rPr lang="en-IN" smtClean="0"/>
              <a:t>24-07-2024</a:t>
            </a:fld>
            <a:endParaRPr lang="en-IN"/>
          </a:p>
        </p:txBody>
      </p:sp>
      <p:sp>
        <p:nvSpPr>
          <p:cNvPr id="6" name="Footer Placeholder 5">
            <a:extLst>
              <a:ext uri="{FF2B5EF4-FFF2-40B4-BE49-F238E27FC236}">
                <a16:creationId xmlns:a16="http://schemas.microsoft.com/office/drawing/2014/main" id="{3C293659-AA1D-CC9C-5207-C15C348B4B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9798C8-4036-A592-6667-BEAD75F831A6}"/>
              </a:ext>
            </a:extLst>
          </p:cNvPr>
          <p:cNvSpPr>
            <a:spLocks noGrp="1"/>
          </p:cNvSpPr>
          <p:nvPr>
            <p:ph type="sldNum" sz="quarter" idx="12"/>
          </p:nvPr>
        </p:nvSpPr>
        <p:spPr/>
        <p:txBody>
          <a:bodyPr/>
          <a:lstStyle/>
          <a:p>
            <a:fld id="{FA399DEA-2FB7-4279-BBCC-A71FF970FAD6}" type="slidenum">
              <a:rPr lang="en-IN" smtClean="0"/>
              <a:t>‹#›</a:t>
            </a:fld>
            <a:endParaRPr lang="en-IN"/>
          </a:p>
        </p:txBody>
      </p:sp>
    </p:spTree>
    <p:extLst>
      <p:ext uri="{BB962C8B-B14F-4D97-AF65-F5344CB8AC3E}">
        <p14:creationId xmlns:p14="http://schemas.microsoft.com/office/powerpoint/2010/main" val="2220548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3E5C9-BCF9-2626-CF82-A6EA62EF34D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EE7C15-321C-AB6B-46D3-AA69F016F0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333C0E-9827-DFB1-A031-4BE1F99B21E6}"/>
              </a:ext>
            </a:extLst>
          </p:cNvPr>
          <p:cNvSpPr>
            <a:spLocks noGrp="1"/>
          </p:cNvSpPr>
          <p:nvPr>
            <p:ph type="dt" sz="half" idx="10"/>
          </p:nvPr>
        </p:nvSpPr>
        <p:spPr/>
        <p:txBody>
          <a:bodyPr/>
          <a:lstStyle/>
          <a:p>
            <a:fld id="{D68D7478-770E-462A-AE0C-80DABD918689}" type="datetimeFigureOut">
              <a:rPr lang="en-IN" smtClean="0"/>
              <a:t>24-07-2024</a:t>
            </a:fld>
            <a:endParaRPr lang="en-IN"/>
          </a:p>
        </p:txBody>
      </p:sp>
      <p:sp>
        <p:nvSpPr>
          <p:cNvPr id="5" name="Footer Placeholder 4">
            <a:extLst>
              <a:ext uri="{FF2B5EF4-FFF2-40B4-BE49-F238E27FC236}">
                <a16:creationId xmlns:a16="http://schemas.microsoft.com/office/drawing/2014/main" id="{72F1DEC7-C687-888F-B2B9-8A0C85B385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284D54-C818-A4D0-0623-AD7A68B0CB87}"/>
              </a:ext>
            </a:extLst>
          </p:cNvPr>
          <p:cNvSpPr>
            <a:spLocks noGrp="1"/>
          </p:cNvSpPr>
          <p:nvPr>
            <p:ph type="sldNum" sz="quarter" idx="12"/>
          </p:nvPr>
        </p:nvSpPr>
        <p:spPr/>
        <p:txBody>
          <a:bodyPr/>
          <a:lstStyle/>
          <a:p>
            <a:fld id="{FA399DEA-2FB7-4279-BBCC-A71FF970FAD6}" type="slidenum">
              <a:rPr lang="en-IN" smtClean="0"/>
              <a:t>‹#›</a:t>
            </a:fld>
            <a:endParaRPr lang="en-IN"/>
          </a:p>
        </p:txBody>
      </p:sp>
    </p:spTree>
    <p:extLst>
      <p:ext uri="{BB962C8B-B14F-4D97-AF65-F5344CB8AC3E}">
        <p14:creationId xmlns:p14="http://schemas.microsoft.com/office/powerpoint/2010/main" val="1619140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A5C0FC-ACE0-F46D-760A-1BB7B6904D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A3D8F13-9774-54FD-749B-55F16B003D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C84781-F5B9-9D41-6F10-CE19365FA917}"/>
              </a:ext>
            </a:extLst>
          </p:cNvPr>
          <p:cNvSpPr>
            <a:spLocks noGrp="1"/>
          </p:cNvSpPr>
          <p:nvPr>
            <p:ph type="dt" sz="half" idx="10"/>
          </p:nvPr>
        </p:nvSpPr>
        <p:spPr/>
        <p:txBody>
          <a:bodyPr/>
          <a:lstStyle/>
          <a:p>
            <a:fld id="{D68D7478-770E-462A-AE0C-80DABD918689}" type="datetimeFigureOut">
              <a:rPr lang="en-IN" smtClean="0"/>
              <a:t>24-07-2024</a:t>
            </a:fld>
            <a:endParaRPr lang="en-IN"/>
          </a:p>
        </p:txBody>
      </p:sp>
      <p:sp>
        <p:nvSpPr>
          <p:cNvPr id="5" name="Footer Placeholder 4">
            <a:extLst>
              <a:ext uri="{FF2B5EF4-FFF2-40B4-BE49-F238E27FC236}">
                <a16:creationId xmlns:a16="http://schemas.microsoft.com/office/drawing/2014/main" id="{251272AA-0400-1CEF-7CED-70B45BB130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44E38E-37D3-430B-6F91-2C414EE6F846}"/>
              </a:ext>
            </a:extLst>
          </p:cNvPr>
          <p:cNvSpPr>
            <a:spLocks noGrp="1"/>
          </p:cNvSpPr>
          <p:nvPr>
            <p:ph type="sldNum" sz="quarter" idx="12"/>
          </p:nvPr>
        </p:nvSpPr>
        <p:spPr/>
        <p:txBody>
          <a:bodyPr/>
          <a:lstStyle/>
          <a:p>
            <a:fld id="{FA399DEA-2FB7-4279-BBCC-A71FF970FAD6}" type="slidenum">
              <a:rPr lang="en-IN" smtClean="0"/>
              <a:t>‹#›</a:t>
            </a:fld>
            <a:endParaRPr lang="en-IN"/>
          </a:p>
        </p:txBody>
      </p:sp>
    </p:spTree>
    <p:extLst>
      <p:ext uri="{BB962C8B-B14F-4D97-AF65-F5344CB8AC3E}">
        <p14:creationId xmlns:p14="http://schemas.microsoft.com/office/powerpoint/2010/main" val="4016423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7380B5-04FD-CB3D-B823-386718494F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D745DB0-4D69-6178-E373-7C3728D697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86E12C-2BB4-73FC-69E6-36408431B6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8D7478-770E-462A-AE0C-80DABD918689}" type="datetimeFigureOut">
              <a:rPr lang="en-IN" smtClean="0"/>
              <a:t>24-07-2024</a:t>
            </a:fld>
            <a:endParaRPr lang="en-IN"/>
          </a:p>
        </p:txBody>
      </p:sp>
      <p:sp>
        <p:nvSpPr>
          <p:cNvPr id="5" name="Footer Placeholder 4">
            <a:extLst>
              <a:ext uri="{FF2B5EF4-FFF2-40B4-BE49-F238E27FC236}">
                <a16:creationId xmlns:a16="http://schemas.microsoft.com/office/drawing/2014/main" id="{4CCA433D-6F9D-173E-EF5D-D54CF89A41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225D664-36AE-8655-6D52-52C55C2708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399DEA-2FB7-4279-BBCC-A71FF970FAD6}" type="slidenum">
              <a:rPr lang="en-IN" smtClean="0"/>
              <a:t>‹#›</a:t>
            </a:fld>
            <a:endParaRPr lang="en-IN"/>
          </a:p>
        </p:txBody>
      </p:sp>
    </p:spTree>
    <p:extLst>
      <p:ext uri="{BB962C8B-B14F-4D97-AF65-F5344CB8AC3E}">
        <p14:creationId xmlns:p14="http://schemas.microsoft.com/office/powerpoint/2010/main" val="315426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4.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4.xml" /></Relationships>
</file>

<file path=ppt/slides/_rels/slide8.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5.xml" /></Relationships>
</file>

<file path=ppt/slides/_rels/slide9.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5.xml" /></Relationships>
</file>

<file path=ppt/slides/_rels/slide10.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847E7-34C8-739E-6511-06612B493F33}"/>
              </a:ext>
            </a:extLst>
          </p:cNvPr>
          <p:cNvSpPr>
            <a:spLocks noGrp="1"/>
          </p:cNvSpPr>
          <p:nvPr>
            <p:ph type="ctrTitle"/>
          </p:nvPr>
        </p:nvSpPr>
        <p:spPr>
          <a:xfrm>
            <a:off x="1446362" y="535766"/>
            <a:ext cx="9144000" cy="2387600"/>
          </a:xfrm>
        </p:spPr>
        <p:txBody>
          <a:bodyPr/>
          <a:lstStyle/>
          <a:p>
            <a:r>
              <a:rPr lang="en-IN" dirty="0"/>
              <a:t>STANDARD DEVIATION AND ITS MEASURES</a:t>
            </a:r>
          </a:p>
        </p:txBody>
      </p:sp>
      <p:sp>
        <p:nvSpPr>
          <p:cNvPr id="3" name="Subtitle 2">
            <a:extLst>
              <a:ext uri="{FF2B5EF4-FFF2-40B4-BE49-F238E27FC236}">
                <a16:creationId xmlns:a16="http://schemas.microsoft.com/office/drawing/2014/main" id="{78D790C2-C888-3C4F-3A44-D35336CB7AA7}"/>
              </a:ext>
            </a:extLst>
          </p:cNvPr>
          <p:cNvSpPr>
            <a:spLocks noGrp="1"/>
          </p:cNvSpPr>
          <p:nvPr>
            <p:ph type="subTitle" idx="1"/>
          </p:nvPr>
        </p:nvSpPr>
        <p:spPr>
          <a:xfrm>
            <a:off x="1446362" y="3170717"/>
            <a:ext cx="9144000" cy="2246671"/>
          </a:xfrm>
        </p:spPr>
        <p:txBody>
          <a:bodyPr>
            <a:normAutofit fontScale="92500" lnSpcReduction="20000"/>
          </a:bodyPr>
          <a:lstStyle/>
          <a:p>
            <a:r>
              <a:rPr lang="en-IN" dirty="0"/>
              <a:t>BY</a:t>
            </a:r>
          </a:p>
          <a:p>
            <a:r>
              <a:rPr lang="en-IN" dirty="0"/>
              <a:t> </a:t>
            </a:r>
            <a:r>
              <a:rPr lang="en-IN" dirty="0" err="1"/>
              <a:t>Sanat</a:t>
            </a:r>
            <a:r>
              <a:rPr lang="en-IN" dirty="0"/>
              <a:t> Arun Kumar Mishra (A041)</a:t>
            </a:r>
          </a:p>
          <a:p>
            <a:r>
              <a:rPr lang="en-IN" dirty="0"/>
              <a:t>Harshit Deshmukh (A040)</a:t>
            </a:r>
          </a:p>
          <a:p>
            <a:r>
              <a:rPr lang="en-IN" dirty="0" err="1"/>
              <a:t>Siddh</a:t>
            </a:r>
            <a:r>
              <a:rPr lang="en-IN" dirty="0"/>
              <a:t> Anil Shah (A012)</a:t>
            </a:r>
          </a:p>
          <a:p>
            <a:r>
              <a:rPr lang="en-IN" dirty="0" err="1"/>
              <a:t>Taksh</a:t>
            </a:r>
            <a:r>
              <a:rPr lang="en-IN" dirty="0"/>
              <a:t> Mathur (A011)</a:t>
            </a:r>
          </a:p>
          <a:p>
            <a:r>
              <a:rPr lang="en-IN" dirty="0"/>
              <a:t> Shivan Bhura (A001)</a:t>
            </a:r>
          </a:p>
        </p:txBody>
      </p:sp>
    </p:spTree>
    <p:extLst>
      <p:ext uri="{BB962C8B-B14F-4D97-AF65-F5344CB8AC3E}">
        <p14:creationId xmlns:p14="http://schemas.microsoft.com/office/powerpoint/2010/main" val="919492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50B84-CA72-E2C5-EF84-A0CFD8BAD234}"/>
              </a:ext>
            </a:extLst>
          </p:cNvPr>
          <p:cNvSpPr>
            <a:spLocks noGrp="1"/>
          </p:cNvSpPr>
          <p:nvPr>
            <p:ph type="title"/>
          </p:nvPr>
        </p:nvSpPr>
        <p:spPr>
          <a:xfrm>
            <a:off x="838200" y="132212"/>
            <a:ext cx="10515600" cy="1325563"/>
          </a:xfrm>
        </p:spPr>
        <p:txBody>
          <a:bodyPr/>
          <a:lstStyle/>
          <a:p>
            <a:r>
              <a:rPr lang="en-IN" b="1" dirty="0">
                <a:latin typeface="Helvetica" panose="020B0604020202020204" pitchFamily="34" charset="0"/>
                <a:cs typeface="Helvetica" panose="020B0604020202020204" pitchFamily="34" charset="0"/>
              </a:rPr>
              <a:t>Standard Deviation</a:t>
            </a:r>
          </a:p>
        </p:txBody>
      </p:sp>
      <p:sp>
        <p:nvSpPr>
          <p:cNvPr id="3" name="Content Placeholder 2">
            <a:extLst>
              <a:ext uri="{FF2B5EF4-FFF2-40B4-BE49-F238E27FC236}">
                <a16:creationId xmlns:a16="http://schemas.microsoft.com/office/drawing/2014/main" id="{09DAD4B4-D47C-5FF5-3070-DB3AB5027565}"/>
              </a:ext>
            </a:extLst>
          </p:cNvPr>
          <p:cNvSpPr>
            <a:spLocks noGrp="1"/>
          </p:cNvSpPr>
          <p:nvPr>
            <p:ph idx="1"/>
          </p:nvPr>
        </p:nvSpPr>
        <p:spPr>
          <a:xfrm>
            <a:off x="838200" y="1333918"/>
            <a:ext cx="7098102" cy="4661439"/>
          </a:xfrm>
        </p:spPr>
        <p:txBody>
          <a:bodyPr>
            <a:normAutofit lnSpcReduction="10000"/>
          </a:bodyPr>
          <a:lstStyle/>
          <a:p>
            <a:r>
              <a:rPr lang="en-IN" dirty="0">
                <a:latin typeface="Source Sans Pro" panose="020B0503030403020204" pitchFamily="34" charset="0"/>
                <a:ea typeface="Source Sans Pro" panose="020B0503030403020204" pitchFamily="34" charset="0"/>
              </a:rPr>
              <a:t>A statistic that measure the dispersion of a dataset relative to its mean and is calculated as the square root of the variance.</a:t>
            </a:r>
          </a:p>
          <a:p>
            <a:r>
              <a:rPr lang="en-US" b="0" i="0" dirty="0">
                <a:solidFill>
                  <a:srgbClr val="111111"/>
                </a:solidFill>
                <a:effectLst/>
                <a:latin typeface="Source Sans Pro" panose="020B0503030403020204" pitchFamily="34" charset="0"/>
                <a:ea typeface="Source Sans Pro" panose="020B0503030403020204" pitchFamily="34" charset="0"/>
              </a:rPr>
              <a:t>Standard deviation is a statistical measurement in finance that, when applied to the annual rate of return of an investment, sheds light on that investment's </a:t>
            </a:r>
            <a:r>
              <a:rPr lang="en-US" dirty="0">
                <a:latin typeface="Source Sans Pro" panose="020B0503030403020204" pitchFamily="34" charset="0"/>
                <a:ea typeface="Source Sans Pro" panose="020B0503030403020204" pitchFamily="34" charset="0"/>
              </a:rPr>
              <a:t>historical volatility.</a:t>
            </a:r>
          </a:p>
          <a:p>
            <a:pPr algn="l"/>
            <a:r>
              <a:rPr lang="en-US" i="0" dirty="0">
                <a:solidFill>
                  <a:srgbClr val="333333"/>
                </a:solidFill>
                <a:effectLst/>
                <a:latin typeface="Source Sans Pro" panose="020B0503030403020204" pitchFamily="34" charset="0"/>
                <a:ea typeface="Source Sans Pro" panose="020B0503030403020204" pitchFamily="34" charset="0"/>
              </a:rPr>
              <a:t>It is used to test the reliability of mean. Mean of a distribution with least standard deviation is said to be more reliable.</a:t>
            </a:r>
            <a:br>
              <a:rPr lang="en-US" dirty="0"/>
            </a:br>
            <a:endParaRPr lang="en-IN" dirty="0"/>
          </a:p>
        </p:txBody>
      </p:sp>
      <p:pic>
        <p:nvPicPr>
          <p:cNvPr id="5" name="Picture 4">
            <a:extLst>
              <a:ext uri="{FF2B5EF4-FFF2-40B4-BE49-F238E27FC236}">
                <a16:creationId xmlns:a16="http://schemas.microsoft.com/office/drawing/2014/main" id="{347DE163-83A3-E9B7-DBAC-1CC2117C1E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302" y="1612208"/>
            <a:ext cx="4268035" cy="3049232"/>
          </a:xfrm>
          <a:prstGeom prst="rect">
            <a:avLst/>
          </a:prstGeom>
        </p:spPr>
      </p:pic>
    </p:spTree>
    <p:extLst>
      <p:ext uri="{BB962C8B-B14F-4D97-AF65-F5344CB8AC3E}">
        <p14:creationId xmlns:p14="http://schemas.microsoft.com/office/powerpoint/2010/main" val="3029845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C6F87-8FA3-28D7-21D9-5578D961CF2B}"/>
              </a:ext>
            </a:extLst>
          </p:cNvPr>
          <p:cNvSpPr>
            <a:spLocks noGrp="1"/>
          </p:cNvSpPr>
          <p:nvPr>
            <p:ph type="title"/>
          </p:nvPr>
        </p:nvSpPr>
        <p:spPr>
          <a:xfrm>
            <a:off x="838200" y="500062"/>
            <a:ext cx="10515600" cy="1325563"/>
          </a:xfrm>
        </p:spPr>
        <p:txBody>
          <a:bodyPr>
            <a:normAutofit fontScale="90000"/>
          </a:bodyPr>
          <a:lstStyle/>
          <a:p>
            <a:r>
              <a:rPr lang="en-IN" b="1" i="0" dirty="0">
                <a:solidFill>
                  <a:srgbClr val="111111"/>
                </a:solidFill>
                <a:effectLst/>
                <a:latin typeface="Helvetica" panose="020B0604020202020204" pitchFamily="34" charset="0"/>
                <a:cs typeface="Helvetica" panose="020B0604020202020204" pitchFamily="34" charset="0"/>
              </a:rPr>
              <a:t>Standard</a:t>
            </a:r>
            <a:r>
              <a:rPr lang="en-IN" b="1" i="0" dirty="0">
                <a:solidFill>
                  <a:srgbClr val="111111"/>
                </a:solidFill>
                <a:effectLst/>
                <a:latin typeface="Cabin-semi-bold"/>
              </a:rPr>
              <a:t> Deviation Formula</a:t>
            </a:r>
            <a:br>
              <a:rPr lang="en-IN" b="1" i="0" dirty="0">
                <a:solidFill>
                  <a:srgbClr val="111111"/>
                </a:solidFill>
                <a:effectLst/>
                <a:latin typeface="Cabin-semi-bold"/>
              </a:rPr>
            </a:br>
            <a:br>
              <a:rPr lang="en-IN" b="0" i="0" dirty="0">
                <a:solidFill>
                  <a:srgbClr val="292929"/>
                </a:solidFill>
                <a:effectLst/>
                <a:latin typeface="Rubik"/>
              </a:rPr>
            </a:br>
            <a:endParaRPr lang="en-IN" dirty="0"/>
          </a:p>
        </p:txBody>
      </p:sp>
      <p:sp>
        <p:nvSpPr>
          <p:cNvPr id="3" name="Content Placeholder 2">
            <a:extLst>
              <a:ext uri="{FF2B5EF4-FFF2-40B4-BE49-F238E27FC236}">
                <a16:creationId xmlns:a16="http://schemas.microsoft.com/office/drawing/2014/main" id="{FB3B51C3-8640-C37F-3EBD-7649A878C057}"/>
              </a:ext>
            </a:extLst>
          </p:cNvPr>
          <p:cNvSpPr>
            <a:spLocks noGrp="1"/>
          </p:cNvSpPr>
          <p:nvPr>
            <p:ph sz="half" idx="1"/>
          </p:nvPr>
        </p:nvSpPr>
        <p:spPr/>
        <p:txBody>
          <a:bodyPr/>
          <a:lstStyle/>
          <a:p>
            <a:pPr marL="0" indent="0">
              <a:buNone/>
            </a:pPr>
            <a:br>
              <a:rPr lang="en-IN" dirty="0"/>
            </a:br>
            <a:endParaRPr lang="en-IN" dirty="0"/>
          </a:p>
        </p:txBody>
      </p:sp>
      <p:sp>
        <p:nvSpPr>
          <p:cNvPr id="4" name="Content Placeholder 3">
            <a:extLst>
              <a:ext uri="{FF2B5EF4-FFF2-40B4-BE49-F238E27FC236}">
                <a16:creationId xmlns:a16="http://schemas.microsoft.com/office/drawing/2014/main" id="{F0BD9313-E8B2-70C5-37B8-2511C7A595B2}"/>
              </a:ext>
            </a:extLst>
          </p:cNvPr>
          <p:cNvSpPr>
            <a:spLocks noGrp="1"/>
          </p:cNvSpPr>
          <p:nvPr>
            <p:ph sz="half" idx="2"/>
          </p:nvPr>
        </p:nvSpPr>
        <p:spPr>
          <a:xfrm>
            <a:off x="990602" y="1253331"/>
            <a:ext cx="5181600" cy="4351338"/>
          </a:xfrm>
        </p:spPr>
        <p:txBody>
          <a:bodyPr/>
          <a:lstStyle/>
          <a:p>
            <a:r>
              <a:rPr lang="en-US" b="1" i="0" dirty="0">
                <a:solidFill>
                  <a:srgbClr val="111111"/>
                </a:solidFill>
                <a:effectLst/>
                <a:latin typeface="KaTeX_Main"/>
              </a:rPr>
              <a:t>where:</a:t>
            </a:r>
          </a:p>
          <a:p>
            <a:r>
              <a:rPr lang="en-US" b="0" i="1" dirty="0">
                <a:solidFill>
                  <a:srgbClr val="111111"/>
                </a:solidFill>
                <a:effectLst/>
                <a:latin typeface="KaTeX_Math"/>
              </a:rPr>
              <a:t>xi</a:t>
            </a:r>
            <a:r>
              <a:rPr lang="en-US" b="0" i="0" dirty="0">
                <a:solidFill>
                  <a:srgbClr val="111111"/>
                </a:solidFill>
                <a:effectLst/>
                <a:latin typeface="KaTeX_Main"/>
              </a:rPr>
              <a:t>​=Value of the </a:t>
            </a:r>
            <a:r>
              <a:rPr lang="en-US" b="0" i="1" dirty="0" err="1">
                <a:solidFill>
                  <a:srgbClr val="111111"/>
                </a:solidFill>
                <a:effectLst/>
                <a:latin typeface="KaTeX_Math"/>
              </a:rPr>
              <a:t>ith</a:t>
            </a:r>
            <a:r>
              <a:rPr lang="en-US" b="0" i="0" dirty="0">
                <a:solidFill>
                  <a:srgbClr val="111111"/>
                </a:solidFill>
                <a:effectLst/>
                <a:latin typeface="KaTeX_Main"/>
              </a:rPr>
              <a:t> point in the   data set</a:t>
            </a:r>
          </a:p>
          <a:p>
            <a:r>
              <a:rPr lang="en-US" b="0" i="1" dirty="0">
                <a:solidFill>
                  <a:srgbClr val="111111"/>
                </a:solidFill>
                <a:effectLst/>
                <a:latin typeface="KaTeX_Math"/>
              </a:rPr>
              <a:t>x</a:t>
            </a:r>
            <a:r>
              <a:rPr lang="en-US" b="0" i="0" dirty="0">
                <a:solidFill>
                  <a:srgbClr val="111111"/>
                </a:solidFill>
                <a:effectLst/>
                <a:latin typeface="KaTeX_Main"/>
              </a:rPr>
              <a:t>=The mean value of the data     set</a:t>
            </a:r>
          </a:p>
          <a:p>
            <a:r>
              <a:rPr lang="en-US" b="0" i="1" dirty="0">
                <a:solidFill>
                  <a:srgbClr val="111111"/>
                </a:solidFill>
                <a:effectLst/>
                <a:latin typeface="KaTeX_Math"/>
              </a:rPr>
              <a:t>n</a:t>
            </a:r>
            <a:r>
              <a:rPr lang="en-US" b="0" i="0" dirty="0">
                <a:solidFill>
                  <a:srgbClr val="111111"/>
                </a:solidFill>
                <a:effectLst/>
                <a:latin typeface="KaTeX_Main"/>
              </a:rPr>
              <a:t>=The number of data points in  the data set​</a:t>
            </a:r>
            <a:br>
              <a:rPr lang="en-US" b="0" i="0" dirty="0">
                <a:solidFill>
                  <a:srgbClr val="111111"/>
                </a:solidFill>
                <a:effectLst/>
                <a:latin typeface="KaTeX_Main"/>
              </a:rPr>
            </a:br>
            <a:endParaRPr lang="en-IN" dirty="0"/>
          </a:p>
        </p:txBody>
      </p:sp>
      <p:pic>
        <p:nvPicPr>
          <p:cNvPr id="1026" name="Picture 2">
            <a:extLst>
              <a:ext uri="{FF2B5EF4-FFF2-40B4-BE49-F238E27FC236}">
                <a16:creationId xmlns:a16="http://schemas.microsoft.com/office/drawing/2014/main" id="{DFCE77E3-E841-958D-8096-A5AC20692E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4" y="1253330"/>
            <a:ext cx="4564806" cy="2257621"/>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C997D4BC-3F3C-02A1-F10A-F7F95D2AB46C}"/>
              </a:ext>
            </a:extLst>
          </p:cNvPr>
          <p:cNvCxnSpPr/>
          <p:nvPr/>
        </p:nvCxnSpPr>
        <p:spPr>
          <a:xfrm>
            <a:off x="1302590" y="2794959"/>
            <a:ext cx="18000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50413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17C0D-580B-6170-8843-6C1A9158EDF0}"/>
              </a:ext>
            </a:extLst>
          </p:cNvPr>
          <p:cNvSpPr>
            <a:spLocks noGrp="1"/>
          </p:cNvSpPr>
          <p:nvPr>
            <p:ph type="title"/>
          </p:nvPr>
        </p:nvSpPr>
        <p:spPr/>
        <p:txBody>
          <a:bodyPr/>
          <a:lstStyle/>
          <a:p>
            <a:r>
              <a:rPr lang="en-IN" b="1" dirty="0">
                <a:latin typeface="Helvetica" panose="020B0604020202020204" pitchFamily="34" charset="0"/>
                <a:cs typeface="Helvetica" panose="020B0604020202020204" pitchFamily="34" charset="0"/>
              </a:rPr>
              <a:t>Uses Of Standard Deviation</a:t>
            </a:r>
          </a:p>
        </p:txBody>
      </p:sp>
      <p:sp>
        <p:nvSpPr>
          <p:cNvPr id="3" name="Content Placeholder 2">
            <a:extLst>
              <a:ext uri="{FF2B5EF4-FFF2-40B4-BE49-F238E27FC236}">
                <a16:creationId xmlns:a16="http://schemas.microsoft.com/office/drawing/2014/main" id="{9C015E5A-1ED5-9C02-A49F-6CF7C154843A}"/>
              </a:ext>
            </a:extLst>
          </p:cNvPr>
          <p:cNvSpPr>
            <a:spLocks noGrp="1"/>
          </p:cNvSpPr>
          <p:nvPr>
            <p:ph sz="half" idx="1"/>
          </p:nvPr>
        </p:nvSpPr>
        <p:spPr>
          <a:xfrm>
            <a:off x="838199" y="1825625"/>
            <a:ext cx="10515599" cy="4351338"/>
          </a:xfrm>
        </p:spPr>
        <p:txBody>
          <a:bodyPr/>
          <a:lstStyle/>
          <a:p>
            <a:r>
              <a:rPr lang="en-IN" b="1" i="0" dirty="0">
                <a:effectLst/>
                <a:latin typeface="Open Sans" panose="020B0606030504020204" pitchFamily="34" charset="0"/>
              </a:rPr>
              <a:t>Finance and Business – </a:t>
            </a:r>
            <a:r>
              <a:rPr lang="en-US" b="0" i="0" dirty="0">
                <a:effectLst/>
                <a:latin typeface="Open Sans" panose="020B0606030504020204" pitchFamily="34" charset="0"/>
              </a:rPr>
              <a:t>financial analysts and business-owners use for risk-management and decision-making.</a:t>
            </a:r>
          </a:p>
          <a:p>
            <a:pPr marL="0" indent="0">
              <a:buNone/>
            </a:pPr>
            <a:endParaRPr lang="en-US" b="0" i="0" dirty="0">
              <a:effectLst/>
              <a:latin typeface="Open Sans" panose="020B0606030504020204" pitchFamily="34" charset="0"/>
            </a:endParaRPr>
          </a:p>
          <a:p>
            <a:r>
              <a:rPr lang="en-IN" b="1" i="0" dirty="0">
                <a:effectLst/>
                <a:latin typeface="Open Sans" panose="020B0606030504020204" pitchFamily="34" charset="0"/>
              </a:rPr>
              <a:t>Quality Control</a:t>
            </a:r>
            <a:r>
              <a:rPr lang="en-IN" b="1" dirty="0">
                <a:latin typeface="Open Sans" panose="020B0606030504020204" pitchFamily="34" charset="0"/>
              </a:rPr>
              <a:t> - </a:t>
            </a:r>
            <a:r>
              <a:rPr lang="en-US" b="0" i="0" dirty="0">
                <a:effectLst/>
                <a:latin typeface="Open Sans" panose="020B0606030504020204" pitchFamily="34" charset="0"/>
              </a:rPr>
              <a:t>Quality control in production and manufacturing is vital to keep up standards. </a:t>
            </a:r>
          </a:p>
          <a:p>
            <a:pPr marL="0" indent="0">
              <a:buNone/>
            </a:pPr>
            <a:endParaRPr lang="en-US" b="0" i="0" dirty="0">
              <a:effectLst/>
              <a:latin typeface="Open Sans" panose="020B0606030504020204" pitchFamily="34" charset="0"/>
            </a:endParaRPr>
          </a:p>
          <a:p>
            <a:r>
              <a:rPr lang="en-IN" b="1" i="0" dirty="0">
                <a:effectLst/>
                <a:latin typeface="Open Sans" panose="020B0606030504020204" pitchFamily="34" charset="0"/>
              </a:rPr>
              <a:t>Polling - </a:t>
            </a:r>
            <a:r>
              <a:rPr lang="en-US" b="0" i="0" dirty="0">
                <a:effectLst/>
                <a:latin typeface="Open Sans" panose="020B0606030504020204" pitchFamily="34" charset="0"/>
              </a:rPr>
              <a:t>The margin of error in these polls are calculated using standard deviation.</a:t>
            </a:r>
            <a:endParaRPr lang="en-IN" b="1" dirty="0">
              <a:latin typeface="Open Sans" panose="020B0606030504020204" pitchFamily="34" charset="0"/>
            </a:endParaRPr>
          </a:p>
        </p:txBody>
      </p:sp>
    </p:spTree>
    <p:extLst>
      <p:ext uri="{BB962C8B-B14F-4D97-AF65-F5344CB8AC3E}">
        <p14:creationId xmlns:p14="http://schemas.microsoft.com/office/powerpoint/2010/main" val="2903545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87120-AD51-8565-9288-715230CAE281}"/>
              </a:ext>
            </a:extLst>
          </p:cNvPr>
          <p:cNvSpPr>
            <a:spLocks noGrp="1"/>
          </p:cNvSpPr>
          <p:nvPr>
            <p:ph type="title"/>
          </p:nvPr>
        </p:nvSpPr>
        <p:spPr/>
        <p:txBody>
          <a:bodyPr>
            <a:normAutofit fontScale="90000"/>
          </a:bodyPr>
          <a:lstStyle/>
          <a:p>
            <a:r>
              <a:rPr lang="en-US" b="1" i="0" dirty="0">
                <a:solidFill>
                  <a:srgbClr val="333333"/>
                </a:solidFill>
                <a:effectLst/>
                <a:latin typeface="Helvetica" panose="020B0604020202020204" pitchFamily="34" charset="0"/>
              </a:rPr>
              <a:t>Apple Stock Volatility [Standard Deviation]</a:t>
            </a:r>
            <a:br>
              <a:rPr lang="en-US" b="1" i="0" dirty="0">
                <a:solidFill>
                  <a:srgbClr val="333333"/>
                </a:solidFill>
                <a:effectLst/>
                <a:latin typeface="Helvetica" panose="020B0604020202020204" pitchFamily="34" charset="0"/>
              </a:rPr>
            </a:br>
            <a:endParaRPr lang="en-IN" b="1" dirty="0"/>
          </a:p>
        </p:txBody>
      </p:sp>
      <p:sp>
        <p:nvSpPr>
          <p:cNvPr id="3" name="Content Placeholder 2">
            <a:extLst>
              <a:ext uri="{FF2B5EF4-FFF2-40B4-BE49-F238E27FC236}">
                <a16:creationId xmlns:a16="http://schemas.microsoft.com/office/drawing/2014/main" id="{34B30B60-28D3-9599-5BD9-27CF168CB638}"/>
              </a:ext>
            </a:extLst>
          </p:cNvPr>
          <p:cNvSpPr>
            <a:spLocks noGrp="1"/>
          </p:cNvSpPr>
          <p:nvPr>
            <p:ph idx="1"/>
          </p:nvPr>
        </p:nvSpPr>
        <p:spPr/>
        <p:txBody>
          <a:bodyPr/>
          <a:lstStyle/>
          <a:p>
            <a:r>
              <a:rPr lang="en-US" b="0" i="0" dirty="0">
                <a:solidFill>
                  <a:srgbClr val="333333"/>
                </a:solidFill>
                <a:effectLst/>
                <a:latin typeface="Arial" panose="020B0604020202020204" pitchFamily="34" charset="0"/>
              </a:rPr>
              <a:t>Here is a simplistic analysis report of standard deviation of Apple Inc (AAPL) stock price. In addition, this report compares the volatility of AAPL stock with similar stocks. Towards the end, you will see the highest and least volatile months in history.</a:t>
            </a:r>
          </a:p>
          <a:p>
            <a:r>
              <a:rPr lang="en-US" sz="2800" b="0" i="0" dirty="0">
                <a:solidFill>
                  <a:srgbClr val="333333"/>
                </a:solidFill>
                <a:effectLst/>
                <a:latin typeface="Arial" panose="020B0604020202020204" pitchFamily="34" charset="0"/>
              </a:rPr>
              <a:t>In simple terms, higher the volatility for a time period, greater will be the price variations during that period. Generally high volatile stocks are less predictable and vice versa.</a:t>
            </a:r>
          </a:p>
          <a:p>
            <a:endParaRPr lang="en-IN" dirty="0"/>
          </a:p>
        </p:txBody>
      </p:sp>
    </p:spTree>
    <p:extLst>
      <p:ext uri="{BB962C8B-B14F-4D97-AF65-F5344CB8AC3E}">
        <p14:creationId xmlns:p14="http://schemas.microsoft.com/office/powerpoint/2010/main" val="3995396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8B3EF-F095-DF93-3BE8-C0DBE1B29241}"/>
              </a:ext>
            </a:extLst>
          </p:cNvPr>
          <p:cNvSpPr>
            <a:spLocks noGrp="1"/>
          </p:cNvSpPr>
          <p:nvPr>
            <p:ph type="title"/>
          </p:nvPr>
        </p:nvSpPr>
        <p:spPr/>
        <p:txBody>
          <a:bodyPr/>
          <a:lstStyle/>
          <a:p>
            <a:r>
              <a:rPr lang="en-IN" b="1" dirty="0"/>
              <a:t>Steps To Calculate Volatility.</a:t>
            </a:r>
          </a:p>
        </p:txBody>
      </p:sp>
      <p:sp>
        <p:nvSpPr>
          <p:cNvPr id="3" name="Content Placeholder 2">
            <a:extLst>
              <a:ext uri="{FF2B5EF4-FFF2-40B4-BE49-F238E27FC236}">
                <a16:creationId xmlns:a16="http://schemas.microsoft.com/office/drawing/2014/main" id="{2485750F-3A33-4872-D307-5DAE81A46036}"/>
              </a:ext>
            </a:extLst>
          </p:cNvPr>
          <p:cNvSpPr>
            <a:spLocks noGrp="1"/>
          </p:cNvSpPr>
          <p:nvPr>
            <p:ph idx="1"/>
          </p:nvPr>
        </p:nvSpPr>
        <p:spPr/>
        <p:txBody>
          <a:bodyPr/>
          <a:lstStyle/>
          <a:p>
            <a:pPr marL="0" indent="0">
              <a:buNone/>
            </a:pPr>
            <a:r>
              <a:rPr lang="en-US" sz="1800" b="0" i="0" dirty="0">
                <a:solidFill>
                  <a:srgbClr val="333333"/>
                </a:solidFill>
                <a:effectLst/>
                <a:latin typeface="Arial" panose="020B0604020202020204" pitchFamily="34" charset="0"/>
              </a:rPr>
              <a:t>The steps that go into the calculation are the following. You can use a spreadsheet program or even a pen and paper for computation.</a:t>
            </a:r>
          </a:p>
          <a:p>
            <a:r>
              <a:rPr lang="en-US" sz="1500" b="0" i="0" dirty="0">
                <a:solidFill>
                  <a:srgbClr val="333333"/>
                </a:solidFill>
                <a:effectLst/>
                <a:latin typeface="Arial" panose="020B0604020202020204" pitchFamily="34" charset="0"/>
              </a:rPr>
              <a:t>Once you have decided the timeframe, list down the close prices (in a column/vertical format).</a:t>
            </a:r>
          </a:p>
          <a:p>
            <a:r>
              <a:rPr lang="en-US" sz="1500" b="0" i="0" dirty="0">
                <a:solidFill>
                  <a:srgbClr val="333333"/>
                </a:solidFill>
                <a:effectLst/>
                <a:latin typeface="Arial" panose="020B0604020202020204" pitchFamily="34" charset="0"/>
              </a:rPr>
              <a:t>Calculate the average of the listed prices. We call it the mean.</a:t>
            </a:r>
          </a:p>
          <a:p>
            <a:r>
              <a:rPr lang="en-US" sz="1500" b="0" i="0" dirty="0">
                <a:solidFill>
                  <a:srgbClr val="333333"/>
                </a:solidFill>
                <a:effectLst/>
                <a:latin typeface="Arial" panose="020B0604020202020204" pitchFamily="34" charset="0"/>
              </a:rPr>
              <a:t>Subtract the mean from the close prices.</a:t>
            </a:r>
          </a:p>
          <a:p>
            <a:r>
              <a:rPr lang="en-US" sz="1500" b="0" i="0" dirty="0">
                <a:solidFill>
                  <a:srgbClr val="333333"/>
                </a:solidFill>
                <a:effectLst/>
                <a:latin typeface="Arial" panose="020B0604020202020204" pitchFamily="34" charset="0"/>
              </a:rPr>
              <a:t>Find the squares of the values obtained on the previous step.</a:t>
            </a:r>
          </a:p>
          <a:p>
            <a:r>
              <a:rPr lang="en-US" sz="1500" b="0" i="0" dirty="0">
                <a:solidFill>
                  <a:srgbClr val="333333"/>
                </a:solidFill>
                <a:effectLst/>
                <a:latin typeface="Arial" panose="020B0604020202020204" pitchFamily="34" charset="0"/>
              </a:rPr>
              <a:t>Find average of all squared values obtained </a:t>
            </a:r>
            <a:r>
              <a:rPr lang="en-US" sz="1500" dirty="0">
                <a:solidFill>
                  <a:srgbClr val="333333"/>
                </a:solidFill>
                <a:latin typeface="Arial" panose="020B0604020202020204" pitchFamily="34" charset="0"/>
              </a:rPr>
              <a:t>on the previous step</a:t>
            </a:r>
            <a:r>
              <a:rPr lang="en-US" sz="1500" b="0" i="0" dirty="0">
                <a:solidFill>
                  <a:srgbClr val="333333"/>
                </a:solidFill>
                <a:effectLst/>
                <a:latin typeface="Arial" panose="020B0604020202020204" pitchFamily="34" charset="0"/>
              </a:rPr>
              <a:t>.</a:t>
            </a:r>
          </a:p>
          <a:p>
            <a:r>
              <a:rPr lang="en-US" sz="1500" b="0" i="0" dirty="0">
                <a:solidFill>
                  <a:srgbClr val="333333"/>
                </a:solidFill>
                <a:effectLst/>
                <a:latin typeface="Arial" panose="020B0604020202020204" pitchFamily="34" charset="0"/>
              </a:rPr>
              <a:t>The square root of the value of step 5 is the volatility.</a:t>
            </a:r>
          </a:p>
          <a:p>
            <a:endParaRPr lang="en-US" sz="1200" b="0" i="0" dirty="0">
              <a:solidFill>
                <a:srgbClr val="333333"/>
              </a:solidFill>
              <a:effectLst/>
              <a:latin typeface="Arial" panose="020B0604020202020204" pitchFamily="34" charset="0"/>
            </a:endParaRPr>
          </a:p>
          <a:p>
            <a:pPr marL="0" indent="0">
              <a:buNone/>
            </a:pPr>
            <a:endParaRPr lang="en-IN" sz="1800" dirty="0"/>
          </a:p>
        </p:txBody>
      </p:sp>
      <p:pic>
        <p:nvPicPr>
          <p:cNvPr id="5" name="Picture 4">
            <a:extLst>
              <a:ext uri="{FF2B5EF4-FFF2-40B4-BE49-F238E27FC236}">
                <a16:creationId xmlns:a16="http://schemas.microsoft.com/office/drawing/2014/main" id="{96186FFB-47A0-6335-9F9D-AE5CA5847C9D}"/>
              </a:ext>
            </a:extLst>
          </p:cNvPr>
          <p:cNvPicPr>
            <a:picLocks noChangeAspect="1"/>
          </p:cNvPicPr>
          <p:nvPr/>
        </p:nvPicPr>
        <p:blipFill>
          <a:blip r:embed="rId2"/>
          <a:stretch>
            <a:fillRect/>
          </a:stretch>
        </p:blipFill>
        <p:spPr>
          <a:xfrm>
            <a:off x="6685220" y="2774986"/>
            <a:ext cx="5236484" cy="3183231"/>
          </a:xfrm>
          <a:prstGeom prst="rect">
            <a:avLst/>
          </a:prstGeom>
        </p:spPr>
      </p:pic>
    </p:spTree>
    <p:extLst>
      <p:ext uri="{BB962C8B-B14F-4D97-AF65-F5344CB8AC3E}">
        <p14:creationId xmlns:p14="http://schemas.microsoft.com/office/powerpoint/2010/main" val="1464910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13580-3DED-DD43-A9E4-DE69EA6581E3}"/>
              </a:ext>
            </a:extLst>
          </p:cNvPr>
          <p:cNvSpPr>
            <a:spLocks noGrp="1"/>
          </p:cNvSpPr>
          <p:nvPr>
            <p:ph type="title"/>
          </p:nvPr>
        </p:nvSpPr>
        <p:spPr/>
        <p:txBody>
          <a:bodyPr>
            <a:normAutofit fontScale="90000"/>
          </a:bodyPr>
          <a:lstStyle/>
          <a:p>
            <a:r>
              <a:rPr lang="en-US" b="1" i="0" dirty="0">
                <a:solidFill>
                  <a:srgbClr val="333333"/>
                </a:solidFill>
                <a:effectLst/>
                <a:latin typeface="Helvetica" panose="020B0604020202020204" pitchFamily="34" charset="0"/>
              </a:rPr>
              <a:t>Apple Stock Volatility [Standard Deviation]</a:t>
            </a:r>
            <a:br>
              <a:rPr lang="en-US" b="1" i="0" dirty="0">
                <a:solidFill>
                  <a:srgbClr val="333333"/>
                </a:solidFill>
                <a:effectLst/>
                <a:latin typeface="Helvetica" panose="020B0604020202020204" pitchFamily="34" charset="0"/>
              </a:rPr>
            </a:br>
            <a:endParaRPr lang="en-IN" b="1" dirty="0"/>
          </a:p>
        </p:txBody>
      </p:sp>
      <p:sp>
        <p:nvSpPr>
          <p:cNvPr id="3" name="Content Placeholder 2">
            <a:extLst>
              <a:ext uri="{FF2B5EF4-FFF2-40B4-BE49-F238E27FC236}">
                <a16:creationId xmlns:a16="http://schemas.microsoft.com/office/drawing/2014/main" id="{515D7647-41A6-C20F-170F-50DD3932E88F}"/>
              </a:ext>
            </a:extLst>
          </p:cNvPr>
          <p:cNvSpPr>
            <a:spLocks noGrp="1"/>
          </p:cNvSpPr>
          <p:nvPr>
            <p:ph sz="half" idx="1"/>
          </p:nvPr>
        </p:nvSpPr>
        <p:spPr>
          <a:xfrm>
            <a:off x="985684" y="1864953"/>
            <a:ext cx="5181600" cy="4351338"/>
          </a:xfrm>
        </p:spPr>
        <p:txBody>
          <a:bodyPr>
            <a:normAutofit/>
          </a:bodyPr>
          <a:lstStyle/>
          <a:p>
            <a:r>
              <a:rPr lang="en-US" sz="2400" dirty="0">
                <a:solidFill>
                  <a:srgbClr val="333333"/>
                </a:solidFill>
                <a:latin typeface="Arial" panose="020B0604020202020204" pitchFamily="34" charset="0"/>
              </a:rPr>
              <a:t>Here is</a:t>
            </a:r>
            <a:r>
              <a:rPr lang="en-US" sz="2400" b="0" i="0" dirty="0">
                <a:solidFill>
                  <a:srgbClr val="333333"/>
                </a:solidFill>
                <a:effectLst/>
                <a:latin typeface="Arial" panose="020B0604020202020204" pitchFamily="34" charset="0"/>
              </a:rPr>
              <a:t> a table followed by a graph showing 10-year historical volatility measures for Apple Inc (AAPL) stock. </a:t>
            </a:r>
          </a:p>
          <a:p>
            <a:r>
              <a:rPr lang="en-US" sz="2400" b="0" i="0" dirty="0">
                <a:solidFill>
                  <a:srgbClr val="333333"/>
                </a:solidFill>
                <a:effectLst/>
                <a:latin typeface="Arial" panose="020B0604020202020204" pitchFamily="34" charset="0"/>
              </a:rPr>
              <a:t>As you can see, </a:t>
            </a:r>
            <a:r>
              <a:rPr lang="en-US" sz="2400" b="0" i="0" dirty="0">
                <a:solidFill>
                  <a:srgbClr val="008000"/>
                </a:solidFill>
                <a:effectLst/>
                <a:latin typeface="Arial" panose="020B0604020202020204" pitchFamily="34" charset="0"/>
              </a:rPr>
              <a:t>2020 (21.65)</a:t>
            </a:r>
            <a:r>
              <a:rPr lang="en-US" sz="2400" b="0" i="0" dirty="0">
                <a:solidFill>
                  <a:srgbClr val="333333"/>
                </a:solidFill>
                <a:effectLst/>
                <a:latin typeface="Arial" panose="020B0604020202020204" pitchFamily="34" charset="0"/>
              </a:rPr>
              <a:t> was the highest volatile year for Apple Inc (AAPL) while </a:t>
            </a:r>
            <a:r>
              <a:rPr lang="en-US" sz="2400" b="0" i="0" dirty="0">
                <a:solidFill>
                  <a:srgbClr val="FF0000"/>
                </a:solidFill>
                <a:effectLst/>
                <a:latin typeface="Arial" panose="020B0604020202020204" pitchFamily="34" charset="0"/>
              </a:rPr>
              <a:t>2012 (0.30)</a:t>
            </a:r>
            <a:r>
              <a:rPr lang="en-US" sz="2400" b="0" i="0" dirty="0">
                <a:solidFill>
                  <a:srgbClr val="333333"/>
                </a:solidFill>
                <a:effectLst/>
                <a:latin typeface="Arial" panose="020B0604020202020204" pitchFamily="34" charset="0"/>
              </a:rPr>
              <a:t> was the lowest one.</a:t>
            </a:r>
            <a:br>
              <a:rPr lang="en-US" dirty="0"/>
            </a:br>
            <a:endParaRPr lang="en-IN" dirty="0"/>
          </a:p>
        </p:txBody>
      </p:sp>
      <p:pic>
        <p:nvPicPr>
          <p:cNvPr id="5" name="Picture 2" descr="10 Year Volatility Chart - ">
            <a:extLst>
              <a:ext uri="{FF2B5EF4-FFF2-40B4-BE49-F238E27FC236}">
                <a16:creationId xmlns:a16="http://schemas.microsoft.com/office/drawing/2014/main" id="{697DE981-7C8F-9641-435A-7C01A0647FFD}"/>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096000" y="1304008"/>
            <a:ext cx="5110316" cy="51888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2008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C8664-7430-9513-CDD2-9967AEAB8EA7}"/>
              </a:ext>
            </a:extLst>
          </p:cNvPr>
          <p:cNvSpPr>
            <a:spLocks noGrp="1"/>
          </p:cNvSpPr>
          <p:nvPr>
            <p:ph type="title"/>
          </p:nvPr>
        </p:nvSpPr>
        <p:spPr/>
        <p:txBody>
          <a:bodyPr>
            <a:normAutofit fontScale="90000"/>
          </a:bodyPr>
          <a:lstStyle/>
          <a:p>
            <a:r>
              <a:rPr lang="en-US" b="0" i="0" dirty="0">
                <a:solidFill>
                  <a:srgbClr val="FFFFFF"/>
                </a:solidFill>
                <a:effectLst/>
                <a:latin typeface="Helvetica" panose="020B0604020202020204" pitchFamily="34" charset="0"/>
              </a:rPr>
              <a:t>3 </a:t>
            </a:r>
            <a:r>
              <a:rPr lang="en-US" b="1" i="0" dirty="0">
                <a:solidFill>
                  <a:srgbClr val="333333"/>
                </a:solidFill>
                <a:effectLst/>
                <a:latin typeface="Helvetica" panose="020B0604020202020204" pitchFamily="34" charset="0"/>
              </a:rPr>
              <a:t>Apple Inc (AAPL) Stock Weekly Standard Deviation</a:t>
            </a:r>
            <a:br>
              <a:rPr lang="en-US" b="0" i="0" dirty="0">
                <a:solidFill>
                  <a:srgbClr val="333333"/>
                </a:solidFill>
                <a:effectLst/>
                <a:latin typeface="Helvetica" panose="020B0604020202020204" pitchFamily="34" charset="0"/>
              </a:rPr>
            </a:br>
            <a:endParaRPr lang="en-IN" dirty="0"/>
          </a:p>
        </p:txBody>
      </p:sp>
      <p:sp>
        <p:nvSpPr>
          <p:cNvPr id="4" name="Content Placeholder 3">
            <a:extLst>
              <a:ext uri="{FF2B5EF4-FFF2-40B4-BE49-F238E27FC236}">
                <a16:creationId xmlns:a16="http://schemas.microsoft.com/office/drawing/2014/main" id="{780F98E2-76EF-EA2E-1383-81574862B649}"/>
              </a:ext>
            </a:extLst>
          </p:cNvPr>
          <p:cNvSpPr>
            <a:spLocks noGrp="1"/>
          </p:cNvSpPr>
          <p:nvPr>
            <p:ph sz="half" idx="2"/>
          </p:nvPr>
        </p:nvSpPr>
        <p:spPr/>
        <p:txBody>
          <a:bodyPr>
            <a:normAutofit/>
          </a:bodyPr>
          <a:lstStyle/>
          <a:p>
            <a:r>
              <a:rPr lang="en-US" sz="2400" b="0" i="0" dirty="0">
                <a:solidFill>
                  <a:srgbClr val="333333"/>
                </a:solidFill>
                <a:effectLst/>
                <a:latin typeface="Arial" panose="020B0604020202020204" pitchFamily="34" charset="0"/>
              </a:rPr>
              <a:t>Weekly volatility graph helps you visualize the weekly swings (either positive/negative) you can expect from a stock</a:t>
            </a:r>
          </a:p>
          <a:p>
            <a:r>
              <a:rPr lang="en-US" sz="2400" b="0" i="0" dirty="0">
                <a:solidFill>
                  <a:srgbClr val="333333"/>
                </a:solidFill>
                <a:effectLst/>
                <a:latin typeface="Arial" panose="020B0604020202020204" pitchFamily="34" charset="0"/>
              </a:rPr>
              <a:t>This 52 week volatility graph will help you visualize the price swings during the current year.</a:t>
            </a:r>
            <a:endParaRPr lang="en-IN" sz="2400" dirty="0"/>
          </a:p>
        </p:txBody>
      </p:sp>
      <p:sp>
        <p:nvSpPr>
          <p:cNvPr id="5" name="Text Placeholder 4">
            <a:extLst>
              <a:ext uri="{FF2B5EF4-FFF2-40B4-BE49-F238E27FC236}">
                <a16:creationId xmlns:a16="http://schemas.microsoft.com/office/drawing/2014/main" id="{261ACBA9-4229-5CF7-6574-BD3D5BC0D5A6}"/>
              </a:ext>
            </a:extLst>
          </p:cNvPr>
          <p:cNvSpPr>
            <a:spLocks noGrp="1"/>
          </p:cNvSpPr>
          <p:nvPr>
            <p:ph type="body" sz="quarter" idx="3"/>
          </p:nvPr>
        </p:nvSpPr>
        <p:spPr/>
        <p:txBody>
          <a:bodyPr/>
          <a:lstStyle/>
          <a:p>
            <a:endParaRPr lang="en-IN" dirty="0"/>
          </a:p>
        </p:txBody>
      </p:sp>
      <p:pic>
        <p:nvPicPr>
          <p:cNvPr id="2050" name="Picture 2" descr="Apple Inc (AAPL) Stcok Current Year Standard Deviation By Weekly ">
            <a:extLst>
              <a:ext uri="{FF2B5EF4-FFF2-40B4-BE49-F238E27FC236}">
                <a16:creationId xmlns:a16="http://schemas.microsoft.com/office/drawing/2014/main" id="{E7B3D1A3-E093-55B3-5034-5801753DF648}"/>
              </a:ext>
            </a:extLst>
          </p:cNvPr>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6096000" y="1027906"/>
            <a:ext cx="5500627" cy="5039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4800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944D4-C04C-8184-278E-3AFD9ABCA7C3}"/>
              </a:ext>
            </a:extLst>
          </p:cNvPr>
          <p:cNvSpPr>
            <a:spLocks noGrp="1"/>
          </p:cNvSpPr>
          <p:nvPr>
            <p:ph type="title"/>
          </p:nvPr>
        </p:nvSpPr>
        <p:spPr/>
        <p:txBody>
          <a:bodyPr/>
          <a:lstStyle/>
          <a:p>
            <a:r>
              <a:rPr lang="en-US" b="1" i="0" dirty="0">
                <a:solidFill>
                  <a:srgbClr val="333333"/>
                </a:solidFill>
                <a:effectLst/>
                <a:latin typeface="Helvetica" panose="020B0604020202020204" pitchFamily="34" charset="0"/>
              </a:rPr>
              <a:t>10 Highest Volatile Months For Apple Inc (AAPL)</a:t>
            </a:r>
            <a:endParaRPr lang="en-IN" b="1" dirty="0"/>
          </a:p>
        </p:txBody>
      </p:sp>
      <p:sp>
        <p:nvSpPr>
          <p:cNvPr id="4" name="Content Placeholder 3">
            <a:extLst>
              <a:ext uri="{FF2B5EF4-FFF2-40B4-BE49-F238E27FC236}">
                <a16:creationId xmlns:a16="http://schemas.microsoft.com/office/drawing/2014/main" id="{70353F6D-9B24-15F9-B5A5-3FA58C84940F}"/>
              </a:ext>
            </a:extLst>
          </p:cNvPr>
          <p:cNvSpPr>
            <a:spLocks noGrp="1"/>
          </p:cNvSpPr>
          <p:nvPr>
            <p:ph sz="half" idx="2"/>
          </p:nvPr>
        </p:nvSpPr>
        <p:spPr>
          <a:xfrm>
            <a:off x="836612" y="1855684"/>
            <a:ext cx="5157787" cy="3778199"/>
          </a:xfrm>
        </p:spPr>
        <p:txBody>
          <a:bodyPr/>
          <a:lstStyle/>
          <a:p>
            <a:r>
              <a:rPr lang="en-US" sz="2400" b="0" i="0" dirty="0">
                <a:solidFill>
                  <a:srgbClr val="333333"/>
                </a:solidFill>
                <a:effectLst/>
                <a:latin typeface="Arial" panose="020B0604020202020204" pitchFamily="34" charset="0"/>
              </a:rPr>
              <a:t>This section displays the 10 highest volatile months of AAPL in 10 years. If you think the volatility of the current month is high, you can check that value against the previous 10 highest values.</a:t>
            </a:r>
          </a:p>
          <a:p>
            <a:endParaRPr lang="en-IN" dirty="0"/>
          </a:p>
        </p:txBody>
      </p:sp>
      <p:sp>
        <p:nvSpPr>
          <p:cNvPr id="5" name="Text Placeholder 4">
            <a:extLst>
              <a:ext uri="{FF2B5EF4-FFF2-40B4-BE49-F238E27FC236}">
                <a16:creationId xmlns:a16="http://schemas.microsoft.com/office/drawing/2014/main" id="{98B4431D-00B9-10A0-79D1-52CDD8A04B96}"/>
              </a:ext>
            </a:extLst>
          </p:cNvPr>
          <p:cNvSpPr>
            <a:spLocks noGrp="1"/>
          </p:cNvSpPr>
          <p:nvPr>
            <p:ph type="body" sz="quarter" idx="3"/>
          </p:nvPr>
        </p:nvSpPr>
        <p:spPr/>
        <p:txBody>
          <a:bodyPr/>
          <a:lstStyle/>
          <a:p>
            <a:endParaRPr lang="en-IN"/>
          </a:p>
        </p:txBody>
      </p:sp>
      <p:pic>
        <p:nvPicPr>
          <p:cNvPr id="4098" name="Picture 2" descr="Top 10 High Volatility Month Chart - ">
            <a:extLst>
              <a:ext uri="{FF2B5EF4-FFF2-40B4-BE49-F238E27FC236}">
                <a16:creationId xmlns:a16="http://schemas.microsoft.com/office/drawing/2014/main" id="{78AA4F81-1D71-ADAB-3837-D25267A58B9D}"/>
              </a:ext>
            </a:extLst>
          </p:cNvPr>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6096000" y="1061884"/>
            <a:ext cx="4663361" cy="5096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0188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B7594-3ADD-3E9B-E47A-D7826CBB7527}"/>
              </a:ext>
            </a:extLst>
          </p:cNvPr>
          <p:cNvSpPr>
            <a:spLocks noGrp="1"/>
          </p:cNvSpPr>
          <p:nvPr>
            <p:ph type="title"/>
          </p:nvPr>
        </p:nvSpPr>
        <p:spPr/>
        <p:txBody>
          <a:bodyPr>
            <a:normAutofit fontScale="90000"/>
          </a:bodyPr>
          <a:lstStyle/>
          <a:p>
            <a:r>
              <a:rPr lang="en-US" b="1" i="0" dirty="0">
                <a:solidFill>
                  <a:srgbClr val="333333"/>
                </a:solidFill>
                <a:effectLst/>
                <a:latin typeface="Helvetica" panose="020B0604020202020204" pitchFamily="34" charset="0"/>
              </a:rPr>
              <a:t>AAPL Stock Annual Volatility Of 2022 Against 3 Similar Stocks</a:t>
            </a:r>
            <a:br>
              <a:rPr lang="en-US" b="0" i="0" dirty="0">
                <a:solidFill>
                  <a:srgbClr val="333333"/>
                </a:solidFill>
                <a:effectLst/>
                <a:latin typeface="Helvetica" panose="020B0604020202020204" pitchFamily="34" charset="0"/>
              </a:rPr>
            </a:br>
            <a:endParaRPr lang="en-IN" dirty="0"/>
          </a:p>
        </p:txBody>
      </p:sp>
      <p:sp>
        <p:nvSpPr>
          <p:cNvPr id="3" name="Content Placeholder 2">
            <a:extLst>
              <a:ext uri="{FF2B5EF4-FFF2-40B4-BE49-F238E27FC236}">
                <a16:creationId xmlns:a16="http://schemas.microsoft.com/office/drawing/2014/main" id="{DC3D1652-3A64-6569-58F9-1CBAA3BF33C7}"/>
              </a:ext>
            </a:extLst>
          </p:cNvPr>
          <p:cNvSpPr>
            <a:spLocks noGrp="1"/>
          </p:cNvSpPr>
          <p:nvPr>
            <p:ph idx="1"/>
          </p:nvPr>
        </p:nvSpPr>
        <p:spPr/>
        <p:txBody>
          <a:bodyPr>
            <a:normAutofit/>
          </a:bodyPr>
          <a:lstStyle/>
          <a:p>
            <a:r>
              <a:rPr lang="en-US" sz="2400" b="0" i="0" dirty="0">
                <a:solidFill>
                  <a:srgbClr val="333333"/>
                </a:solidFill>
                <a:effectLst/>
                <a:latin typeface="Arial" panose="020B0604020202020204" pitchFamily="34" charset="0"/>
              </a:rPr>
              <a:t>This section compares the volatility per $ share price of Apple Inc (AAPL) against 3 similar stocks. The table is sorted in the order of highest to lowest volatile shares.</a:t>
            </a:r>
          </a:p>
          <a:p>
            <a:endParaRPr lang="en-IN" sz="2400" dirty="0"/>
          </a:p>
        </p:txBody>
      </p:sp>
      <p:pic>
        <p:nvPicPr>
          <p:cNvPr id="5" name="Picture 4">
            <a:extLst>
              <a:ext uri="{FF2B5EF4-FFF2-40B4-BE49-F238E27FC236}">
                <a16:creationId xmlns:a16="http://schemas.microsoft.com/office/drawing/2014/main" id="{850E8B0C-7744-0D66-B481-E53A539B444B}"/>
              </a:ext>
            </a:extLst>
          </p:cNvPr>
          <p:cNvPicPr>
            <a:picLocks noChangeAspect="1"/>
          </p:cNvPicPr>
          <p:nvPr/>
        </p:nvPicPr>
        <p:blipFill>
          <a:blip r:embed="rId2"/>
          <a:stretch>
            <a:fillRect/>
          </a:stretch>
        </p:blipFill>
        <p:spPr>
          <a:xfrm>
            <a:off x="2658372" y="2956380"/>
            <a:ext cx="6581955" cy="3220583"/>
          </a:xfrm>
          <a:prstGeom prst="rect">
            <a:avLst/>
          </a:prstGeom>
        </p:spPr>
      </p:pic>
    </p:spTree>
    <p:extLst>
      <p:ext uri="{BB962C8B-B14F-4D97-AF65-F5344CB8AC3E}">
        <p14:creationId xmlns:p14="http://schemas.microsoft.com/office/powerpoint/2010/main" val="2467187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77791-6262-CD04-E8D0-7B3233110615}"/>
              </a:ext>
            </a:extLst>
          </p:cNvPr>
          <p:cNvSpPr>
            <a:spLocks noGrp="1"/>
          </p:cNvSpPr>
          <p:nvPr>
            <p:ph type="title"/>
          </p:nvPr>
        </p:nvSpPr>
        <p:spPr>
          <a:xfrm>
            <a:off x="838200" y="-112144"/>
            <a:ext cx="10515600" cy="1318389"/>
          </a:xfrm>
        </p:spPr>
        <p:txBody>
          <a:bodyPr/>
          <a:lstStyle/>
          <a:p>
            <a:r>
              <a:rPr lang="en-IN" b="1" dirty="0">
                <a:latin typeface="Helvetica" panose="020B0604020202020204" pitchFamily="34" charset="0"/>
                <a:cs typeface="Helvetica" panose="020B0604020202020204" pitchFamily="34" charset="0"/>
              </a:rPr>
              <a:t>Conclusion</a:t>
            </a:r>
          </a:p>
        </p:txBody>
      </p:sp>
      <p:sp>
        <p:nvSpPr>
          <p:cNvPr id="4" name="Content Placeholder 3">
            <a:extLst>
              <a:ext uri="{FF2B5EF4-FFF2-40B4-BE49-F238E27FC236}">
                <a16:creationId xmlns:a16="http://schemas.microsoft.com/office/drawing/2014/main" id="{5C0C581A-E802-FE00-CC12-9F64BB955C3D}"/>
              </a:ext>
            </a:extLst>
          </p:cNvPr>
          <p:cNvSpPr>
            <a:spLocks noGrp="1"/>
          </p:cNvSpPr>
          <p:nvPr>
            <p:ph sz="half" idx="2"/>
          </p:nvPr>
        </p:nvSpPr>
        <p:spPr>
          <a:xfrm>
            <a:off x="839788" y="1268083"/>
            <a:ext cx="10641970" cy="4830792"/>
          </a:xfrm>
        </p:spPr>
        <p:txBody>
          <a:bodyPr>
            <a:normAutofit fontScale="92500" lnSpcReduction="10000"/>
          </a:bodyPr>
          <a:lstStyle/>
          <a:p>
            <a:r>
              <a:rPr lang="en-US" b="0" i="0" dirty="0">
                <a:solidFill>
                  <a:srgbClr val="111111"/>
                </a:solidFill>
                <a:effectLst/>
                <a:latin typeface="Source Sans Pro" panose="020B0503030403020204" pitchFamily="34" charset="0"/>
                <a:ea typeface="Source Sans Pro" panose="020B0503030403020204" pitchFamily="34" charset="0"/>
              </a:rPr>
              <a:t>Standard deviation, in finance, is often used as a measure of a relative riskiness of an asset.</a:t>
            </a:r>
          </a:p>
          <a:p>
            <a:r>
              <a:rPr lang="en-US" b="0" i="0" dirty="0">
                <a:solidFill>
                  <a:srgbClr val="111111"/>
                </a:solidFill>
                <a:effectLst/>
                <a:latin typeface="Source Sans Pro" panose="020B0503030403020204" pitchFamily="34" charset="0"/>
                <a:ea typeface="Source Sans Pro" panose="020B0503030403020204" pitchFamily="34" charset="0"/>
              </a:rPr>
              <a:t>A volatile stock has a high standard deviation, while the deviation of a stable blue-chip stock is usually rather low.</a:t>
            </a:r>
          </a:p>
          <a:p>
            <a:r>
              <a:rPr lang="en-US" b="0" i="0" dirty="0">
                <a:solidFill>
                  <a:srgbClr val="111111"/>
                </a:solidFill>
                <a:effectLst/>
                <a:latin typeface="Source Sans Pro" panose="020B0503030403020204" pitchFamily="34" charset="0"/>
                <a:ea typeface="Source Sans Pro" panose="020B0503030403020204" pitchFamily="34" charset="0"/>
              </a:rPr>
              <a:t>As a downside, the standard deviation calculates all uncertainty as risk, even when it’s in the investor's favor, such as above-average returns.</a:t>
            </a:r>
          </a:p>
          <a:p>
            <a:r>
              <a:rPr lang="en-US" b="0" i="0" dirty="0">
                <a:solidFill>
                  <a:srgbClr val="333333"/>
                </a:solidFill>
                <a:effectLst/>
                <a:latin typeface="Source Sans Pro" panose="020B0503030403020204" pitchFamily="34" charset="0"/>
                <a:ea typeface="Source Sans Pro" panose="020B0503030403020204" pitchFamily="34" charset="0"/>
              </a:rPr>
              <a:t>Investors shouldn't base decisions solely based on volatility for a reason. The reason is the metric doesn't account for a bullish or bearish run. For example, a rapidly growing as well as a free-falling stock both can be highly volatile.</a:t>
            </a:r>
            <a:endParaRPr lang="en-US" b="0" i="0" dirty="0">
              <a:solidFill>
                <a:srgbClr val="111111"/>
              </a:solidFill>
              <a:effectLst/>
              <a:latin typeface="Source Sans Pro" panose="020B0503030403020204" pitchFamily="34" charset="0"/>
              <a:ea typeface="Source Sans Pro" panose="020B0503030403020204" pitchFamily="34" charset="0"/>
            </a:endParaRPr>
          </a:p>
          <a:p>
            <a:r>
              <a:rPr lang="en-US" b="0" i="0" dirty="0">
                <a:solidFill>
                  <a:srgbClr val="333333"/>
                </a:solidFill>
                <a:effectLst/>
                <a:latin typeface="Source Sans Pro" panose="020B0503030403020204" pitchFamily="34" charset="0"/>
                <a:ea typeface="Source Sans Pro" panose="020B0503030403020204" pitchFamily="34" charset="0"/>
              </a:rPr>
              <a:t>Before concluding, here is a general advice. If you are not confident of controlling emotions during high price fluctuations, you should stay away from high volatile stocks.</a:t>
            </a:r>
            <a:endParaRPr lang="en-IN"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55342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90F9C-43C3-D994-C359-DBF927932638}"/>
              </a:ext>
            </a:extLst>
          </p:cNvPr>
          <p:cNvSpPr>
            <a:spLocks noGrp="1"/>
          </p:cNvSpPr>
          <p:nvPr>
            <p:ph type="ctrTitle"/>
          </p:nvPr>
        </p:nvSpPr>
        <p:spPr/>
        <p:txBody>
          <a:bodyPr>
            <a:normAutofit/>
          </a:bodyPr>
          <a:lstStyle/>
          <a:p>
            <a:r>
              <a:rPr lang="en-IN" sz="9600" b="1" dirty="0"/>
              <a:t>THANK YOU</a:t>
            </a:r>
          </a:p>
        </p:txBody>
      </p:sp>
      <p:sp>
        <p:nvSpPr>
          <p:cNvPr id="3" name="Subtitle 2">
            <a:extLst>
              <a:ext uri="{FF2B5EF4-FFF2-40B4-BE49-F238E27FC236}">
                <a16:creationId xmlns:a16="http://schemas.microsoft.com/office/drawing/2014/main" id="{CE580C19-558B-0D91-6155-15472E799AF7}"/>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42804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1334</TotalTime>
  <Words>757</Words>
  <Application>Microsoft Office PowerPoint</Application>
  <PresentationFormat>Widescreen</PresentationFormat>
  <Paragraphs>51</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STANDARD DEVIATION AND ITS MEASURES</vt:lpstr>
      <vt:lpstr>Standard Deviation</vt:lpstr>
      <vt:lpstr>Standard Deviation Formula  </vt:lpstr>
      <vt:lpstr>Uses Of Standard Deviation</vt:lpstr>
      <vt:lpstr>Apple Stock Volatility [Standard Deviation] </vt:lpstr>
      <vt:lpstr>Steps To Calculate Volatility.</vt:lpstr>
      <vt:lpstr>Apple Stock Volatility [Standard Deviation] </vt:lpstr>
      <vt:lpstr>3 Apple Inc (AAPL) Stock Weekly Standard Deviation </vt:lpstr>
      <vt:lpstr>10 Highest Volatile Months For Apple Inc (AAPL)</vt:lpstr>
      <vt:lpstr>AAPL Stock Annual Volatility Of 2022 Against 3 Similar Stocks </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STANDARD DEVIATION AND ITS MEASURES</dc:title>
  <dc:creator>taksh mathur</dc:creator>
  <cp:lastModifiedBy>919892670528</cp:lastModifiedBy>
  <cp:revision>20</cp:revision>
  <dcterms:created xsi:type="dcterms:W3CDTF">2022-12-15T11:06:19Z</dcterms:created>
  <dcterms:modified xsi:type="dcterms:W3CDTF">2024-07-24T17:20:46Z</dcterms:modified>
</cp:coreProperties>
</file>