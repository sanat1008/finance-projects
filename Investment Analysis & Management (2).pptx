
<file path=[Content_Types].xml><?xml version="1.0" encoding="utf-8"?>
<Types xmlns="http://schemas.openxmlformats.org/package/2006/content-types">
  <Default Extension="png" ContentType="image/png"/>
  <Default Extension="webp" ContentType="image/webp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7" r:id="rId2"/>
    <p:sldId id="258" r:id="rId3"/>
    <p:sldId id="259" r:id="rId4"/>
    <p:sldId id="265" r:id="rId5"/>
    <p:sldId id="270" r:id="rId6"/>
    <p:sldId id="264" r:id="rId7"/>
    <p:sldId id="267" r:id="rId8"/>
    <p:sldId id="268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6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3529" autoAdjust="0"/>
  </p:normalViewPr>
  <p:slideViewPr>
    <p:cSldViewPr snapToGrid="0">
      <p:cViewPr>
        <p:scale>
          <a:sx n="50" d="100"/>
          <a:sy n="50" d="100"/>
        </p:scale>
        <p:origin x="1934" y="9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9" d="100"/>
          <a:sy n="69" d="100"/>
        </p:scale>
        <p:origin x="278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3D5444-F62C-42C3-A75A-D9DBA807730F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A4F617-7A30-41D4-AB86-5D833C98E1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6248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CAA1FA-7B6A-47D2-8D61-F225D71B51FF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9A179D-2D27-49E2-B022-8EDDA2EFE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03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i="1" dirty="0">
                <a:latin typeface="Arial" pitchFamily="34" charset="0"/>
                <a:cs typeface="Arial" pitchFamily="34" charset="0"/>
              </a:rPr>
              <a:t>To change the  image on this slide, select the picture and delete it. Then click the Pictures icon in the placeholder to insert your own image.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9A179D-2D27-49E2-B022-8EDDA2EFE68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422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9A179D-2D27-49E2-B022-8EDDA2EFE68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26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 noChangeArrowheads="1"/>
          </p:cNvSpPr>
          <p:nvPr/>
        </p:nvSpPr>
        <p:spPr bwMode="white">
          <a:xfrm>
            <a:off x="8429022" y="0"/>
            <a:ext cx="3762978" cy="6858000"/>
          </a:xfrm>
          <a:custGeom>
            <a:avLst/>
            <a:gdLst>
              <a:gd name="connsiteX0" fmla="*/ 0 w 3762978"/>
              <a:gd name="connsiteY0" fmla="*/ 0 h 6858000"/>
              <a:gd name="connsiteX1" fmla="*/ 3762978 w 3762978"/>
              <a:gd name="connsiteY1" fmla="*/ 0 h 6858000"/>
              <a:gd name="connsiteX2" fmla="*/ 3762978 w 3762978"/>
              <a:gd name="connsiteY2" fmla="*/ 6858000 h 6858000"/>
              <a:gd name="connsiteX3" fmla="*/ 338667 w 3762978"/>
              <a:gd name="connsiteY3" fmla="*/ 6858000 h 6858000"/>
              <a:gd name="connsiteX4" fmla="*/ 1189567 w 3762978"/>
              <a:gd name="connsiteY4" fmla="*/ 43370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62978" h="6858000">
                <a:moveTo>
                  <a:pt x="0" y="0"/>
                </a:moveTo>
                <a:lnTo>
                  <a:pt x="3762978" y="0"/>
                </a:lnTo>
                <a:lnTo>
                  <a:pt x="3762978" y="6858000"/>
                </a:lnTo>
                <a:lnTo>
                  <a:pt x="338667" y="6858000"/>
                </a:lnTo>
                <a:lnTo>
                  <a:pt x="1189567" y="433705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1800"/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>
            <a:off x="8145385" y="0"/>
            <a:ext cx="1672169" cy="6858000"/>
          </a:xfrm>
          <a:custGeom>
            <a:avLst/>
            <a:gdLst/>
            <a:ahLst/>
            <a:cxnLst/>
            <a:rect l="l" t="t" r="r" b="b"/>
            <a:pathLst>
              <a:path w="1254127" h="6858000">
                <a:moveTo>
                  <a:pt x="0" y="0"/>
                </a:moveTo>
                <a:lnTo>
                  <a:pt x="365127" y="0"/>
                </a:lnTo>
                <a:lnTo>
                  <a:pt x="1254127" y="4337050"/>
                </a:lnTo>
                <a:lnTo>
                  <a:pt x="619127" y="6858000"/>
                </a:lnTo>
                <a:lnTo>
                  <a:pt x="257175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800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950653" y="0"/>
            <a:ext cx="1528232" cy="6858000"/>
          </a:xfrm>
          <a:custGeom>
            <a:avLst/>
            <a:gdLst/>
            <a:ahLst/>
            <a:cxnLst/>
            <a:rect l="l" t="t" r="r" b="b"/>
            <a:pathLst>
              <a:path w="1146174" h="6858000">
                <a:moveTo>
                  <a:pt x="0" y="0"/>
                </a:moveTo>
                <a:lnTo>
                  <a:pt x="253999" y="0"/>
                </a:lnTo>
                <a:lnTo>
                  <a:pt x="1146174" y="4337050"/>
                </a:lnTo>
                <a:lnTo>
                  <a:pt x="511174" y="6858000"/>
                </a:lnTo>
                <a:lnTo>
                  <a:pt x="254000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innerShdw blurRad="177800" dist="50800" dir="108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1873584"/>
            <a:ext cx="6400800" cy="2560320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572000"/>
            <a:ext cx="6400800" cy="1600200"/>
          </a:xfrm>
        </p:spPr>
        <p:txBody>
          <a:bodyPr/>
          <a:lstStyle>
            <a:lvl1pPr marL="0" indent="0" algn="l">
              <a:spcBef>
                <a:spcPts val="120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12585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182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5"/>
          <p:cNvSpPr>
            <a:spLocks noChangeArrowheads="1"/>
          </p:cNvSpPr>
          <p:nvPr/>
        </p:nvSpPr>
        <p:spPr bwMode="white">
          <a:xfrm>
            <a:off x="6540503" y="0"/>
            <a:ext cx="5651496" cy="6858000"/>
          </a:xfrm>
          <a:custGeom>
            <a:avLst/>
            <a:gdLst/>
            <a:ahLst/>
            <a:cxnLst/>
            <a:rect l="l" t="t" r="r" b="b"/>
            <a:pathLst>
              <a:path w="4238622" h="6858000">
                <a:moveTo>
                  <a:pt x="0" y="0"/>
                </a:moveTo>
                <a:lnTo>
                  <a:pt x="4086222" y="0"/>
                </a:lnTo>
                <a:lnTo>
                  <a:pt x="4237035" y="0"/>
                </a:lnTo>
                <a:lnTo>
                  <a:pt x="4238622" y="0"/>
                </a:lnTo>
                <a:lnTo>
                  <a:pt x="4238622" y="6858000"/>
                </a:lnTo>
                <a:lnTo>
                  <a:pt x="4237035" y="6858000"/>
                </a:lnTo>
                <a:lnTo>
                  <a:pt x="4086222" y="6858000"/>
                </a:lnTo>
                <a:lnTo>
                  <a:pt x="254000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1" name="Freeform 6"/>
          <p:cNvSpPr>
            <a:spLocks/>
          </p:cNvSpPr>
          <p:nvPr/>
        </p:nvSpPr>
        <p:spPr bwMode="auto">
          <a:xfrm>
            <a:off x="6256868" y="0"/>
            <a:ext cx="1672169" cy="6858000"/>
          </a:xfrm>
          <a:custGeom>
            <a:avLst/>
            <a:gdLst/>
            <a:ahLst/>
            <a:cxnLst/>
            <a:rect l="l" t="t" r="r" b="b"/>
            <a:pathLst>
              <a:path w="1254127" h="6858000">
                <a:moveTo>
                  <a:pt x="0" y="0"/>
                </a:moveTo>
                <a:lnTo>
                  <a:pt x="365127" y="0"/>
                </a:lnTo>
                <a:lnTo>
                  <a:pt x="1254127" y="4337050"/>
                </a:lnTo>
                <a:lnTo>
                  <a:pt x="619127" y="6858000"/>
                </a:lnTo>
                <a:lnTo>
                  <a:pt x="257175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800"/>
          </a:p>
        </p:txBody>
      </p:sp>
      <p:sp>
        <p:nvSpPr>
          <p:cNvPr id="12" name="Freeform 7"/>
          <p:cNvSpPr>
            <a:spLocks/>
          </p:cNvSpPr>
          <p:nvPr/>
        </p:nvSpPr>
        <p:spPr bwMode="auto">
          <a:xfrm>
            <a:off x="6062136" y="0"/>
            <a:ext cx="1528232" cy="6858000"/>
          </a:xfrm>
          <a:custGeom>
            <a:avLst/>
            <a:gdLst/>
            <a:ahLst/>
            <a:cxnLst/>
            <a:rect l="l" t="t" r="r" b="b"/>
            <a:pathLst>
              <a:path w="1146174" h="6858000">
                <a:moveTo>
                  <a:pt x="0" y="0"/>
                </a:moveTo>
                <a:lnTo>
                  <a:pt x="253999" y="0"/>
                </a:lnTo>
                <a:lnTo>
                  <a:pt x="1146174" y="4337050"/>
                </a:lnTo>
                <a:lnTo>
                  <a:pt x="511174" y="6858000"/>
                </a:lnTo>
                <a:lnTo>
                  <a:pt x="254000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innerShdw blurRad="177800" dist="50800" dir="108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1" y="1873584"/>
            <a:ext cx="5120640" cy="2560320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 descr="An empty placeholder to add an image. Click on the placeholder and select the image that you wish to add"/>
          <p:cNvSpPr>
            <a:spLocks noGrp="1"/>
          </p:cNvSpPr>
          <p:nvPr>
            <p:ph type="pic" sz="quarter" idx="10"/>
          </p:nvPr>
        </p:nvSpPr>
        <p:spPr>
          <a:xfrm>
            <a:off x="6743703" y="0"/>
            <a:ext cx="5448297" cy="6858000"/>
          </a:xfrm>
          <a:custGeom>
            <a:avLst/>
            <a:gdLst>
              <a:gd name="connsiteX0" fmla="*/ 0 w 5448297"/>
              <a:gd name="connsiteY0" fmla="*/ 0 h 6858000"/>
              <a:gd name="connsiteX1" fmla="*/ 5448297 w 5448297"/>
              <a:gd name="connsiteY1" fmla="*/ 0 h 6858000"/>
              <a:gd name="connsiteX2" fmla="*/ 5448297 w 5448297"/>
              <a:gd name="connsiteY2" fmla="*/ 6858000 h 6858000"/>
              <a:gd name="connsiteX3" fmla="*/ 338667 w 5448297"/>
              <a:gd name="connsiteY3" fmla="*/ 6858000 h 6858000"/>
              <a:gd name="connsiteX4" fmla="*/ 1185333 w 5448297"/>
              <a:gd name="connsiteY4" fmla="*/ 43370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48297" h="6858000">
                <a:moveTo>
                  <a:pt x="0" y="0"/>
                </a:moveTo>
                <a:lnTo>
                  <a:pt x="5448297" y="0"/>
                </a:lnTo>
                <a:lnTo>
                  <a:pt x="5448297" y="6858000"/>
                </a:lnTo>
                <a:lnTo>
                  <a:pt x="338667" y="6858000"/>
                </a:lnTo>
                <a:lnTo>
                  <a:pt x="1185333" y="4337050"/>
                </a:lnTo>
                <a:close/>
              </a:path>
            </a:pathLst>
          </a:custGeom>
          <a:noFill/>
          <a:ln>
            <a:noFill/>
          </a:ln>
        </p:spPr>
        <p:txBody>
          <a:bodyPr wrap="square" tIns="365760">
            <a:no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1" y="4572000"/>
            <a:ext cx="5120640" cy="16002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02813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ChangeArrowheads="1"/>
          </p:cNvSpPr>
          <p:nvPr/>
        </p:nvSpPr>
        <p:spPr bwMode="white">
          <a:xfrm>
            <a:off x="9622368" y="0"/>
            <a:ext cx="2569632" cy="6858000"/>
          </a:xfrm>
          <a:custGeom>
            <a:avLst/>
            <a:gdLst/>
            <a:ahLst/>
            <a:cxnLst/>
            <a:rect l="l" t="t" r="r" b="b"/>
            <a:pathLst>
              <a:path w="1927224" h="6858000">
                <a:moveTo>
                  <a:pt x="0" y="0"/>
                </a:moveTo>
                <a:lnTo>
                  <a:pt x="1927224" y="0"/>
                </a:lnTo>
                <a:lnTo>
                  <a:pt x="1927224" y="6858000"/>
                </a:lnTo>
                <a:lnTo>
                  <a:pt x="254000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8" name="Freeform 6"/>
          <p:cNvSpPr>
            <a:spLocks/>
          </p:cNvSpPr>
          <p:nvPr/>
        </p:nvSpPr>
        <p:spPr bwMode="auto">
          <a:xfrm>
            <a:off x="9237132" y="0"/>
            <a:ext cx="1672169" cy="6858000"/>
          </a:xfrm>
          <a:custGeom>
            <a:avLst/>
            <a:gdLst/>
            <a:ahLst/>
            <a:cxnLst/>
            <a:rect l="l" t="t" r="r" b="b"/>
            <a:pathLst>
              <a:path w="1254127" h="6858000">
                <a:moveTo>
                  <a:pt x="0" y="0"/>
                </a:moveTo>
                <a:lnTo>
                  <a:pt x="365127" y="0"/>
                </a:lnTo>
                <a:lnTo>
                  <a:pt x="1254127" y="4337050"/>
                </a:lnTo>
                <a:lnTo>
                  <a:pt x="619127" y="6858000"/>
                </a:lnTo>
                <a:lnTo>
                  <a:pt x="257175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101600" dist="50800" algn="l" rotWithShape="0">
              <a:prstClr val="black">
                <a:alpha val="25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800"/>
          </a:p>
        </p:txBody>
      </p:sp>
      <p:sp>
        <p:nvSpPr>
          <p:cNvPr id="9" name="Freeform 7"/>
          <p:cNvSpPr>
            <a:spLocks/>
          </p:cNvSpPr>
          <p:nvPr/>
        </p:nvSpPr>
        <p:spPr bwMode="auto">
          <a:xfrm>
            <a:off x="9173633" y="0"/>
            <a:ext cx="1460499" cy="6858000"/>
          </a:xfrm>
          <a:custGeom>
            <a:avLst/>
            <a:gdLst/>
            <a:ahLst/>
            <a:cxnLst/>
            <a:rect l="l" t="t" r="r" b="b"/>
            <a:pathLst>
              <a:path w="1095374" h="6858000">
                <a:moveTo>
                  <a:pt x="0" y="0"/>
                </a:moveTo>
                <a:lnTo>
                  <a:pt x="203199" y="0"/>
                </a:lnTo>
                <a:lnTo>
                  <a:pt x="1095374" y="4337050"/>
                </a:lnTo>
                <a:lnTo>
                  <a:pt x="460374" y="6858000"/>
                </a:lnTo>
                <a:lnTo>
                  <a:pt x="257175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01600" dist="50800" algn="l" rotWithShape="0">
              <a:prstClr val="black">
                <a:alpha val="25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800"/>
          </a:p>
        </p:txBody>
      </p:sp>
      <p:sp>
        <p:nvSpPr>
          <p:cNvPr id="10" name="Freeform 7"/>
          <p:cNvSpPr>
            <a:spLocks/>
          </p:cNvSpPr>
          <p:nvPr/>
        </p:nvSpPr>
        <p:spPr bwMode="auto">
          <a:xfrm>
            <a:off x="9173633" y="0"/>
            <a:ext cx="1460499" cy="6858000"/>
          </a:xfrm>
          <a:custGeom>
            <a:avLst/>
            <a:gdLst/>
            <a:ahLst/>
            <a:cxnLst/>
            <a:rect l="l" t="t" r="r" b="b"/>
            <a:pathLst>
              <a:path w="1095374" h="6858000">
                <a:moveTo>
                  <a:pt x="0" y="0"/>
                </a:moveTo>
                <a:lnTo>
                  <a:pt x="203199" y="0"/>
                </a:lnTo>
                <a:lnTo>
                  <a:pt x="1095374" y="4337050"/>
                </a:lnTo>
                <a:lnTo>
                  <a:pt x="460374" y="6858000"/>
                </a:lnTo>
                <a:lnTo>
                  <a:pt x="257175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8" y="2914650"/>
            <a:ext cx="8046720" cy="1557338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398" y="4589463"/>
            <a:ext cx="8046718" cy="1011237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19642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8799"/>
            <a:ext cx="4572000" cy="43434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206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5134"/>
            <a:ext cx="9601200" cy="10368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28800"/>
            <a:ext cx="4572000" cy="850392"/>
          </a:xfrm>
        </p:spPr>
        <p:txBody>
          <a:bodyPr anchor="ctr">
            <a:normAutofit/>
          </a:bodyPr>
          <a:lstStyle>
            <a:lvl1pPr marL="0" indent="0"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705100"/>
            <a:ext cx="4572000" cy="3467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28800"/>
            <a:ext cx="4572000" cy="847725"/>
          </a:xfrm>
        </p:spPr>
        <p:txBody>
          <a:bodyPr anchor="ctr">
            <a:normAutofit/>
          </a:bodyPr>
          <a:lstStyle>
            <a:lvl1pPr marL="0" indent="0"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705100"/>
            <a:ext cx="4572000" cy="3467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360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337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636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8209" y="1828800"/>
            <a:ext cx="6126480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0" y="1828800"/>
            <a:ext cx="3017520" cy="4343400"/>
          </a:xfrm>
        </p:spPr>
        <p:txBody>
          <a:bodyPr anchor="ctr">
            <a:normAutofit/>
          </a:bodyPr>
          <a:lstStyle>
            <a:lvl1pPr marL="0" indent="0">
              <a:spcBef>
                <a:spcPts val="1200"/>
              </a:spcBef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63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5134"/>
            <a:ext cx="9601200" cy="10368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4724400" y="1828801"/>
            <a:ext cx="6172200" cy="4343400"/>
          </a:xfrm>
        </p:spPr>
        <p:txBody>
          <a:bodyPr tIns="27432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0" y="1828800"/>
            <a:ext cx="3017520" cy="4343400"/>
          </a:xfrm>
        </p:spPr>
        <p:txBody>
          <a:bodyPr anchor="ctr">
            <a:normAutofit/>
          </a:bodyPr>
          <a:lstStyle>
            <a:lvl1pPr marL="0" indent="0">
              <a:spcBef>
                <a:spcPts val="1200"/>
              </a:spcBef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59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wo 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1295400" y="5257800"/>
            <a:ext cx="45720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6324599" y="5257800"/>
            <a:ext cx="45720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295400" y="5257800"/>
            <a:ext cx="4572000" cy="548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/>
          <p:cNvSpPr/>
          <p:nvPr/>
        </p:nvSpPr>
        <p:spPr>
          <a:xfrm>
            <a:off x="6324599" y="5257800"/>
            <a:ext cx="4572000" cy="548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5134"/>
            <a:ext cx="9601200" cy="10368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1298448" y="1828801"/>
            <a:ext cx="4572000" cy="3428999"/>
          </a:xfrm>
        </p:spPr>
        <p:txBody>
          <a:bodyPr tIns="27432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invGray">
          <a:xfrm>
            <a:off x="1371273" y="5333098"/>
            <a:ext cx="4420252" cy="839102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3"/>
          </p:nvPr>
        </p:nvSpPr>
        <p:spPr>
          <a:xfrm>
            <a:off x="6324600" y="1828801"/>
            <a:ext cx="4572000" cy="3428999"/>
          </a:xfrm>
        </p:spPr>
        <p:txBody>
          <a:bodyPr tIns="27432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4"/>
          </p:nvPr>
        </p:nvSpPr>
        <p:spPr bwMode="invGray">
          <a:xfrm>
            <a:off x="6412954" y="5333098"/>
            <a:ext cx="4420252" cy="839102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010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945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 rot="5400000">
            <a:off x="7562850" y="2228850"/>
            <a:ext cx="6858000" cy="24003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 rot="5400000">
            <a:off x="6331230" y="3387909"/>
            <a:ext cx="6858000" cy="8218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 rot="5400000">
            <a:off x="6251613" y="3387909"/>
            <a:ext cx="6858000" cy="8218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71318" y="685800"/>
            <a:ext cx="103327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400" y="685800"/>
            <a:ext cx="7976754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7F8E3F6-DE14-48B2-B2BC-6FABA9630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110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white">
          <a:xfrm>
            <a:off x="0" y="0"/>
            <a:ext cx="12192000" cy="137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1371600"/>
            <a:ext cx="12192000" cy="8218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1443006"/>
            <a:ext cx="12192000" cy="8218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255134"/>
            <a:ext cx="9601200" cy="10368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28800"/>
            <a:ext cx="96012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399" y="6374999"/>
            <a:ext cx="624320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91449" y="6374999"/>
            <a:ext cx="1480705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79A3335-6331-4872-A8B7-ECD55539F4D0}" type="datetimeFigureOut">
              <a:rPr lang="en-US" smtClean="0"/>
              <a:pPr/>
              <a:t>4/15/2024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5000" y="6374999"/>
            <a:ext cx="1371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7F8E3F6-DE14-48B2-B2BC-6FABA9630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73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61" r:id="rId11"/>
    <p:sldLayoutId id="2147483658" r:id="rId12"/>
    <p:sldLayoutId id="2147483659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55448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4028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7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eb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.jpeg"/><Relationship Id="rId5" Type="http://schemas.openxmlformats.org/officeDocument/2006/relationships/image" Target="../media/image17.jpe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Investment Analysis &amp; Management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1" y="4572000"/>
            <a:ext cx="5120640" cy="1185863"/>
          </a:xfrm>
        </p:spPr>
        <p:txBody>
          <a:bodyPr>
            <a:normAutofit/>
          </a:bodyPr>
          <a:lstStyle/>
          <a:p>
            <a:r>
              <a:rPr lang="en-US" dirty="0"/>
              <a:t>DBMS Project</a:t>
            </a:r>
          </a:p>
          <a:p>
            <a:r>
              <a:rPr lang="en-US" dirty="0"/>
              <a:t>Sanat Mishra &amp; Harshit Deskmukh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="" xmlns:a16="http://schemas.microsoft.com/office/drawing/2014/main" id="{B57B59C6-650D-B56D-C215-69CCC203DCF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3537" r="23537"/>
          <a:stretch>
            <a:fillRect/>
          </a:stretch>
        </p:blipFill>
        <p:spPr>
          <a:xfrm>
            <a:off x="6743700" y="0"/>
            <a:ext cx="5448300" cy="6858000"/>
          </a:xfrm>
        </p:spPr>
      </p:pic>
    </p:spTree>
    <p:extLst>
      <p:ext uri="{BB962C8B-B14F-4D97-AF65-F5344CB8AC3E}">
        <p14:creationId xmlns:p14="http://schemas.microsoft.com/office/powerpoint/2010/main" val="1380595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902" y="167375"/>
            <a:ext cx="9601200" cy="1036850"/>
          </a:xfrm>
        </p:spPr>
        <p:txBody>
          <a:bodyPr/>
          <a:lstStyle/>
          <a:p>
            <a:r>
              <a:rPr lang="en-US" dirty="0"/>
              <a:t>Glossary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902" y="1633928"/>
            <a:ext cx="10746698" cy="4538272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b="1" dirty="0"/>
              <a:t>Portfolio</a:t>
            </a:r>
            <a:r>
              <a:rPr lang="en-US" dirty="0"/>
              <a:t>: A Portfolio is a collection of stocks owned by an individual designed to achieve specific financial goals.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b="1" dirty="0"/>
              <a:t>Stock Exchange </a:t>
            </a:r>
            <a:r>
              <a:rPr lang="en-US" dirty="0"/>
              <a:t>: A stock exchange is a place where investors can buy and sell shares of publicly traded companies, like a big marketplace for stocks.</a:t>
            </a:r>
            <a:endParaRPr lang="en-US" b="1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800" b="1" dirty="0"/>
              <a:t>Stock Broke</a:t>
            </a:r>
            <a:r>
              <a:rPr lang="en-US" sz="2800" dirty="0"/>
              <a:t>r</a:t>
            </a:r>
            <a:r>
              <a:rPr lang="en-US" dirty="0"/>
              <a:t>: A stock broker is like a middleman who helps you buy and sell stocks in the stock market.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b="1" dirty="0"/>
              <a:t>Dividend</a:t>
            </a:r>
            <a:r>
              <a:rPr lang="en-US" b="1" dirty="0"/>
              <a:t> </a:t>
            </a:r>
            <a:r>
              <a:rPr lang="en-US" dirty="0"/>
              <a:t>: Dividend is the money a company pays to its shareholders as a reward for owning its stock.</a:t>
            </a:r>
          </a:p>
        </p:txBody>
      </p:sp>
    </p:spTree>
    <p:extLst>
      <p:ext uri="{BB962C8B-B14F-4D97-AF65-F5344CB8AC3E}">
        <p14:creationId xmlns:p14="http://schemas.microsoft.com/office/powerpoint/2010/main" val="3639872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147" y="167375"/>
            <a:ext cx="9601200" cy="1036850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B60C3EDC-9811-2016-EAA7-5BC317CAA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079" y="1678899"/>
            <a:ext cx="9601200" cy="43434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 smtClean="0"/>
              <a:t> </a:t>
            </a:r>
            <a:r>
              <a:rPr lang="en-IN" sz="2800" dirty="0" smtClean="0"/>
              <a:t>Which portfolio has the maximum returns.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800" dirty="0" smtClean="0"/>
              <a:t>Which stock in portfolio has given the most returns.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800" dirty="0" smtClean="0"/>
              <a:t>Most preferred Broker by users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800" dirty="0" smtClean="0"/>
              <a:t>Most repeated stocks among the users.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800" dirty="0" smtClean="0"/>
              <a:t>Which Stock has given the most dividend</a:t>
            </a:r>
          </a:p>
          <a:p>
            <a:pPr>
              <a:buFont typeface="Wingdings" panose="05000000000000000000" pitchFamily="2" charset="2"/>
              <a:buChar char="v"/>
            </a:pPr>
            <a:endParaRPr lang="en-IN" sz="2800" dirty="0" smtClean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4231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3088"/>
            <a:ext cx="9601200" cy="1036850"/>
          </a:xfrm>
        </p:spPr>
        <p:txBody>
          <a:bodyPr/>
          <a:lstStyle/>
          <a:p>
            <a:r>
              <a:rPr lang="en-US" dirty="0"/>
              <a:t>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C489AA9-1221-3023-232D-ED95314CC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214" y="1800225"/>
            <a:ext cx="11229974" cy="4386262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/>
              <a:t>BROKER                      USER                             STOCK</a:t>
            </a:r>
          </a:p>
          <a:p>
            <a:pPr marL="0" indent="0">
              <a:buNone/>
            </a:pPr>
            <a:r>
              <a:rPr lang="en-US" dirty="0" err="1" smtClean="0"/>
              <a:t>Broker_ID</a:t>
            </a:r>
            <a:r>
              <a:rPr lang="en-US" dirty="0" smtClean="0"/>
              <a:t>(PK)                   </a:t>
            </a:r>
            <a:r>
              <a:rPr lang="en-US" dirty="0" err="1"/>
              <a:t>User_ID</a:t>
            </a:r>
            <a:r>
              <a:rPr lang="en-US" dirty="0"/>
              <a:t> </a:t>
            </a:r>
            <a:r>
              <a:rPr lang="en-US" dirty="0" smtClean="0"/>
              <a:t>(PK)                       </a:t>
            </a:r>
            <a:r>
              <a:rPr lang="en-US" dirty="0" err="1" smtClean="0"/>
              <a:t>Stock_Symbol</a:t>
            </a:r>
            <a:r>
              <a:rPr lang="en-US" dirty="0" smtClean="0"/>
              <a:t>(</a:t>
            </a:r>
            <a:r>
              <a:rPr lang="en-US" dirty="0"/>
              <a:t>P</a:t>
            </a:r>
            <a:r>
              <a:rPr lang="en-US" dirty="0" smtClean="0"/>
              <a:t>K)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Broker_Name</a:t>
            </a:r>
            <a:r>
              <a:rPr lang="en-US" dirty="0"/>
              <a:t>                     </a:t>
            </a:r>
            <a:r>
              <a:rPr lang="en-US" dirty="0" smtClean="0"/>
              <a:t>Age                                       </a:t>
            </a:r>
            <a:r>
              <a:rPr lang="en-US" dirty="0" err="1" smtClean="0"/>
              <a:t>Stock_Name</a:t>
            </a:r>
            <a:r>
              <a:rPr lang="en-US" dirty="0" smtClean="0"/>
              <a:t>                                    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Broker_rating</a:t>
            </a:r>
            <a:r>
              <a:rPr lang="en-US" dirty="0"/>
              <a:t>                     </a:t>
            </a:r>
            <a:r>
              <a:rPr lang="en-US" dirty="0" smtClean="0"/>
              <a:t>Occupation                          </a:t>
            </a:r>
            <a:r>
              <a:rPr lang="en-US" dirty="0" err="1" smtClean="0"/>
              <a:t>Stock_Price</a:t>
            </a:r>
            <a:r>
              <a:rPr lang="en-US" dirty="0" smtClean="0"/>
              <a:t>                                                         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Broker_commission</a:t>
            </a:r>
            <a:r>
              <a:rPr lang="en-US" dirty="0"/>
              <a:t> </a:t>
            </a:r>
            <a:r>
              <a:rPr lang="en-US" dirty="0" smtClean="0"/>
              <a:t>         </a:t>
            </a:r>
            <a:r>
              <a:rPr lang="en-US" dirty="0" err="1" smtClean="0"/>
              <a:t>Broker_ID</a:t>
            </a:r>
            <a:r>
              <a:rPr lang="en-US" dirty="0" smtClean="0"/>
              <a:t>(FK</a:t>
            </a:r>
            <a:r>
              <a:rPr lang="en-US" dirty="0"/>
              <a:t>)                    </a:t>
            </a:r>
            <a:r>
              <a:rPr lang="en-US" dirty="0" err="1" smtClean="0"/>
              <a:t>Market_Cap</a:t>
            </a:r>
            <a:r>
              <a:rPr lang="en-US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1729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569C475-2C6A-3941-1BA7-7E3BE546E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412" y="167375"/>
            <a:ext cx="9601200" cy="1036850"/>
          </a:xfrm>
        </p:spPr>
        <p:txBody>
          <a:bodyPr/>
          <a:lstStyle/>
          <a:p>
            <a:r>
              <a:rPr lang="en-IN" dirty="0"/>
              <a:t>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CC9EE27-6EB7-4F74-DBD4-08BEDAF02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12" y="1743074"/>
            <a:ext cx="11553826" cy="51149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800" b="1" dirty="0"/>
              <a:t>PURCHASE/SELL         PORTFOLIO                   EXCHANGE </a:t>
            </a:r>
          </a:p>
          <a:p>
            <a:pPr marL="0" indent="0">
              <a:buNone/>
            </a:pPr>
            <a:r>
              <a:rPr lang="en-IN" dirty="0" err="1"/>
              <a:t>Broker_ID</a:t>
            </a:r>
            <a:r>
              <a:rPr lang="en-IN" dirty="0"/>
              <a:t>(FK)                        </a:t>
            </a:r>
            <a:r>
              <a:rPr lang="en-IN" dirty="0" err="1"/>
              <a:t>Portfolio_ID</a:t>
            </a:r>
            <a:r>
              <a:rPr lang="en-IN" dirty="0"/>
              <a:t>                            </a:t>
            </a:r>
            <a:r>
              <a:rPr lang="en-IN" dirty="0" err="1"/>
              <a:t>Exchange_ID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Stock_ID</a:t>
            </a:r>
            <a:r>
              <a:rPr lang="en-IN" dirty="0"/>
              <a:t>(FK)                          </a:t>
            </a:r>
            <a:r>
              <a:rPr lang="en-IN" dirty="0" err="1"/>
              <a:t>Portfolio_returns</a:t>
            </a:r>
            <a:r>
              <a:rPr lang="en-IN" dirty="0"/>
              <a:t>                    </a:t>
            </a:r>
            <a:r>
              <a:rPr lang="en-IN" dirty="0" err="1"/>
              <a:t>Exchange_Name</a:t>
            </a:r>
            <a:r>
              <a:rPr lang="en-IN" dirty="0"/>
              <a:t>                                                                               </a:t>
            </a:r>
          </a:p>
          <a:p>
            <a:pPr marL="0" indent="0">
              <a:buNone/>
            </a:pPr>
            <a:r>
              <a:rPr lang="en-IN" dirty="0"/>
              <a:t>                                                  </a:t>
            </a:r>
            <a:r>
              <a:rPr lang="en-IN" dirty="0" err="1"/>
              <a:t>User_ID</a:t>
            </a:r>
            <a:r>
              <a:rPr lang="en-IN" dirty="0"/>
              <a:t>(FK)                            </a:t>
            </a:r>
            <a:r>
              <a:rPr lang="en-IN" dirty="0" err="1"/>
              <a:t>Stock_ID</a:t>
            </a:r>
            <a:r>
              <a:rPr lang="en-IN" dirty="0"/>
              <a:t>(FK)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800" b="1" dirty="0"/>
              <a:t>DIVIDEND                     HOLDING</a:t>
            </a:r>
          </a:p>
          <a:p>
            <a:pPr marL="0" indent="0">
              <a:buNone/>
            </a:pPr>
            <a:r>
              <a:rPr lang="en-IN" dirty="0" err="1" smtClean="0"/>
              <a:t>Dividend_yield</a:t>
            </a:r>
            <a:r>
              <a:rPr lang="en-IN" dirty="0" smtClean="0"/>
              <a:t>                      </a:t>
            </a:r>
            <a:r>
              <a:rPr lang="en-IN" dirty="0" err="1" smtClean="0"/>
              <a:t>Portfolio_ID</a:t>
            </a:r>
            <a:r>
              <a:rPr lang="en-IN" dirty="0" smtClean="0"/>
              <a:t>(FK)</a:t>
            </a:r>
            <a:endParaRPr lang="en-IN" dirty="0"/>
          </a:p>
          <a:p>
            <a:pPr marL="0" indent="0">
              <a:buNone/>
            </a:pPr>
            <a:r>
              <a:rPr lang="en-IN" dirty="0" err="1" smtClean="0"/>
              <a:t>Dividend_Date</a:t>
            </a:r>
            <a:r>
              <a:rPr lang="en-IN" dirty="0"/>
              <a:t> </a:t>
            </a:r>
            <a:r>
              <a:rPr lang="en-IN" dirty="0" smtClean="0"/>
              <a:t>                      </a:t>
            </a:r>
            <a:r>
              <a:rPr lang="en-IN" dirty="0" err="1" smtClean="0"/>
              <a:t>Stock_ID</a:t>
            </a:r>
            <a:r>
              <a:rPr lang="en-IN" dirty="0" smtClean="0"/>
              <a:t>(FK</a:t>
            </a:r>
            <a:r>
              <a:rPr lang="en-IN" dirty="0"/>
              <a:t>)    </a:t>
            </a: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Dividend_type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Stock_ID</a:t>
            </a:r>
            <a:r>
              <a:rPr lang="en-IN" dirty="0"/>
              <a:t>(FK)</a:t>
            </a:r>
          </a:p>
        </p:txBody>
      </p:sp>
    </p:spTree>
    <p:extLst>
      <p:ext uri="{BB962C8B-B14F-4D97-AF65-F5344CB8AC3E}">
        <p14:creationId xmlns:p14="http://schemas.microsoft.com/office/powerpoint/2010/main" val="3687103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RELATIONAL TABLE 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>
          <a:xfrm>
            <a:off x="3395147" y="1826133"/>
            <a:ext cx="4572000" cy="850392"/>
          </a:xfrm>
        </p:spPr>
        <p:txBody>
          <a:bodyPr/>
          <a:lstStyle/>
          <a:p>
            <a:pPr algn="ctr"/>
            <a:r>
              <a:rPr lang="en-US" i="1" u="sng" dirty="0" smtClean="0"/>
              <a:t>USERS CONTACTING BROKER (M:1)</a:t>
            </a:r>
            <a:endParaRPr lang="en-US" i="1" u="sng" dirty="0"/>
          </a:p>
        </p:txBody>
      </p:sp>
      <p:pic>
        <p:nvPicPr>
          <p:cNvPr id="7" name="Content Placeholder 6"/>
          <p:cNvPicPr>
            <a:picLocks noGrp="1"/>
          </p:cNvPicPr>
          <p:nvPr>
            <p:ph sz="quarter" idx="4"/>
          </p:nvPr>
        </p:nvPicPr>
        <p:blipFill rotWithShape="1">
          <a:blip r:embed="rId2"/>
          <a:srcRect t="1883"/>
          <a:stretch/>
        </p:blipFill>
        <p:spPr bwMode="auto">
          <a:xfrm>
            <a:off x="6009518" y="3213341"/>
            <a:ext cx="5330674" cy="244785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Content Placeholder 7"/>
          <p:cNvPicPr>
            <a:picLocks noGrp="1"/>
          </p:cNvPicPr>
          <p:nvPr>
            <p:ph sz="half" idx="2"/>
          </p:nvPr>
        </p:nvPicPr>
        <p:blipFill rotWithShape="1">
          <a:blip r:embed="rId3"/>
          <a:srcRect l="2129" t="2434" r="11994" b="5701"/>
          <a:stretch/>
        </p:blipFill>
        <p:spPr bwMode="auto">
          <a:xfrm>
            <a:off x="936501" y="3216008"/>
            <a:ext cx="4345792" cy="244518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72820" y="2844009"/>
            <a:ext cx="19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USERS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919108" y="2906210"/>
            <a:ext cx="1747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BROKER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118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RELATIONAL TABLE</a:t>
            </a:r>
            <a:endParaRPr lang="en-US" dirty="0"/>
          </a:p>
        </p:txBody>
      </p:sp>
      <p:pic>
        <p:nvPicPr>
          <p:cNvPr id="7" name="Content Placeholder 6"/>
          <p:cNvPicPr>
            <a:picLocks noGrp="1"/>
          </p:cNvPicPr>
          <p:nvPr>
            <p:ph idx="1"/>
          </p:nvPr>
        </p:nvPicPr>
        <p:blipFill rotWithShape="1">
          <a:blip r:embed="rId2"/>
          <a:srcRect l="927" t="12434" r="11025" b="7545"/>
          <a:stretch/>
        </p:blipFill>
        <p:spPr bwMode="auto">
          <a:xfrm>
            <a:off x="4907008" y="2414409"/>
            <a:ext cx="6087382" cy="324122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/>
          <p:cNvPicPr/>
          <p:nvPr/>
        </p:nvPicPr>
        <p:blipFill rotWithShape="1">
          <a:blip r:embed="rId3"/>
          <a:srcRect t="7963" r="7728" b="12369"/>
          <a:stretch/>
        </p:blipFill>
        <p:spPr bwMode="auto">
          <a:xfrm>
            <a:off x="690969" y="2490169"/>
            <a:ext cx="3676923" cy="191452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90969" y="2045077"/>
            <a:ext cx="1575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PURCHASE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907008" y="2045077"/>
            <a:ext cx="1483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STOCK</a:t>
            </a:r>
            <a:endParaRPr lang="en-US" dirty="0"/>
          </a:p>
        </p:txBody>
      </p:sp>
      <p:pic>
        <p:nvPicPr>
          <p:cNvPr id="2050" name="Picture 2" descr="19 Chart Patterns PDF Guide - ForexBee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362"/>
          <a:stretch/>
        </p:blipFill>
        <p:spPr bwMode="auto">
          <a:xfrm>
            <a:off x="978653" y="4480458"/>
            <a:ext cx="2574955" cy="2036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3553608" y="1599984"/>
            <a:ext cx="4975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u="sng" dirty="0" smtClean="0"/>
              <a:t>BROKER  BUYS/SELLS STOCK(M:M)</a:t>
            </a:r>
            <a:endParaRPr lang="en-US" i="1" u="sng" dirty="0"/>
          </a:p>
        </p:txBody>
      </p:sp>
    </p:spTree>
    <p:extLst>
      <p:ext uri="{BB962C8B-B14F-4D97-AF65-F5344CB8AC3E}">
        <p14:creationId xmlns:p14="http://schemas.microsoft.com/office/powerpoint/2010/main" val="332843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RELATIONAL TABLES 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941070" y="1704814"/>
            <a:ext cx="3703320" cy="510540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USERS HAVE PORTFOLIO(1</a:t>
            </a:r>
            <a:r>
              <a:rPr lang="en-US" dirty="0" smtClean="0">
                <a:sym typeface="Wingdings" panose="05000000000000000000" pitchFamily="2" charset="2"/>
              </a:rPr>
              <a:t>:1)</a:t>
            </a:r>
            <a:endParaRPr lang="en-US" dirty="0"/>
          </a:p>
        </p:txBody>
      </p:sp>
      <p:pic>
        <p:nvPicPr>
          <p:cNvPr id="8" name="Picture 7"/>
          <p:cNvPicPr/>
          <p:nvPr/>
        </p:nvPicPr>
        <p:blipFill rotWithShape="1">
          <a:blip r:embed="rId2"/>
          <a:srcRect l="1155" t="13523" r="9152" b="12099"/>
          <a:stretch/>
        </p:blipFill>
        <p:spPr bwMode="auto">
          <a:xfrm>
            <a:off x="388620" y="2997517"/>
            <a:ext cx="5311140" cy="284702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89560" y="2628185"/>
            <a:ext cx="201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PORTFOLIO</a:t>
            </a:r>
            <a:endParaRPr lang="en-US" dirty="0"/>
          </a:p>
        </p:txBody>
      </p:sp>
      <p:pic>
        <p:nvPicPr>
          <p:cNvPr id="4" name="Picture 2" descr="https://i.pinimg.com/564x/2a/79/b1/2a79b1af15333f32f933e16d41cd114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2320" y="2766060"/>
            <a:ext cx="4617720" cy="3078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9926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RELATIONAL TABLE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 flipH="1">
            <a:off x="3483400" y="1794075"/>
            <a:ext cx="4896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u="sng" dirty="0" smtClean="0"/>
              <a:t>PORTFOLIO CONTAINS STOCKS (M:M)</a:t>
            </a:r>
            <a:endParaRPr lang="en-US" i="1" u="sng" dirty="0"/>
          </a:p>
        </p:txBody>
      </p:sp>
      <p:pic>
        <p:nvPicPr>
          <p:cNvPr id="10" name="Picture 9"/>
          <p:cNvPicPr/>
          <p:nvPr/>
        </p:nvPicPr>
        <p:blipFill rotWithShape="1">
          <a:blip r:embed="rId2"/>
          <a:srcRect b="56454"/>
          <a:stretch/>
        </p:blipFill>
        <p:spPr>
          <a:xfrm>
            <a:off x="1064159" y="3165412"/>
            <a:ext cx="4864201" cy="30829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4159" y="2499360"/>
            <a:ext cx="1526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HOLDINGS</a:t>
            </a:r>
            <a:endParaRPr lang="en-US" dirty="0"/>
          </a:p>
        </p:txBody>
      </p:sp>
      <p:pic>
        <p:nvPicPr>
          <p:cNvPr id="4098" name="Picture 2" descr="https://i.pinimg.com/564x/53/d8/78/53d878432f4ac32cf14ca530e39f2c1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0959" y="3165412"/>
            <a:ext cx="3853801" cy="289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9840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RELATIONAL TABLES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 flipH="1">
            <a:off x="693902" y="2152890"/>
            <a:ext cx="4966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u="sng" dirty="0" smtClean="0"/>
              <a:t>STOCKS LISTS IN STOCK EXCHANGE (1:M)</a:t>
            </a:r>
            <a:endParaRPr lang="en-US" i="1" u="sng" dirty="0"/>
          </a:p>
        </p:txBody>
      </p:sp>
      <p:sp>
        <p:nvSpPr>
          <p:cNvPr id="3" name="TextBox 2"/>
          <p:cNvSpPr txBox="1"/>
          <p:nvPr/>
        </p:nvSpPr>
        <p:spPr>
          <a:xfrm>
            <a:off x="6273479" y="2128682"/>
            <a:ext cx="4132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u="sng" dirty="0" smtClean="0"/>
              <a:t>STOCK PAYOUT DIVIDEND (1:M)</a:t>
            </a:r>
            <a:endParaRPr lang="en-US" i="1" u="sng" dirty="0"/>
          </a:p>
        </p:txBody>
      </p:sp>
      <p:pic>
        <p:nvPicPr>
          <p:cNvPr id="6" name="Picture 5"/>
          <p:cNvPicPr/>
          <p:nvPr/>
        </p:nvPicPr>
        <p:blipFill rotWithShape="1">
          <a:blip r:embed="rId2"/>
          <a:srcRect l="11" t="-195" r="2569" b="1693"/>
          <a:stretch/>
        </p:blipFill>
        <p:spPr>
          <a:xfrm>
            <a:off x="6180881" y="3383128"/>
            <a:ext cx="4966119" cy="3214442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 rotWithShape="1">
          <a:blip r:embed="rId3"/>
          <a:srcRect l="452" t="4769" r="8136" b="55135"/>
          <a:stretch/>
        </p:blipFill>
        <p:spPr bwMode="auto">
          <a:xfrm>
            <a:off x="693902" y="3383128"/>
            <a:ext cx="4792498" cy="301296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TextBox 3"/>
          <p:cNvSpPr txBox="1"/>
          <p:nvPr/>
        </p:nvSpPr>
        <p:spPr>
          <a:xfrm flipH="1">
            <a:off x="578154" y="3013796"/>
            <a:ext cx="2928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STOCK_EXCHANGE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096000" y="3013796"/>
            <a:ext cx="1713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DIVIDEND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00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333968" y="1866946"/>
            <a:ext cx="89373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3200" dirty="0"/>
              <a:t>Which portfolio has the maximum returns.</a:t>
            </a:r>
          </a:p>
        </p:txBody>
      </p:sp>
      <p:sp>
        <p:nvSpPr>
          <p:cNvPr id="3" name="Rectangle 2"/>
          <p:cNvSpPr/>
          <p:nvPr/>
        </p:nvSpPr>
        <p:spPr>
          <a:xfrm>
            <a:off x="663615" y="2547072"/>
            <a:ext cx="5320496" cy="2782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Users.user_id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Portfolio.Portfolio_returns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Portfolio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INNER JOIN users ON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Portfolio.user_id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users.user_id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Portfolio.Portfolio_returns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(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MAX(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Portfolio_returns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Portfolio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663614" y="5424851"/>
            <a:ext cx="5771909" cy="1276891"/>
          </a:xfrm>
          <a:prstGeom prst="rect">
            <a:avLst/>
          </a:prstGeom>
        </p:spPr>
      </p:pic>
      <p:pic>
        <p:nvPicPr>
          <p:cNvPr id="5122" name="Picture 2" descr="I would like to invest Rs 2,00,000 for Long Term. Will you suggest  investing it right now or should I wait for correction? - Quor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0848" y="2756521"/>
            <a:ext cx="4480945" cy="3095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2146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371736" y="1804497"/>
            <a:ext cx="86437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800" dirty="0"/>
              <a:t>Which stock in portfolio has given the most returns</a:t>
            </a:r>
            <a:endParaRPr lang="en-US" sz="2800" dirty="0"/>
          </a:p>
        </p:txBody>
      </p:sp>
      <p:sp>
        <p:nvSpPr>
          <p:cNvPr id="3" name="Rectangle 2"/>
          <p:cNvSpPr/>
          <p:nvPr/>
        </p:nvSpPr>
        <p:spPr>
          <a:xfrm>
            <a:off x="1295400" y="2840230"/>
            <a:ext cx="3284425" cy="7745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Portfolio_ID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from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portfolio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user_id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3456789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80858" y="2779611"/>
            <a:ext cx="3583032" cy="7745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3365500" algn="l"/>
              </a:tabLs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* from holdings </a:t>
            </a:r>
            <a:endPara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3365500" algn="l"/>
              </a:tabLs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Portfolio_ID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'PRTF4509'	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1295401" y="3753633"/>
            <a:ext cx="2351824" cy="1038286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6480858" y="3614737"/>
            <a:ext cx="2581275" cy="1590675"/>
          </a:xfrm>
          <a:prstGeom prst="rect">
            <a:avLst/>
          </a:prstGeom>
        </p:spPr>
      </p:pic>
      <p:pic>
        <p:nvPicPr>
          <p:cNvPr id="6148" name="Picture 4" descr="Infosys - Crunchbase Company Profile &amp; Fundi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646" y="5205412"/>
            <a:ext cx="2961192" cy="1267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0649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455182" y="1924820"/>
            <a:ext cx="573426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800" dirty="0"/>
              <a:t>Most preferred Broker by </a:t>
            </a:r>
            <a:r>
              <a:rPr lang="en-IN" sz="2800" dirty="0" smtClean="0"/>
              <a:t>users </a:t>
            </a:r>
            <a:endParaRPr lang="en-IN" sz="2800" dirty="0"/>
          </a:p>
        </p:txBody>
      </p:sp>
      <p:sp>
        <p:nvSpPr>
          <p:cNvPr id="3" name="Rectangle 2"/>
          <p:cNvSpPr/>
          <p:nvPr/>
        </p:nvSpPr>
        <p:spPr>
          <a:xfrm>
            <a:off x="1109541" y="2703908"/>
            <a:ext cx="6096000" cy="118660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broker_id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COUNT(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broker_id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AS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broker_count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users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 BY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broker_id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1109541" y="4566453"/>
            <a:ext cx="4631502" cy="1510256"/>
          </a:xfrm>
          <a:prstGeom prst="rect">
            <a:avLst/>
          </a:prstGeom>
        </p:spPr>
      </p:pic>
      <p:pic>
        <p:nvPicPr>
          <p:cNvPr id="1026" name="Picture 2" descr="Zerodha users facing glitches in trading | Min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6239" y="2186430"/>
            <a:ext cx="3200400" cy="1801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959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602638" y="1959544"/>
            <a:ext cx="66447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800" dirty="0"/>
              <a:t>Most repeated stocks among the users.</a:t>
            </a:r>
          </a:p>
        </p:txBody>
      </p:sp>
      <p:sp>
        <p:nvSpPr>
          <p:cNvPr id="3" name="Rectangle 2"/>
          <p:cNvSpPr/>
          <p:nvPr/>
        </p:nvSpPr>
        <p:spPr>
          <a:xfrm>
            <a:off x="877022" y="2613069"/>
            <a:ext cx="6096000" cy="15855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Stock_Symbol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COUNT(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Stock_Symbol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AS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Stock_COUNT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holdings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 BY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Stock_Symbol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 BY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Stock_COUNT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DESC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 rotWithShape="1">
          <a:blip r:embed="rId2"/>
          <a:srcRect b="39510"/>
          <a:stretch/>
        </p:blipFill>
        <p:spPr>
          <a:xfrm>
            <a:off x="771885" y="4328936"/>
            <a:ext cx="5270099" cy="2349656"/>
          </a:xfrm>
          <a:prstGeom prst="rect">
            <a:avLst/>
          </a:prstGeom>
        </p:spPr>
      </p:pic>
      <p:pic>
        <p:nvPicPr>
          <p:cNvPr id="7170" name="Picture 2" descr="Branding Asia's premier biotechnology company - TSK Desig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5398" y="3138084"/>
            <a:ext cx="1927202" cy="1190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Adani Enterprises Share Price today, Market Cap, Shareholding, Financial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9020" y="2970971"/>
            <a:ext cx="2364114" cy="1672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Infosys - Crunchbase Company Profile &amp; Fundi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5398" y="4563082"/>
            <a:ext cx="2079538" cy="1267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RIL Reliance Industries Limited Logo PNG vector in SVG, PDF, AI, CDR format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2836" y="4545312"/>
            <a:ext cx="1712397" cy="128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0360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 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566195" y="1936395"/>
            <a:ext cx="71016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800" dirty="0"/>
              <a:t>Which Stock has given the most dividend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848810" y="2459615"/>
            <a:ext cx="6096000" cy="238347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dividend_yield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stock_Symbol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dividend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dividend_yield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(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MAX(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dividend_yield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dividend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 rotWithShape="1">
          <a:blip r:embed="rId2"/>
          <a:srcRect t="3135" r="17075" b="34624"/>
          <a:stretch/>
        </p:blipFill>
        <p:spPr>
          <a:xfrm>
            <a:off x="848810" y="4880171"/>
            <a:ext cx="3584294" cy="988194"/>
          </a:xfrm>
          <a:prstGeom prst="rect">
            <a:avLst/>
          </a:prstGeom>
        </p:spPr>
      </p:pic>
      <p:pic>
        <p:nvPicPr>
          <p:cNvPr id="8194" name="Picture 2" descr="Hindustan Unilever - Wikipe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410" y="2982835"/>
            <a:ext cx="4876878" cy="1621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0809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INTERPRETATION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295400" y="1996440"/>
            <a:ext cx="90525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 smtClean="0"/>
              <a:t>THE USER ID 345678 HAS MAXIMUM RETURNS THAT IS 70%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 smtClean="0"/>
              <a:t>The portfolio ID PRT4509 has maximum returns and the stocks in the portfolio are INFOSYS , ASHOKLEYLAND, BAJAJFINANCE, CROMPTON, BIOCON, TCS.\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1564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INTERPRETATION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 flipH="1">
            <a:off x="1295400" y="2087880"/>
            <a:ext cx="73152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 smtClean="0"/>
              <a:t>THE MOST PREFFERED BROCKER IS ZERODHA</a:t>
            </a:r>
            <a:endParaRPr lang="en-US" sz="2400" dirty="0"/>
          </a:p>
        </p:txBody>
      </p:sp>
      <p:pic>
        <p:nvPicPr>
          <p:cNvPr id="2050" name="Picture 2" descr="The engineer who played Harshad Mehta - Rediff.co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0959" y="2087880"/>
            <a:ext cx="4072255" cy="4072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3394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INTERPRETATION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830852" y="1948934"/>
            <a:ext cx="7346883" cy="46782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800" dirty="0"/>
              <a:t>Most repeated stocks among the </a:t>
            </a:r>
            <a:r>
              <a:rPr lang="en-IN" sz="2800" dirty="0" smtClean="0"/>
              <a:t>users are:-</a:t>
            </a:r>
          </a:p>
          <a:p>
            <a:pPr marL="342900" indent="-342900">
              <a:buFont typeface="+mj-lt"/>
              <a:buAutoNum type="arabicPeriod"/>
            </a:pPr>
            <a:endParaRPr lang="en-IN" dirty="0" smtClean="0"/>
          </a:p>
          <a:p>
            <a:pPr marL="342900" indent="-342900">
              <a:buFont typeface="+mj-lt"/>
              <a:buAutoNum type="arabicPeriod"/>
            </a:pPr>
            <a:r>
              <a:rPr lang="en-IN" dirty="0" smtClean="0"/>
              <a:t>TCS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smtClean="0"/>
              <a:t>ADANI ENTERPRISE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smtClean="0"/>
              <a:t>BIOCON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smtClean="0"/>
              <a:t>INFOSYS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smtClean="0"/>
              <a:t>RELIANCE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smtClean="0"/>
              <a:t>HINDUSTANUNILEVER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smtClean="0"/>
              <a:t>HDFC BANK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smtClean="0"/>
              <a:t>BAJAJFINANCE</a:t>
            </a:r>
          </a:p>
          <a:p>
            <a:endParaRPr lang="en-IN" dirty="0" smtClean="0"/>
          </a:p>
          <a:p>
            <a:endParaRPr lang="en-IN" dirty="0" smtClean="0"/>
          </a:p>
          <a:p>
            <a:pPr marL="342900" indent="-342900">
              <a:buFont typeface="+mj-lt"/>
              <a:buAutoNum type="arabicPeriod"/>
            </a:pPr>
            <a:endParaRPr lang="en-IN" dirty="0" smtClean="0"/>
          </a:p>
          <a:p>
            <a:pPr marL="342900" indent="-342900">
              <a:buFont typeface="+mj-lt"/>
              <a:buAutoNum type="arabicPeriod"/>
            </a:pPr>
            <a:endParaRPr lang="en-IN" dirty="0" smtClean="0"/>
          </a:p>
          <a:p>
            <a:pPr marL="342900" indent="-342900">
              <a:buFont typeface="+mj-lt"/>
              <a:buAutoNum type="arabicPeriod"/>
            </a:pPr>
            <a:endParaRPr lang="en-IN" dirty="0" smtClean="0"/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2127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INTERPRETATION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295400" y="2009894"/>
            <a:ext cx="6644768" cy="12618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800" dirty="0"/>
              <a:t>Most repeated stocks among the users</a:t>
            </a:r>
            <a:r>
              <a:rPr lang="en-IN" sz="2800" dirty="0" smtClean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endParaRPr lang="en-IN" sz="2800" dirty="0"/>
          </a:p>
          <a:p>
            <a:r>
              <a:rPr lang="en-IN" sz="2000" dirty="0" smtClean="0"/>
              <a:t>HINDUSTANUNILEVER 2.8%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08323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312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RELATIONAL TABLES 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430684" y="1701478"/>
            <a:ext cx="6261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PORTFOLIO CONTAIN STOCKS(M:M)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4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ales Direction 16X9">
  <a:themeElements>
    <a:clrScheme name="SalesDirection">
      <a:dk1>
        <a:srgbClr val="595959"/>
      </a:dk1>
      <a:lt1>
        <a:sysClr val="window" lastClr="FFFFFF"/>
      </a:lt1>
      <a:dk2>
        <a:srgbClr val="000000"/>
      </a:dk2>
      <a:lt2>
        <a:srgbClr val="F2F2F2"/>
      </a:lt2>
      <a:accent1>
        <a:srgbClr val="1EB8C1"/>
      </a:accent1>
      <a:accent2>
        <a:srgbClr val="EF7920"/>
      </a:accent2>
      <a:accent3>
        <a:srgbClr val="EFC119"/>
      </a:accent3>
      <a:accent4>
        <a:srgbClr val="969890"/>
      </a:accent4>
      <a:accent5>
        <a:srgbClr val="50B4F2"/>
      </a:accent5>
      <a:accent6>
        <a:srgbClr val="C05A3A"/>
      </a:accent6>
      <a:hlink>
        <a:srgbClr val="EFC119"/>
      </a:hlink>
      <a:folHlink>
        <a:srgbClr val="969890"/>
      </a:folHlink>
    </a:clrScheme>
    <a:fontScheme name="Book Antiqua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rection presentation (widescreen).potx" id="{D17AB31B-F25B-45F4-B34E-C6982D129A29}" vid="{B63A7B92-8C2A-4E6A-9062-768A2448E61C}"/>
    </a:ext>
  </a:extLst>
</a:theme>
</file>

<file path=ppt/theme/theme2.xml><?xml version="1.0" encoding="utf-8"?>
<a:theme xmlns:a="http://schemas.openxmlformats.org/drawingml/2006/main" name="Office Theme">
  <a:themeElements>
    <a:clrScheme name="SalesDirection">
      <a:dk1>
        <a:srgbClr val="595959"/>
      </a:dk1>
      <a:lt1>
        <a:sysClr val="window" lastClr="FFFFFF"/>
      </a:lt1>
      <a:dk2>
        <a:srgbClr val="000000"/>
      </a:dk2>
      <a:lt2>
        <a:srgbClr val="F2F2F2"/>
      </a:lt2>
      <a:accent1>
        <a:srgbClr val="1EB8C1"/>
      </a:accent1>
      <a:accent2>
        <a:srgbClr val="EF7920"/>
      </a:accent2>
      <a:accent3>
        <a:srgbClr val="EFC119"/>
      </a:accent3>
      <a:accent4>
        <a:srgbClr val="969890"/>
      </a:accent4>
      <a:accent5>
        <a:srgbClr val="50B4F2"/>
      </a:accent5>
      <a:accent6>
        <a:srgbClr val="C05A3A"/>
      </a:accent6>
      <a:hlink>
        <a:srgbClr val="EFC119"/>
      </a:hlink>
      <a:folHlink>
        <a:srgbClr val="969890"/>
      </a:folHlink>
    </a:clrScheme>
    <a:fontScheme name="Book Antiqua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alesDirection">
      <a:dk1>
        <a:srgbClr val="595959"/>
      </a:dk1>
      <a:lt1>
        <a:sysClr val="window" lastClr="FFFFFF"/>
      </a:lt1>
      <a:dk2>
        <a:srgbClr val="000000"/>
      </a:dk2>
      <a:lt2>
        <a:srgbClr val="F2F2F2"/>
      </a:lt2>
      <a:accent1>
        <a:srgbClr val="1EB8C1"/>
      </a:accent1>
      <a:accent2>
        <a:srgbClr val="EF7920"/>
      </a:accent2>
      <a:accent3>
        <a:srgbClr val="EFC119"/>
      </a:accent3>
      <a:accent4>
        <a:srgbClr val="969890"/>
      </a:accent4>
      <a:accent5>
        <a:srgbClr val="50B4F2"/>
      </a:accent5>
      <a:accent6>
        <a:srgbClr val="C05A3A"/>
      </a:accent6>
      <a:hlink>
        <a:srgbClr val="EFC119"/>
      </a:hlink>
      <a:folHlink>
        <a:srgbClr val="969890"/>
      </a:folHlink>
    </a:clrScheme>
    <a:fontScheme name="Book Antiqua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direction presentation (widescreen)</Template>
  <TotalTime>1219</TotalTime>
  <Words>479</Words>
  <Application>Microsoft Office PowerPoint</Application>
  <PresentationFormat>Widescreen</PresentationFormat>
  <Paragraphs>113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Book Antiqua</vt:lpstr>
      <vt:lpstr>Calibri</vt:lpstr>
      <vt:lpstr>Times New Roman</vt:lpstr>
      <vt:lpstr>Wingdings</vt:lpstr>
      <vt:lpstr>Sales Direction 16X9</vt:lpstr>
      <vt:lpstr>Investment Analysis &amp; Management </vt:lpstr>
      <vt:lpstr>Glossary </vt:lpstr>
      <vt:lpstr>Objectives</vt:lpstr>
      <vt:lpstr>Schema</vt:lpstr>
      <vt:lpstr>Schema</vt:lpstr>
      <vt:lpstr>RELATIONAL TABLE </vt:lpstr>
      <vt:lpstr>RELATIONAL TABLE</vt:lpstr>
      <vt:lpstr>RELATIONAL TABLES </vt:lpstr>
      <vt:lpstr>RELATIONAL TABLE</vt:lpstr>
      <vt:lpstr>RELATIONAL TABLES</vt:lpstr>
      <vt:lpstr>OBJECTIVES</vt:lpstr>
      <vt:lpstr>OBJECTIVES</vt:lpstr>
      <vt:lpstr>OBJECTIVES</vt:lpstr>
      <vt:lpstr>OBJECTIVES</vt:lpstr>
      <vt:lpstr>OBJECTIVES </vt:lpstr>
      <vt:lpstr>INTERPRETATION</vt:lpstr>
      <vt:lpstr>INTERPRETATION</vt:lpstr>
      <vt:lpstr>INTERPRETATION</vt:lpstr>
      <vt:lpstr>INTERPRETATION</vt:lpstr>
      <vt:lpstr>PowerPoint Presentation</vt:lpstr>
      <vt:lpstr>RELATIONAL TABLES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Investment Analysis &amp; Management</dc:title>
  <dc:creator>Kiran</dc:creator>
  <cp:lastModifiedBy>Microsoft account</cp:lastModifiedBy>
  <cp:revision>17</cp:revision>
  <dcterms:created xsi:type="dcterms:W3CDTF">2024-04-14T13:42:11Z</dcterms:created>
  <dcterms:modified xsi:type="dcterms:W3CDTF">2024-04-15T21:05:14Z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