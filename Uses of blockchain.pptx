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media/image3.jpg" ContentType="image/jpeg"/>
  <Override PartName="/ppt/media/image9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7" r:id="rId2"/>
    <p:sldId id="258" r:id="rId3"/>
    <p:sldId id="259" r:id="rId4"/>
    <p:sldId id="260" r:id="rId5"/>
    <p:sldId id="282" r:id="rId6"/>
    <p:sldId id="283" r:id="rId7"/>
    <p:sldId id="273" r:id="rId8"/>
    <p:sldId id="272" r:id="rId9"/>
    <p:sldId id="265" r:id="rId10"/>
    <p:sldId id="267" r:id="rId11"/>
    <p:sldId id="276" r:id="rId12"/>
    <p:sldId id="284" r:id="rId13"/>
    <p:sldId id="278" r:id="rId14"/>
    <p:sldId id="279" r:id="rId15"/>
    <p:sldId id="280" r:id="rId16"/>
    <p:sldId id="286" r:id="rId17"/>
    <p:sldId id="28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C4B1156A-380E-4F78-BDF5-A606A8083BF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3529" autoAdjust="0"/>
  </p:normalViewPr>
  <p:slideViewPr>
    <p:cSldViewPr snapToGrid="0">
      <p:cViewPr varScale="1">
        <p:scale>
          <a:sx n="96" d="100"/>
          <a:sy n="96" d="100"/>
        </p:scale>
        <p:origin x="86" y="139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69" d="100"/>
          <a:sy n="69" d="100"/>
        </p:scale>
        <p:origin x="2784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3D5444-F62C-42C3-A75A-D9DBA807730F}" type="datetimeFigureOut">
              <a:rPr lang="en-US" smtClean="0"/>
              <a:t>11/24/2022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A4F617-7A30-41D4-AB86-5D833C98E1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6248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CAA1FA-7B6A-47D2-8D61-F225D71B51FF}" type="datetimeFigureOut">
              <a:rPr lang="en-US" smtClean="0"/>
              <a:t>11/24/2022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9A179D-2D27-49E2-B022-8EDDA2EFE6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6034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i="1" dirty="0">
                <a:latin typeface="Arial" pitchFamily="34" charset="0"/>
                <a:cs typeface="Arial" pitchFamily="34" charset="0"/>
              </a:rPr>
              <a:t>To change the  image on this slide, select the picture and delete it. Then click the Pictures icon in the placeholder to insert your own image.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9A179D-2D27-49E2-B022-8EDDA2EFE68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4225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/>
          <p:cNvSpPr>
            <a:spLocks noChangeArrowheads="1"/>
          </p:cNvSpPr>
          <p:nvPr/>
        </p:nvSpPr>
        <p:spPr bwMode="white">
          <a:xfrm>
            <a:off x="8429022" y="0"/>
            <a:ext cx="3762978" cy="6858000"/>
          </a:xfrm>
          <a:custGeom>
            <a:avLst/>
            <a:gdLst>
              <a:gd name="connsiteX0" fmla="*/ 0 w 3762978"/>
              <a:gd name="connsiteY0" fmla="*/ 0 h 6858000"/>
              <a:gd name="connsiteX1" fmla="*/ 3762978 w 3762978"/>
              <a:gd name="connsiteY1" fmla="*/ 0 h 6858000"/>
              <a:gd name="connsiteX2" fmla="*/ 3762978 w 3762978"/>
              <a:gd name="connsiteY2" fmla="*/ 6858000 h 6858000"/>
              <a:gd name="connsiteX3" fmla="*/ 338667 w 3762978"/>
              <a:gd name="connsiteY3" fmla="*/ 6858000 h 6858000"/>
              <a:gd name="connsiteX4" fmla="*/ 1189567 w 3762978"/>
              <a:gd name="connsiteY4" fmla="*/ 433705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62978" h="6858000">
                <a:moveTo>
                  <a:pt x="0" y="0"/>
                </a:moveTo>
                <a:lnTo>
                  <a:pt x="3762978" y="0"/>
                </a:lnTo>
                <a:lnTo>
                  <a:pt x="3762978" y="6858000"/>
                </a:lnTo>
                <a:lnTo>
                  <a:pt x="338667" y="6858000"/>
                </a:lnTo>
                <a:lnTo>
                  <a:pt x="1189567" y="433705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sz="1800"/>
          </a:p>
        </p:txBody>
      </p:sp>
      <p:sp>
        <p:nvSpPr>
          <p:cNvPr id="7" name="Freeform 6"/>
          <p:cNvSpPr>
            <a:spLocks/>
          </p:cNvSpPr>
          <p:nvPr/>
        </p:nvSpPr>
        <p:spPr bwMode="auto">
          <a:xfrm>
            <a:off x="8145385" y="0"/>
            <a:ext cx="1672169" cy="6858000"/>
          </a:xfrm>
          <a:custGeom>
            <a:avLst/>
            <a:gdLst/>
            <a:ahLst/>
            <a:cxnLst/>
            <a:rect l="l" t="t" r="r" b="b"/>
            <a:pathLst>
              <a:path w="1254127" h="6858000">
                <a:moveTo>
                  <a:pt x="0" y="0"/>
                </a:moveTo>
                <a:lnTo>
                  <a:pt x="365127" y="0"/>
                </a:lnTo>
                <a:lnTo>
                  <a:pt x="1254127" y="4337050"/>
                </a:lnTo>
                <a:lnTo>
                  <a:pt x="619127" y="6858000"/>
                </a:lnTo>
                <a:lnTo>
                  <a:pt x="257175" y="6858000"/>
                </a:lnTo>
                <a:lnTo>
                  <a:pt x="892175" y="43370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sz="1800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7950653" y="0"/>
            <a:ext cx="1528232" cy="6858000"/>
          </a:xfrm>
          <a:custGeom>
            <a:avLst/>
            <a:gdLst/>
            <a:ahLst/>
            <a:cxnLst/>
            <a:rect l="l" t="t" r="r" b="b"/>
            <a:pathLst>
              <a:path w="1146174" h="6858000">
                <a:moveTo>
                  <a:pt x="0" y="0"/>
                </a:moveTo>
                <a:lnTo>
                  <a:pt x="253999" y="0"/>
                </a:lnTo>
                <a:lnTo>
                  <a:pt x="1146174" y="4337050"/>
                </a:lnTo>
                <a:lnTo>
                  <a:pt x="511174" y="6858000"/>
                </a:lnTo>
                <a:lnTo>
                  <a:pt x="254000" y="6858000"/>
                </a:lnTo>
                <a:lnTo>
                  <a:pt x="892175" y="4337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innerShdw blurRad="177800" dist="50800" dir="10800000">
              <a:prstClr val="black">
                <a:alpha val="50000"/>
              </a:prstClr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5400" y="1873584"/>
            <a:ext cx="6400800" cy="2560320"/>
          </a:xfrm>
        </p:spPr>
        <p:txBody>
          <a:bodyPr anchor="b">
            <a:normAutofit/>
          </a:bodyPr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0" y="4572000"/>
            <a:ext cx="6400800" cy="1600200"/>
          </a:xfrm>
        </p:spPr>
        <p:txBody>
          <a:bodyPr/>
          <a:lstStyle>
            <a:lvl1pPr marL="0" indent="0" algn="l">
              <a:spcBef>
                <a:spcPts val="1200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585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A3335-6331-4872-A8B7-ECD55539F4D0}" type="datetimeFigureOut">
              <a:rPr lang="en-US" smtClean="0"/>
              <a:t>11/24/2022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8E3F6-DE14-48B2-B2BC-6FABA9630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182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5"/>
          <p:cNvSpPr>
            <a:spLocks noChangeArrowheads="1"/>
          </p:cNvSpPr>
          <p:nvPr/>
        </p:nvSpPr>
        <p:spPr bwMode="white">
          <a:xfrm>
            <a:off x="6540503" y="0"/>
            <a:ext cx="5651496" cy="6858000"/>
          </a:xfrm>
          <a:custGeom>
            <a:avLst/>
            <a:gdLst/>
            <a:ahLst/>
            <a:cxnLst/>
            <a:rect l="l" t="t" r="r" b="b"/>
            <a:pathLst>
              <a:path w="4238622" h="6858000">
                <a:moveTo>
                  <a:pt x="0" y="0"/>
                </a:moveTo>
                <a:lnTo>
                  <a:pt x="4086222" y="0"/>
                </a:lnTo>
                <a:lnTo>
                  <a:pt x="4237035" y="0"/>
                </a:lnTo>
                <a:lnTo>
                  <a:pt x="4238622" y="0"/>
                </a:lnTo>
                <a:lnTo>
                  <a:pt x="4238622" y="6858000"/>
                </a:lnTo>
                <a:lnTo>
                  <a:pt x="4237035" y="6858000"/>
                </a:lnTo>
                <a:lnTo>
                  <a:pt x="4086222" y="6858000"/>
                </a:lnTo>
                <a:lnTo>
                  <a:pt x="254000" y="6858000"/>
                </a:lnTo>
                <a:lnTo>
                  <a:pt x="892175" y="433705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11" name="Freeform 6"/>
          <p:cNvSpPr>
            <a:spLocks/>
          </p:cNvSpPr>
          <p:nvPr/>
        </p:nvSpPr>
        <p:spPr bwMode="auto">
          <a:xfrm>
            <a:off x="6256868" y="0"/>
            <a:ext cx="1672169" cy="6858000"/>
          </a:xfrm>
          <a:custGeom>
            <a:avLst/>
            <a:gdLst/>
            <a:ahLst/>
            <a:cxnLst/>
            <a:rect l="l" t="t" r="r" b="b"/>
            <a:pathLst>
              <a:path w="1254127" h="6858000">
                <a:moveTo>
                  <a:pt x="0" y="0"/>
                </a:moveTo>
                <a:lnTo>
                  <a:pt x="365127" y="0"/>
                </a:lnTo>
                <a:lnTo>
                  <a:pt x="1254127" y="4337050"/>
                </a:lnTo>
                <a:lnTo>
                  <a:pt x="619127" y="6858000"/>
                </a:lnTo>
                <a:lnTo>
                  <a:pt x="257175" y="6858000"/>
                </a:lnTo>
                <a:lnTo>
                  <a:pt x="892175" y="43370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sz="1800"/>
          </a:p>
        </p:txBody>
      </p:sp>
      <p:sp>
        <p:nvSpPr>
          <p:cNvPr id="12" name="Freeform 7"/>
          <p:cNvSpPr>
            <a:spLocks/>
          </p:cNvSpPr>
          <p:nvPr/>
        </p:nvSpPr>
        <p:spPr bwMode="auto">
          <a:xfrm>
            <a:off x="6062136" y="0"/>
            <a:ext cx="1528232" cy="6858000"/>
          </a:xfrm>
          <a:custGeom>
            <a:avLst/>
            <a:gdLst/>
            <a:ahLst/>
            <a:cxnLst/>
            <a:rect l="l" t="t" r="r" b="b"/>
            <a:pathLst>
              <a:path w="1146174" h="6858000">
                <a:moveTo>
                  <a:pt x="0" y="0"/>
                </a:moveTo>
                <a:lnTo>
                  <a:pt x="253999" y="0"/>
                </a:lnTo>
                <a:lnTo>
                  <a:pt x="1146174" y="4337050"/>
                </a:lnTo>
                <a:lnTo>
                  <a:pt x="511174" y="6858000"/>
                </a:lnTo>
                <a:lnTo>
                  <a:pt x="254000" y="6858000"/>
                </a:lnTo>
                <a:lnTo>
                  <a:pt x="892175" y="4337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innerShdw blurRad="177800" dist="50800" dir="10800000">
              <a:prstClr val="black">
                <a:alpha val="50000"/>
              </a:prstClr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5401" y="1873584"/>
            <a:ext cx="5120640" cy="2560320"/>
          </a:xfrm>
        </p:spPr>
        <p:txBody>
          <a:bodyPr anchor="b">
            <a:normAutofit/>
          </a:bodyPr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5" name="Picture Placeholder 14" descr="An empty placeholder to add an image. Click on the placeholder and select the image that you wish to add"/>
          <p:cNvSpPr>
            <a:spLocks noGrp="1"/>
          </p:cNvSpPr>
          <p:nvPr>
            <p:ph type="pic" sz="quarter" idx="10"/>
          </p:nvPr>
        </p:nvSpPr>
        <p:spPr>
          <a:xfrm>
            <a:off x="6743703" y="0"/>
            <a:ext cx="5448297" cy="6858000"/>
          </a:xfrm>
          <a:custGeom>
            <a:avLst/>
            <a:gdLst>
              <a:gd name="connsiteX0" fmla="*/ 0 w 5448297"/>
              <a:gd name="connsiteY0" fmla="*/ 0 h 6858000"/>
              <a:gd name="connsiteX1" fmla="*/ 5448297 w 5448297"/>
              <a:gd name="connsiteY1" fmla="*/ 0 h 6858000"/>
              <a:gd name="connsiteX2" fmla="*/ 5448297 w 5448297"/>
              <a:gd name="connsiteY2" fmla="*/ 6858000 h 6858000"/>
              <a:gd name="connsiteX3" fmla="*/ 338667 w 5448297"/>
              <a:gd name="connsiteY3" fmla="*/ 6858000 h 6858000"/>
              <a:gd name="connsiteX4" fmla="*/ 1185333 w 5448297"/>
              <a:gd name="connsiteY4" fmla="*/ 433705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48297" h="6858000">
                <a:moveTo>
                  <a:pt x="0" y="0"/>
                </a:moveTo>
                <a:lnTo>
                  <a:pt x="5448297" y="0"/>
                </a:lnTo>
                <a:lnTo>
                  <a:pt x="5448297" y="6858000"/>
                </a:lnTo>
                <a:lnTo>
                  <a:pt x="338667" y="6858000"/>
                </a:lnTo>
                <a:lnTo>
                  <a:pt x="1185333" y="4337050"/>
                </a:lnTo>
                <a:close/>
              </a:path>
            </a:pathLst>
          </a:custGeom>
          <a:noFill/>
          <a:ln>
            <a:noFill/>
          </a:ln>
        </p:spPr>
        <p:txBody>
          <a:bodyPr wrap="square" tIns="365760">
            <a:noAutofit/>
          </a:bodyPr>
          <a:lstStyle>
            <a:lvl1pPr marL="0" indent="0" algn="ctr">
              <a:buNone/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1" y="4572000"/>
            <a:ext cx="5120640" cy="1600200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813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ChangeArrowheads="1"/>
          </p:cNvSpPr>
          <p:nvPr/>
        </p:nvSpPr>
        <p:spPr bwMode="white">
          <a:xfrm>
            <a:off x="9622368" y="0"/>
            <a:ext cx="2569632" cy="6858000"/>
          </a:xfrm>
          <a:custGeom>
            <a:avLst/>
            <a:gdLst/>
            <a:ahLst/>
            <a:cxnLst/>
            <a:rect l="l" t="t" r="r" b="b"/>
            <a:pathLst>
              <a:path w="1927224" h="6858000">
                <a:moveTo>
                  <a:pt x="0" y="0"/>
                </a:moveTo>
                <a:lnTo>
                  <a:pt x="1927224" y="0"/>
                </a:lnTo>
                <a:lnTo>
                  <a:pt x="1927224" y="6858000"/>
                </a:lnTo>
                <a:lnTo>
                  <a:pt x="254000" y="6858000"/>
                </a:lnTo>
                <a:lnTo>
                  <a:pt x="892175" y="433705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8" name="Freeform 6"/>
          <p:cNvSpPr>
            <a:spLocks/>
          </p:cNvSpPr>
          <p:nvPr/>
        </p:nvSpPr>
        <p:spPr bwMode="auto">
          <a:xfrm>
            <a:off x="9237132" y="0"/>
            <a:ext cx="1672169" cy="6858000"/>
          </a:xfrm>
          <a:custGeom>
            <a:avLst/>
            <a:gdLst/>
            <a:ahLst/>
            <a:cxnLst/>
            <a:rect l="l" t="t" r="r" b="b"/>
            <a:pathLst>
              <a:path w="1254127" h="6858000">
                <a:moveTo>
                  <a:pt x="0" y="0"/>
                </a:moveTo>
                <a:lnTo>
                  <a:pt x="365127" y="0"/>
                </a:lnTo>
                <a:lnTo>
                  <a:pt x="1254127" y="4337050"/>
                </a:lnTo>
                <a:lnTo>
                  <a:pt x="619127" y="6858000"/>
                </a:lnTo>
                <a:lnTo>
                  <a:pt x="257175" y="6858000"/>
                </a:lnTo>
                <a:lnTo>
                  <a:pt x="892175" y="43370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101600" dist="50800" algn="l" rotWithShape="0">
              <a:prstClr val="black">
                <a:alpha val="25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sz="1800"/>
          </a:p>
        </p:txBody>
      </p:sp>
      <p:sp>
        <p:nvSpPr>
          <p:cNvPr id="9" name="Freeform 7"/>
          <p:cNvSpPr>
            <a:spLocks/>
          </p:cNvSpPr>
          <p:nvPr/>
        </p:nvSpPr>
        <p:spPr bwMode="auto">
          <a:xfrm>
            <a:off x="9173633" y="0"/>
            <a:ext cx="1460499" cy="6858000"/>
          </a:xfrm>
          <a:custGeom>
            <a:avLst/>
            <a:gdLst/>
            <a:ahLst/>
            <a:cxnLst/>
            <a:rect l="l" t="t" r="r" b="b"/>
            <a:pathLst>
              <a:path w="1095374" h="6858000">
                <a:moveTo>
                  <a:pt x="0" y="0"/>
                </a:moveTo>
                <a:lnTo>
                  <a:pt x="203199" y="0"/>
                </a:lnTo>
                <a:lnTo>
                  <a:pt x="1095374" y="4337050"/>
                </a:lnTo>
                <a:lnTo>
                  <a:pt x="460374" y="6858000"/>
                </a:lnTo>
                <a:lnTo>
                  <a:pt x="257175" y="6858000"/>
                </a:lnTo>
                <a:lnTo>
                  <a:pt x="892175" y="4337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101600" dist="50800" algn="l" rotWithShape="0">
              <a:prstClr val="black">
                <a:alpha val="25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sz="1800"/>
          </a:p>
        </p:txBody>
      </p:sp>
      <p:sp>
        <p:nvSpPr>
          <p:cNvPr id="10" name="Freeform 7"/>
          <p:cNvSpPr>
            <a:spLocks/>
          </p:cNvSpPr>
          <p:nvPr/>
        </p:nvSpPr>
        <p:spPr bwMode="auto">
          <a:xfrm>
            <a:off x="9173633" y="0"/>
            <a:ext cx="1460499" cy="6858000"/>
          </a:xfrm>
          <a:custGeom>
            <a:avLst/>
            <a:gdLst/>
            <a:ahLst/>
            <a:cxnLst/>
            <a:rect l="l" t="t" r="r" b="b"/>
            <a:pathLst>
              <a:path w="1095374" h="6858000">
                <a:moveTo>
                  <a:pt x="0" y="0"/>
                </a:moveTo>
                <a:lnTo>
                  <a:pt x="203199" y="0"/>
                </a:lnTo>
                <a:lnTo>
                  <a:pt x="1095374" y="4337050"/>
                </a:lnTo>
                <a:lnTo>
                  <a:pt x="460374" y="6858000"/>
                </a:lnTo>
                <a:lnTo>
                  <a:pt x="257175" y="6858000"/>
                </a:lnTo>
                <a:lnTo>
                  <a:pt x="892175" y="4337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8" y="2914650"/>
            <a:ext cx="8046720" cy="1557338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398" y="4589463"/>
            <a:ext cx="8046718" cy="1011237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19642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828799"/>
            <a:ext cx="4572000" cy="434340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A3335-6331-4872-A8B7-ECD55539F4D0}" type="datetimeFigureOut">
              <a:rPr lang="en-US" smtClean="0"/>
              <a:t>11/24/2022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8E3F6-DE14-48B2-B2BC-6FABA9630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206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255134"/>
            <a:ext cx="9601200" cy="10368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828800"/>
            <a:ext cx="4572000" cy="850392"/>
          </a:xfrm>
        </p:spPr>
        <p:txBody>
          <a:bodyPr anchor="ctr">
            <a:normAutofit/>
          </a:bodyPr>
          <a:lstStyle>
            <a:lvl1pPr marL="0" indent="0">
              <a:buNone/>
              <a:defRPr sz="2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2705100"/>
            <a:ext cx="4572000" cy="34671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4600" y="1828800"/>
            <a:ext cx="4572000" cy="847725"/>
          </a:xfrm>
        </p:spPr>
        <p:txBody>
          <a:bodyPr anchor="ctr">
            <a:normAutofit/>
          </a:bodyPr>
          <a:lstStyle>
            <a:lvl1pPr marL="0" indent="0">
              <a:buNone/>
              <a:defRPr sz="2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4600" y="2705100"/>
            <a:ext cx="4572000" cy="34671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A3335-6331-4872-A8B7-ECD55539F4D0}" type="datetimeFigureOut">
              <a:rPr lang="en-US" smtClean="0"/>
              <a:t>11/24/2022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8E3F6-DE14-48B2-B2BC-6FABA9630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360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A3335-6331-4872-A8B7-ECD55539F4D0}" type="datetimeFigureOut">
              <a:rPr lang="en-US" smtClean="0"/>
              <a:t>11/24/2022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8E3F6-DE14-48B2-B2BC-6FABA9630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337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A3335-6331-4872-A8B7-ECD55539F4D0}" type="datetimeFigureOut">
              <a:rPr lang="en-US" smtClean="0"/>
              <a:t>11/24/2022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8E3F6-DE14-48B2-B2BC-6FABA9630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636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28209" y="1828800"/>
            <a:ext cx="6126480" cy="4343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0" y="1828800"/>
            <a:ext cx="3017520" cy="4343400"/>
          </a:xfrm>
        </p:spPr>
        <p:txBody>
          <a:bodyPr anchor="ctr">
            <a:normAutofit/>
          </a:bodyPr>
          <a:lstStyle>
            <a:lvl1pPr marL="0" indent="0">
              <a:spcBef>
                <a:spcPts val="1200"/>
              </a:spcBef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A3335-6331-4872-A8B7-ECD55539F4D0}" type="datetimeFigureOut">
              <a:rPr lang="en-US" smtClean="0"/>
              <a:t>11/24/2022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8E3F6-DE14-48B2-B2BC-6FABA9630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63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255134"/>
            <a:ext cx="9601200" cy="10368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4724400" y="1828801"/>
            <a:ext cx="6172200" cy="4343400"/>
          </a:xfrm>
        </p:spPr>
        <p:txBody>
          <a:bodyPr tIns="27432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0" y="1828800"/>
            <a:ext cx="3017520" cy="4343400"/>
          </a:xfrm>
        </p:spPr>
        <p:txBody>
          <a:bodyPr anchor="ctr">
            <a:normAutofit/>
          </a:bodyPr>
          <a:lstStyle>
            <a:lvl1pPr marL="0" indent="0">
              <a:spcBef>
                <a:spcPts val="1200"/>
              </a:spcBef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A3335-6331-4872-A8B7-ECD55539F4D0}" type="datetimeFigureOut">
              <a:rPr lang="en-US" smtClean="0"/>
              <a:t>11/24/2022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8E3F6-DE14-48B2-B2BC-6FABA9630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59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Two Picture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invGray">
          <a:xfrm>
            <a:off x="1295400" y="5257800"/>
            <a:ext cx="4572000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6324599" y="5257800"/>
            <a:ext cx="4572000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295400" y="5257800"/>
            <a:ext cx="4572000" cy="548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Rectangle 11"/>
          <p:cNvSpPr/>
          <p:nvPr/>
        </p:nvSpPr>
        <p:spPr>
          <a:xfrm>
            <a:off x="6324599" y="5257800"/>
            <a:ext cx="4572000" cy="548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255134"/>
            <a:ext cx="9601200" cy="10368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1298448" y="1828801"/>
            <a:ext cx="4572000" cy="3428999"/>
          </a:xfrm>
        </p:spPr>
        <p:txBody>
          <a:bodyPr tIns="27432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invGray">
          <a:xfrm>
            <a:off x="1371273" y="5333098"/>
            <a:ext cx="4420252" cy="839102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3"/>
          </p:nvPr>
        </p:nvSpPr>
        <p:spPr>
          <a:xfrm>
            <a:off x="6324600" y="1828801"/>
            <a:ext cx="4572000" cy="3428999"/>
          </a:xfrm>
        </p:spPr>
        <p:txBody>
          <a:bodyPr tIns="27432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14"/>
          </p:nvPr>
        </p:nvSpPr>
        <p:spPr bwMode="invGray">
          <a:xfrm>
            <a:off x="6412954" y="5333098"/>
            <a:ext cx="4420252" cy="839102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A3335-6331-4872-A8B7-ECD55539F4D0}" type="datetimeFigureOut">
              <a:rPr lang="en-US" smtClean="0"/>
              <a:t>11/24/2022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8E3F6-DE14-48B2-B2BC-6FABA9630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010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A3335-6331-4872-A8B7-ECD55539F4D0}" type="datetimeFigureOut">
              <a:rPr lang="en-US" smtClean="0"/>
              <a:t>11/24/2022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8E3F6-DE14-48B2-B2BC-6FABA9630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945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 rot="5400000">
            <a:off x="7562850" y="2228850"/>
            <a:ext cx="6858000" cy="24003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 rot="5400000">
            <a:off x="6331230" y="3387909"/>
            <a:ext cx="6858000" cy="8218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 rot="5400000">
            <a:off x="6251613" y="3387909"/>
            <a:ext cx="6858000" cy="8218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71318" y="685800"/>
            <a:ext cx="1033272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400" y="685800"/>
            <a:ext cx="7976754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A3335-6331-4872-A8B7-ECD55539F4D0}" type="datetimeFigureOut">
              <a:rPr lang="en-US" smtClean="0"/>
              <a:t>11/24/2022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7F8E3F6-DE14-48B2-B2BC-6FABA9630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4110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white">
          <a:xfrm>
            <a:off x="0" y="0"/>
            <a:ext cx="12192000" cy="1371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1371600"/>
            <a:ext cx="12192000" cy="8218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1443006"/>
            <a:ext cx="12192000" cy="8218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0" y="255134"/>
            <a:ext cx="9601200" cy="10368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828800"/>
            <a:ext cx="9601200" cy="434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399" y="6374999"/>
            <a:ext cx="624320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91449" y="6374999"/>
            <a:ext cx="1480705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A79A3335-6331-4872-A8B7-ECD55539F4D0}" type="datetimeFigureOut">
              <a:rPr lang="en-US" smtClean="0"/>
              <a:pPr/>
              <a:t>11/24/2022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525000" y="6374999"/>
            <a:ext cx="1371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A7F8E3F6-DE14-48B2-B2BC-6FABA9630FB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73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61" r:id="rId11"/>
    <p:sldLayoutId id="2147483658" r:id="rId12"/>
    <p:sldLayoutId id="2147483659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defTabSz="91440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defTabSz="91440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554480" indent="-228600" algn="l" defTabSz="91440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783080" indent="-228600" algn="l" defTabSz="91440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228600" algn="l" defTabSz="91440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40280" indent="-228600" algn="l" defTabSz="91440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7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Uses of </a:t>
            </a:r>
            <a:r>
              <a:rPr lang="en-US" dirty="0" err="1" smtClean="0"/>
              <a:t>Blockchain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1800" dirty="0" smtClean="0"/>
              <a:t>Functional Programming</a:t>
            </a:r>
          </a:p>
          <a:p>
            <a:r>
              <a:rPr lang="en-US" sz="1800" dirty="0" smtClean="0"/>
              <a:t>Data Analysis on </a:t>
            </a:r>
            <a:r>
              <a:rPr lang="en-US" sz="1800" dirty="0" err="1" smtClean="0"/>
              <a:t>Blockchain</a:t>
            </a:r>
            <a:r>
              <a:rPr lang="en-US" sz="1800" dirty="0" smtClean="0"/>
              <a:t> technology &amp; </a:t>
            </a:r>
            <a:r>
              <a:rPr lang="en-US" sz="1800" dirty="0" err="1" smtClean="0"/>
              <a:t>Bitcoin</a:t>
            </a:r>
            <a:r>
              <a:rPr lang="en-US" sz="1800" dirty="0" smtClean="0"/>
              <a:t>.</a:t>
            </a:r>
          </a:p>
          <a:p>
            <a:endParaRPr lang="en-US" sz="1800" dirty="0"/>
          </a:p>
          <a:p>
            <a:endParaRPr lang="en-US" sz="1800" dirty="0" smtClean="0"/>
          </a:p>
          <a:p>
            <a:endParaRPr lang="en-US" sz="1800" dirty="0"/>
          </a:p>
          <a:p>
            <a:endParaRPr lang="en-US" sz="1800" dirty="0" smtClean="0"/>
          </a:p>
          <a:p>
            <a:endParaRPr lang="en-US" sz="1800" dirty="0"/>
          </a:p>
          <a:p>
            <a:endParaRPr lang="en-US" sz="1800" dirty="0" smtClean="0"/>
          </a:p>
          <a:p>
            <a:endParaRPr lang="en-US" sz="1800" dirty="0" smtClean="0"/>
          </a:p>
          <a:p>
            <a:endParaRPr lang="en-US" sz="1800" dirty="0"/>
          </a:p>
        </p:txBody>
      </p:sp>
      <p:pic>
        <p:nvPicPr>
          <p:cNvPr id="8" name="Picture Placeholder 7"/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60" r="23560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380595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223329"/>
            <a:ext cx="9601200" cy="1036850"/>
          </a:xfrm>
        </p:spPr>
        <p:txBody>
          <a:bodyPr/>
          <a:lstStyle/>
          <a:p>
            <a:r>
              <a:rPr lang="en-US" dirty="0" smtClean="0"/>
              <a:t>What is Data Analysis?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7347" y="1717482"/>
            <a:ext cx="9601200" cy="4343400"/>
          </a:xfrm>
        </p:spPr>
        <p:txBody>
          <a:bodyPr/>
          <a:lstStyle/>
          <a:p>
            <a:r>
              <a:rPr lang="en-US" dirty="0"/>
              <a:t>Data analysis is a process of inspecting, </a:t>
            </a:r>
            <a:r>
              <a:rPr lang="en-US" dirty="0" smtClean="0"/>
              <a:t>filtering, </a:t>
            </a:r>
            <a:r>
              <a:rPr lang="en-US" dirty="0"/>
              <a:t>transforming, and modeling data with the goal of discovering useful information, informing conclusions, and supporting decision-making</a:t>
            </a:r>
            <a:r>
              <a:rPr lang="en-US" dirty="0" smtClean="0"/>
              <a:t>.</a:t>
            </a:r>
          </a:p>
          <a:p>
            <a:r>
              <a:rPr lang="en-US" dirty="0" smtClean="0"/>
              <a:t>Data Analysis contributes to more scientific decision-making and more efficient business operation in the modern business world.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9872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Process in Data Analysis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3553" y="1733385"/>
            <a:ext cx="8346552" cy="4627658"/>
          </a:xfrm>
        </p:spPr>
      </p:pic>
    </p:spTree>
    <p:extLst>
      <p:ext uri="{BB962C8B-B14F-4D97-AF65-F5344CB8AC3E}">
        <p14:creationId xmlns:p14="http://schemas.microsoft.com/office/powerpoint/2010/main" val="3574231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Tools for Data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1431235"/>
            <a:ext cx="7491194" cy="4343400"/>
          </a:xfrm>
        </p:spPr>
        <p:txBody>
          <a:bodyPr>
            <a:normAutofit/>
          </a:bodyPr>
          <a:lstStyle/>
          <a:p>
            <a:pPr marL="12700" marR="5080">
              <a:lnSpc>
                <a:spcPts val="5480"/>
              </a:lnSpc>
              <a:spcBef>
                <a:spcPts val="240"/>
              </a:spcBef>
            </a:pPr>
            <a:r>
              <a:rPr lang="en-US" sz="1800" spc="-10" dirty="0">
                <a:latin typeface="Times New Roman"/>
                <a:cs typeface="Times New Roman"/>
              </a:rPr>
              <a:t>Fortunately,</a:t>
            </a:r>
            <a:r>
              <a:rPr lang="en-US" sz="1800" dirty="0">
                <a:latin typeface="Times New Roman"/>
                <a:cs typeface="Times New Roman"/>
              </a:rPr>
              <a:t> </a:t>
            </a:r>
            <a:r>
              <a:rPr lang="en-US" sz="1800" spc="-10" dirty="0">
                <a:latin typeface="Times New Roman"/>
                <a:cs typeface="Times New Roman"/>
              </a:rPr>
              <a:t>various</a:t>
            </a:r>
            <a:r>
              <a:rPr lang="en-US" sz="1800" spc="5" dirty="0">
                <a:latin typeface="Times New Roman"/>
                <a:cs typeface="Times New Roman"/>
              </a:rPr>
              <a:t> </a:t>
            </a:r>
            <a:r>
              <a:rPr lang="en-US" sz="1800" spc="-10" dirty="0">
                <a:latin typeface="Times New Roman"/>
                <a:cs typeface="Times New Roman"/>
              </a:rPr>
              <a:t>tools</a:t>
            </a:r>
            <a:r>
              <a:rPr lang="en-US" sz="1800" spc="5" dirty="0">
                <a:latin typeface="Times New Roman"/>
                <a:cs typeface="Times New Roman"/>
              </a:rPr>
              <a:t> </a:t>
            </a:r>
            <a:r>
              <a:rPr lang="en-US" sz="1800" spc="-10" dirty="0">
                <a:latin typeface="Times New Roman"/>
                <a:cs typeface="Times New Roman"/>
              </a:rPr>
              <a:t>are</a:t>
            </a:r>
            <a:r>
              <a:rPr lang="en-US" sz="1800" spc="5" dirty="0">
                <a:latin typeface="Times New Roman"/>
                <a:cs typeface="Times New Roman"/>
              </a:rPr>
              <a:t> </a:t>
            </a:r>
            <a:r>
              <a:rPr lang="en-US" sz="1800" spc="-10" dirty="0">
                <a:latin typeface="Times New Roman"/>
                <a:cs typeface="Times New Roman"/>
              </a:rPr>
              <a:t>readily</a:t>
            </a:r>
            <a:r>
              <a:rPr lang="en-US" sz="1800" spc="5" dirty="0">
                <a:latin typeface="Times New Roman"/>
                <a:cs typeface="Times New Roman"/>
              </a:rPr>
              <a:t> </a:t>
            </a:r>
            <a:r>
              <a:rPr lang="en-US" sz="1800" spc="-10" dirty="0">
                <a:latin typeface="Times New Roman"/>
                <a:cs typeface="Times New Roman"/>
              </a:rPr>
              <a:t>available</a:t>
            </a:r>
            <a:r>
              <a:rPr lang="en-US" sz="1800" spc="5" dirty="0">
                <a:latin typeface="Times New Roman"/>
                <a:cs typeface="Times New Roman"/>
              </a:rPr>
              <a:t> </a:t>
            </a:r>
            <a:r>
              <a:rPr lang="en-US" sz="1800" spc="-5" dirty="0">
                <a:latin typeface="Times New Roman"/>
                <a:cs typeface="Times New Roman"/>
              </a:rPr>
              <a:t>to</a:t>
            </a:r>
            <a:r>
              <a:rPr lang="en-US" sz="1800" spc="5" dirty="0">
                <a:latin typeface="Times New Roman"/>
                <a:cs typeface="Times New Roman"/>
              </a:rPr>
              <a:t> </a:t>
            </a:r>
            <a:r>
              <a:rPr lang="en-US" sz="1800" spc="-10" dirty="0">
                <a:latin typeface="Times New Roman"/>
                <a:cs typeface="Times New Roman"/>
              </a:rPr>
              <a:t>speed</a:t>
            </a:r>
            <a:r>
              <a:rPr lang="en-US" sz="1800" spc="5" dirty="0">
                <a:latin typeface="Times New Roman"/>
                <a:cs typeface="Times New Roman"/>
              </a:rPr>
              <a:t> </a:t>
            </a:r>
            <a:r>
              <a:rPr lang="en-US" sz="1800" spc="-10" dirty="0">
                <a:latin typeface="Times New Roman"/>
                <a:cs typeface="Times New Roman"/>
              </a:rPr>
              <a:t>up</a:t>
            </a:r>
            <a:r>
              <a:rPr lang="en-US" sz="1800" spc="5" dirty="0">
                <a:latin typeface="Times New Roman"/>
                <a:cs typeface="Times New Roman"/>
              </a:rPr>
              <a:t> </a:t>
            </a:r>
            <a:r>
              <a:rPr lang="en-US" sz="1800" spc="-10" dirty="0">
                <a:latin typeface="Times New Roman"/>
                <a:cs typeface="Times New Roman"/>
              </a:rPr>
              <a:t>the</a:t>
            </a:r>
            <a:r>
              <a:rPr lang="en-US" sz="1800" dirty="0">
                <a:latin typeface="Times New Roman"/>
                <a:cs typeface="Times New Roman"/>
              </a:rPr>
              <a:t> </a:t>
            </a:r>
            <a:r>
              <a:rPr lang="en-US" sz="1800" spc="-10" dirty="0">
                <a:latin typeface="Times New Roman"/>
                <a:cs typeface="Times New Roman"/>
              </a:rPr>
              <a:t>procedure. </a:t>
            </a:r>
            <a:r>
              <a:rPr lang="en-US" sz="1800" spc="-5" dirty="0">
                <a:latin typeface="Times New Roman"/>
                <a:cs typeface="Times New Roman"/>
              </a:rPr>
              <a:t> </a:t>
            </a:r>
            <a:r>
              <a:rPr lang="en-US" sz="1800" spc="-10" dirty="0">
                <a:latin typeface="Times New Roman"/>
                <a:cs typeface="Times New Roman"/>
              </a:rPr>
              <a:t>Open-source</a:t>
            </a:r>
            <a:r>
              <a:rPr lang="en-US" sz="1800" spc="5" dirty="0">
                <a:latin typeface="Times New Roman"/>
                <a:cs typeface="Times New Roman"/>
              </a:rPr>
              <a:t> </a:t>
            </a:r>
            <a:r>
              <a:rPr lang="en-US" sz="1800" spc="-10" dirty="0">
                <a:latin typeface="Times New Roman"/>
                <a:cs typeface="Times New Roman"/>
              </a:rPr>
              <a:t>tools,</a:t>
            </a:r>
            <a:r>
              <a:rPr lang="en-US" sz="1800" spc="5" dirty="0">
                <a:latin typeface="Times New Roman"/>
                <a:cs typeface="Times New Roman"/>
              </a:rPr>
              <a:t> </a:t>
            </a:r>
            <a:r>
              <a:rPr lang="en-US" sz="1800" spc="-10" dirty="0">
                <a:latin typeface="Times New Roman"/>
                <a:cs typeface="Times New Roman"/>
              </a:rPr>
              <a:t>like</a:t>
            </a:r>
            <a:r>
              <a:rPr lang="en-US" sz="1800" spc="5" dirty="0">
                <a:latin typeface="Times New Roman"/>
                <a:cs typeface="Times New Roman"/>
              </a:rPr>
              <a:t> </a:t>
            </a:r>
            <a:r>
              <a:rPr lang="en-US" sz="1800" b="1" spc="-10" dirty="0">
                <a:latin typeface="Times New Roman"/>
                <a:cs typeface="Times New Roman"/>
              </a:rPr>
              <a:t>Open</a:t>
            </a:r>
            <a:r>
              <a:rPr lang="en-US" sz="1800" b="1" spc="5" dirty="0">
                <a:latin typeface="Times New Roman"/>
                <a:cs typeface="Times New Roman"/>
              </a:rPr>
              <a:t> </a:t>
            </a:r>
            <a:r>
              <a:rPr lang="en-US" sz="1800" b="1" spc="-10" dirty="0">
                <a:latin typeface="Times New Roman"/>
                <a:cs typeface="Times New Roman"/>
              </a:rPr>
              <a:t>Refine</a:t>
            </a:r>
            <a:r>
              <a:rPr lang="en-US" sz="1800" spc="-10" dirty="0">
                <a:latin typeface="Times New Roman"/>
                <a:cs typeface="Times New Roman"/>
              </a:rPr>
              <a:t>,</a:t>
            </a:r>
            <a:r>
              <a:rPr lang="en-US" sz="1800" spc="5" dirty="0">
                <a:latin typeface="Times New Roman"/>
                <a:cs typeface="Times New Roman"/>
              </a:rPr>
              <a:t> </a:t>
            </a:r>
            <a:r>
              <a:rPr lang="en-US" sz="1800" spc="-10" dirty="0">
                <a:latin typeface="Times New Roman"/>
                <a:cs typeface="Times New Roman"/>
              </a:rPr>
              <a:t>are</a:t>
            </a:r>
            <a:r>
              <a:rPr lang="en-US" sz="1800" spc="5" dirty="0">
                <a:latin typeface="Times New Roman"/>
                <a:cs typeface="Times New Roman"/>
              </a:rPr>
              <a:t> </a:t>
            </a:r>
            <a:r>
              <a:rPr lang="en-US" sz="1800" spc="-10" dirty="0">
                <a:latin typeface="Times New Roman"/>
                <a:cs typeface="Times New Roman"/>
              </a:rPr>
              <a:t>great</a:t>
            </a:r>
            <a:r>
              <a:rPr lang="en-US" sz="1800" spc="5" dirty="0">
                <a:latin typeface="Times New Roman"/>
                <a:cs typeface="Times New Roman"/>
              </a:rPr>
              <a:t> </a:t>
            </a:r>
            <a:r>
              <a:rPr lang="en-US" sz="1800" spc="-10" dirty="0">
                <a:latin typeface="Times New Roman"/>
                <a:cs typeface="Times New Roman"/>
              </a:rPr>
              <a:t>for</a:t>
            </a:r>
            <a:r>
              <a:rPr lang="en-US" sz="1800" spc="10" dirty="0">
                <a:latin typeface="Times New Roman"/>
                <a:cs typeface="Times New Roman"/>
              </a:rPr>
              <a:t> </a:t>
            </a:r>
            <a:r>
              <a:rPr lang="en-US" sz="1800" spc="-10" dirty="0">
                <a:latin typeface="Times New Roman"/>
                <a:cs typeface="Times New Roman"/>
              </a:rPr>
              <a:t>both</a:t>
            </a:r>
            <a:r>
              <a:rPr lang="en-US" sz="1800" spc="5" dirty="0">
                <a:latin typeface="Times New Roman"/>
                <a:cs typeface="Times New Roman"/>
              </a:rPr>
              <a:t> </a:t>
            </a:r>
            <a:r>
              <a:rPr lang="en-US" sz="1800" spc="-10" dirty="0">
                <a:latin typeface="Times New Roman"/>
                <a:cs typeface="Times New Roman"/>
              </a:rPr>
              <a:t>high-level</a:t>
            </a:r>
            <a:r>
              <a:rPr lang="en-US" sz="1800" spc="5" dirty="0">
                <a:latin typeface="Times New Roman"/>
                <a:cs typeface="Times New Roman"/>
              </a:rPr>
              <a:t> </a:t>
            </a:r>
            <a:r>
              <a:rPr lang="en-US" sz="1800" spc="-10" dirty="0">
                <a:latin typeface="Times New Roman"/>
                <a:cs typeface="Times New Roman"/>
              </a:rPr>
              <a:t>inquiry </a:t>
            </a:r>
            <a:r>
              <a:rPr lang="en-US" sz="1800" spc="-1050" dirty="0">
                <a:latin typeface="Times New Roman"/>
                <a:cs typeface="Times New Roman"/>
              </a:rPr>
              <a:t> </a:t>
            </a:r>
            <a:r>
              <a:rPr lang="en-US" sz="1800" spc="-10" dirty="0">
                <a:latin typeface="Times New Roman"/>
                <a:cs typeface="Times New Roman"/>
              </a:rPr>
              <a:t>and fundamental</a:t>
            </a:r>
            <a:r>
              <a:rPr lang="en-US" sz="1800" spc="-5" dirty="0">
                <a:latin typeface="Times New Roman"/>
                <a:cs typeface="Times New Roman"/>
              </a:rPr>
              <a:t> </a:t>
            </a:r>
            <a:r>
              <a:rPr lang="en-US" sz="1800" spc="-10" dirty="0">
                <a:latin typeface="Times New Roman"/>
                <a:cs typeface="Times New Roman"/>
              </a:rPr>
              <a:t>data</a:t>
            </a:r>
            <a:r>
              <a:rPr lang="en-US" sz="1800" spc="-5" dirty="0">
                <a:latin typeface="Times New Roman"/>
                <a:cs typeface="Times New Roman"/>
              </a:rPr>
              <a:t> </a:t>
            </a:r>
            <a:r>
              <a:rPr lang="en-US" sz="1800" spc="-10" dirty="0">
                <a:latin typeface="Times New Roman"/>
                <a:cs typeface="Times New Roman"/>
              </a:rPr>
              <a:t>clean</a:t>
            </a:r>
            <a:r>
              <a:rPr lang="en-US" sz="1800" spc="-5" dirty="0">
                <a:latin typeface="Times New Roman"/>
                <a:cs typeface="Times New Roman"/>
              </a:rPr>
              <a:t> </a:t>
            </a:r>
            <a:r>
              <a:rPr lang="en-US" sz="1800" spc="-10" dirty="0">
                <a:latin typeface="Times New Roman"/>
                <a:cs typeface="Times New Roman"/>
              </a:rPr>
              <a:t>up.</a:t>
            </a:r>
            <a:endParaRPr lang="en-US" sz="1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sz="1800" b="1" spc="-10" dirty="0">
                <a:latin typeface="Times New Roman"/>
                <a:cs typeface="Times New Roman"/>
              </a:rPr>
              <a:t>Python</a:t>
            </a:r>
            <a:r>
              <a:rPr lang="en-US" sz="1800" b="1" dirty="0">
                <a:latin typeface="Times New Roman"/>
                <a:cs typeface="Times New Roman"/>
              </a:rPr>
              <a:t> </a:t>
            </a:r>
            <a:r>
              <a:rPr lang="en-US" sz="1800" b="1" spc="-10" dirty="0">
                <a:latin typeface="Times New Roman"/>
                <a:cs typeface="Times New Roman"/>
              </a:rPr>
              <a:t>libraries</a:t>
            </a:r>
            <a:r>
              <a:rPr lang="en-US" sz="1800" b="1" spc="5" dirty="0">
                <a:latin typeface="Times New Roman"/>
                <a:cs typeface="Times New Roman"/>
              </a:rPr>
              <a:t> </a:t>
            </a:r>
            <a:r>
              <a:rPr lang="en-US" sz="1800" b="1" spc="-10" dirty="0">
                <a:latin typeface="Times New Roman"/>
                <a:cs typeface="Times New Roman"/>
              </a:rPr>
              <a:t>(like</a:t>
            </a:r>
            <a:r>
              <a:rPr lang="en-US" sz="1800" b="1" dirty="0">
                <a:latin typeface="Times New Roman"/>
                <a:cs typeface="Times New Roman"/>
              </a:rPr>
              <a:t> </a:t>
            </a:r>
            <a:r>
              <a:rPr lang="en-US" sz="1800" b="1" spc="-10" dirty="0">
                <a:latin typeface="Times New Roman"/>
                <a:cs typeface="Times New Roman"/>
              </a:rPr>
              <a:t>Pandas)</a:t>
            </a:r>
            <a:r>
              <a:rPr lang="en-US" sz="1800" b="1" spc="5" dirty="0">
                <a:latin typeface="Times New Roman"/>
                <a:cs typeface="Times New Roman"/>
              </a:rPr>
              <a:t> </a:t>
            </a:r>
            <a:r>
              <a:rPr lang="en-US" sz="1800" spc="-10" dirty="0">
                <a:latin typeface="Times New Roman"/>
                <a:cs typeface="Times New Roman"/>
              </a:rPr>
              <a:t>and</a:t>
            </a:r>
            <a:r>
              <a:rPr lang="en-US" sz="1800" dirty="0">
                <a:latin typeface="Times New Roman"/>
                <a:cs typeface="Times New Roman"/>
              </a:rPr>
              <a:t> </a:t>
            </a:r>
            <a:r>
              <a:rPr lang="en-US" sz="1800" spc="-10" dirty="0">
                <a:latin typeface="Times New Roman"/>
                <a:cs typeface="Times New Roman"/>
              </a:rPr>
              <a:t>some</a:t>
            </a:r>
            <a:r>
              <a:rPr lang="en-US" sz="1800" spc="5" dirty="0">
                <a:latin typeface="Times New Roman"/>
                <a:cs typeface="Times New Roman"/>
              </a:rPr>
              <a:t> </a:t>
            </a:r>
            <a:r>
              <a:rPr lang="en-US" sz="1800" b="1" spc="-10" dirty="0">
                <a:latin typeface="Times New Roman"/>
                <a:cs typeface="Times New Roman"/>
              </a:rPr>
              <a:t>R</a:t>
            </a:r>
            <a:r>
              <a:rPr lang="en-US" sz="1800" b="1" dirty="0">
                <a:latin typeface="Times New Roman"/>
                <a:cs typeface="Times New Roman"/>
              </a:rPr>
              <a:t> </a:t>
            </a:r>
            <a:r>
              <a:rPr lang="en-US" sz="1800" b="1" spc="-10" dirty="0">
                <a:latin typeface="Times New Roman"/>
                <a:cs typeface="Times New Roman"/>
              </a:rPr>
              <a:t>tools</a:t>
            </a:r>
            <a:r>
              <a:rPr lang="en-US" sz="1800" b="1" spc="5" dirty="0">
                <a:latin typeface="Times New Roman"/>
                <a:cs typeface="Times New Roman"/>
              </a:rPr>
              <a:t> </a:t>
            </a:r>
            <a:r>
              <a:rPr lang="en-US" sz="1800" spc="-10" dirty="0">
                <a:latin typeface="Times New Roman"/>
                <a:cs typeface="Times New Roman"/>
              </a:rPr>
              <a:t>work</a:t>
            </a:r>
            <a:r>
              <a:rPr lang="en-US" sz="1800" dirty="0">
                <a:latin typeface="Times New Roman"/>
                <a:cs typeface="Times New Roman"/>
              </a:rPr>
              <a:t> </a:t>
            </a:r>
            <a:r>
              <a:rPr lang="en-US" sz="1800" spc="-10" dirty="0">
                <a:latin typeface="Times New Roman"/>
                <a:cs typeface="Times New Roman"/>
              </a:rPr>
              <a:t>well</a:t>
            </a:r>
            <a:r>
              <a:rPr lang="en-US" sz="1800" spc="5" dirty="0">
                <a:latin typeface="Times New Roman"/>
                <a:cs typeface="Times New Roman"/>
              </a:rPr>
              <a:t> </a:t>
            </a:r>
            <a:r>
              <a:rPr lang="en-US" sz="1800" spc="-10" dirty="0">
                <a:latin typeface="Times New Roman"/>
                <a:cs typeface="Times New Roman"/>
              </a:rPr>
              <a:t>for</a:t>
            </a:r>
            <a:r>
              <a:rPr lang="en-US" sz="1800" dirty="0">
                <a:latin typeface="Times New Roman"/>
                <a:cs typeface="Times New Roman"/>
              </a:rPr>
              <a:t> </a:t>
            </a:r>
            <a:r>
              <a:rPr lang="en-US" sz="1800" spc="-10" dirty="0">
                <a:latin typeface="Times New Roman"/>
                <a:cs typeface="Times New Roman"/>
              </a:rPr>
              <a:t>intensive</a:t>
            </a:r>
            <a:endParaRPr lang="en-US" sz="1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lang="en-US" sz="1800" spc="-10" dirty="0">
                <a:latin typeface="Times New Roman"/>
                <a:cs typeface="Times New Roman"/>
              </a:rPr>
              <a:t>data</a:t>
            </a:r>
            <a:r>
              <a:rPr lang="en-US" sz="1800" spc="-30" dirty="0">
                <a:latin typeface="Times New Roman"/>
                <a:cs typeface="Times New Roman"/>
              </a:rPr>
              <a:t> </a:t>
            </a:r>
            <a:r>
              <a:rPr lang="en-US" sz="1800" spc="-10" dirty="0">
                <a:latin typeface="Times New Roman"/>
                <a:cs typeface="Times New Roman"/>
              </a:rPr>
              <a:t>cleaning</a:t>
            </a:r>
            <a:r>
              <a:rPr lang="en-US" sz="1800" spc="-10" dirty="0" smtClean="0">
                <a:latin typeface="Times New Roman"/>
                <a:cs typeface="Times New Roman"/>
              </a:rPr>
              <a:t>.</a:t>
            </a:r>
          </a:p>
          <a:p>
            <a:pPr>
              <a:lnSpc>
                <a:spcPct val="100000"/>
              </a:lnSpc>
              <a:spcBef>
                <a:spcPts val="380"/>
              </a:spcBef>
              <a:buFont typeface="Wingdings" panose="05000000000000000000" pitchFamily="2" charset="2"/>
              <a:buChar char="v"/>
            </a:pPr>
            <a:r>
              <a:rPr lang="en-US" sz="1800" spc="-10" dirty="0" smtClean="0">
                <a:latin typeface="Times New Roman"/>
                <a:cs typeface="Times New Roman"/>
              </a:rPr>
              <a:t>Why Excel?</a:t>
            </a:r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lang="en-US" sz="1800" dirty="0"/>
              <a:t>Analyze Data in </a:t>
            </a:r>
            <a:r>
              <a:rPr lang="en-US" sz="1800" b="1" dirty="0"/>
              <a:t>Excel</a:t>
            </a:r>
            <a:r>
              <a:rPr lang="en-US" sz="1800" dirty="0"/>
              <a:t> empowers you to understand your data through natural language queries that allow you to ask questions about your data without having to write complicated </a:t>
            </a:r>
            <a:r>
              <a:rPr lang="en-US" sz="1800" dirty="0" smtClean="0"/>
              <a:t>formulas.</a:t>
            </a:r>
            <a:endParaRPr lang="en-US" sz="1800" dirty="0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sz="1800" dirty="0" smtClean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9632" y="3943060"/>
            <a:ext cx="4480361" cy="2520950"/>
          </a:xfrm>
        </p:spPr>
      </p:pic>
    </p:spTree>
    <p:extLst>
      <p:ext uri="{BB962C8B-B14F-4D97-AF65-F5344CB8AC3E}">
        <p14:creationId xmlns:p14="http://schemas.microsoft.com/office/powerpoint/2010/main" val="4213855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 smtClean="0"/>
              <a:t>About the Dataset</a:t>
            </a:r>
            <a:endParaRPr lang="en-US" sz="3600" b="1" dirty="0"/>
          </a:p>
        </p:txBody>
      </p:sp>
      <p:pic>
        <p:nvPicPr>
          <p:cNvPr id="1026" name="Picture 2" descr="Bitcoin history chart: How has the price changed over time? | The Su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178" y="1956713"/>
            <a:ext cx="5294531" cy="3529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161677" y="2116545"/>
            <a:ext cx="6096000" cy="224676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dirty="0"/>
              <a:t>The Data set is collected from </a:t>
            </a:r>
            <a:r>
              <a:rPr lang="en-US" sz="2800" b="1" dirty="0"/>
              <a:t>Kaggle.com</a:t>
            </a:r>
          </a:p>
          <a:p>
            <a:endParaRPr lang="en-US" sz="2800" dirty="0"/>
          </a:p>
          <a:p>
            <a:r>
              <a:rPr lang="en-US" sz="2800" dirty="0"/>
              <a:t>The </a:t>
            </a:r>
            <a:r>
              <a:rPr lang="en-US" sz="2800" dirty="0" smtClean="0"/>
              <a:t>reference </a:t>
            </a:r>
            <a:r>
              <a:rPr lang="en-US" sz="2800" dirty="0"/>
              <a:t>graphs are collected from </a:t>
            </a:r>
            <a:r>
              <a:rPr lang="en-US" sz="2800" b="1" dirty="0" smtClean="0"/>
              <a:t>Statista.com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719155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Topics to be covered for Analysis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551290" y="2259669"/>
            <a:ext cx="6096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400" b="1" dirty="0" err="1"/>
              <a:t>Bitcoin</a:t>
            </a:r>
            <a:r>
              <a:rPr lang="en-US" sz="2400" b="1" dirty="0"/>
              <a:t> Historical </a:t>
            </a:r>
            <a:r>
              <a:rPr lang="en-US" sz="2400" b="1" dirty="0" smtClean="0"/>
              <a:t>Price</a:t>
            </a:r>
          </a:p>
          <a:p>
            <a:endParaRPr lang="en-US" sz="2400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400" b="1" dirty="0" err="1"/>
              <a:t>Blockchain</a:t>
            </a:r>
            <a:r>
              <a:rPr lang="en-US" sz="2400" b="1" dirty="0"/>
              <a:t> Technology use </a:t>
            </a:r>
            <a:r>
              <a:rPr lang="en-US" sz="2400" b="1" dirty="0" smtClean="0"/>
              <a:t>Cases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2400" b="1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400" b="1" dirty="0"/>
              <a:t>Top countries with most Crypto Owners</a:t>
            </a:r>
          </a:p>
        </p:txBody>
      </p:sp>
    </p:spTree>
    <p:extLst>
      <p:ext uri="{BB962C8B-B14F-4D97-AF65-F5344CB8AC3E}">
        <p14:creationId xmlns:p14="http://schemas.microsoft.com/office/powerpoint/2010/main" val="17780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</a:t>
            </a:r>
            <a:r>
              <a:rPr lang="en-US" dirty="0" err="1" smtClean="0"/>
              <a:t>blockchain</a:t>
            </a:r>
            <a:r>
              <a:rPr lang="en-US" dirty="0" smtClean="0"/>
              <a:t> technology?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6" y="1812897"/>
            <a:ext cx="6126480" cy="4343400"/>
          </a:xfrm>
        </p:spPr>
        <p:txBody>
          <a:bodyPr/>
          <a:lstStyle/>
          <a:p>
            <a:r>
              <a:rPr lang="en-US" dirty="0" err="1"/>
              <a:t>Blockchain</a:t>
            </a:r>
            <a:r>
              <a:rPr lang="en-US" dirty="0"/>
              <a:t> is a system of recording information in a way that makes it difficult or impossible to change, hack, or cheat the system.</a:t>
            </a:r>
          </a:p>
          <a:p>
            <a:endParaRPr lang="en-US" dirty="0"/>
          </a:p>
          <a:p>
            <a:r>
              <a:rPr lang="en-US" dirty="0"/>
              <a:t>A </a:t>
            </a:r>
            <a:r>
              <a:rPr lang="en-US" dirty="0" err="1"/>
              <a:t>blockchain</a:t>
            </a:r>
            <a:r>
              <a:rPr lang="en-US" dirty="0"/>
              <a:t> is essentially a digital ledger of transactions that is duplicated and distributed across the entire network of computer systems on the </a:t>
            </a:r>
            <a:r>
              <a:rPr lang="en-US" dirty="0" err="1"/>
              <a:t>blockchain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AutoShape 2" descr="D:\FP-cryptocurrency\11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0656" y="1620077"/>
            <a:ext cx="5021081" cy="4120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10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Crypto Currency?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4587" y="1526650"/>
            <a:ext cx="7627951" cy="5107287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84082" y="1669773"/>
            <a:ext cx="3017520" cy="43434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6925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Data Before Cleaning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31132"/>
            <a:ext cx="12003819" cy="5239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729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Data After Cleaning</a:t>
            </a:r>
            <a:endParaRPr lang="en-US" dirty="0"/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6617" y="1569016"/>
            <a:ext cx="9799983" cy="5349613"/>
          </a:xfrm>
          <a:prstGeom prst="rect">
            <a:avLst/>
          </a:prstGeom>
        </p:spPr>
      </p:pic>
      <p:sp>
        <p:nvSpPr>
          <p:cNvPr id="6" name="Text Placeholder 5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843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 smtClean="0"/>
              <a:t>Bitcoin</a:t>
            </a:r>
            <a:r>
              <a:rPr lang="en-US" dirty="0" smtClean="0"/>
              <a:t> Historical Price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1725434"/>
            <a:ext cx="7164125" cy="4540194"/>
          </a:xfrm>
        </p:spPr>
        <p:txBody>
          <a:bodyPr>
            <a:normAutofit/>
          </a:bodyPr>
          <a:lstStyle/>
          <a:p>
            <a:r>
              <a:rPr lang="en-US" sz="1800" dirty="0" smtClean="0"/>
              <a:t>The price of a </a:t>
            </a:r>
            <a:r>
              <a:rPr lang="en-US" sz="1800" dirty="0" err="1" smtClean="0"/>
              <a:t>Bitcoin</a:t>
            </a:r>
            <a:r>
              <a:rPr lang="en-US" sz="1800" dirty="0" smtClean="0"/>
              <a:t> was nearly at $0.09 in 2009. </a:t>
            </a:r>
          </a:p>
          <a:p>
            <a:r>
              <a:rPr lang="en-US" sz="1800" dirty="0"/>
              <a:t>Real adoption of </a:t>
            </a:r>
            <a:r>
              <a:rPr lang="en-US" sz="1800" dirty="0" err="1"/>
              <a:t>Bitcoin</a:t>
            </a:r>
            <a:r>
              <a:rPr lang="en-US" sz="1800" dirty="0"/>
              <a:t> began to take place about </a:t>
            </a:r>
            <a:r>
              <a:rPr lang="en-US" sz="1800" dirty="0" smtClean="0"/>
              <a:t>four years </a:t>
            </a:r>
            <a:r>
              <a:rPr lang="en-US" sz="1800" dirty="0"/>
              <a:t>later, and a major </a:t>
            </a:r>
            <a:r>
              <a:rPr lang="en-US" sz="1800" dirty="0" err="1"/>
              <a:t>Bitcoin</a:t>
            </a:r>
            <a:r>
              <a:rPr lang="en-US" sz="1800" dirty="0"/>
              <a:t> price surge happened for the first time.</a:t>
            </a:r>
            <a:endParaRPr lang="en-US" sz="1800" dirty="0" smtClean="0"/>
          </a:p>
          <a:p>
            <a:r>
              <a:rPr lang="en-US" sz="1800" b="1" dirty="0" err="1"/>
              <a:t>Bitcoin</a:t>
            </a:r>
            <a:r>
              <a:rPr lang="en-US" sz="1800" b="1" dirty="0"/>
              <a:t> Attracts </a:t>
            </a:r>
            <a:r>
              <a:rPr lang="en-US" sz="1800" b="1" dirty="0" smtClean="0"/>
              <a:t>Investors in </a:t>
            </a:r>
            <a:r>
              <a:rPr lang="en-US" sz="1800" b="1" dirty="0"/>
              <a:t>2013 </a:t>
            </a:r>
          </a:p>
          <a:p>
            <a:r>
              <a:rPr lang="en-US" sz="1800" dirty="0" err="1"/>
              <a:t>Bitcoin’s</a:t>
            </a:r>
            <a:r>
              <a:rPr lang="en-US" sz="1800" dirty="0"/>
              <a:t> price trajectory began to change in 2013.</a:t>
            </a:r>
          </a:p>
          <a:p>
            <a:r>
              <a:rPr lang="en-US" sz="1800" dirty="0" smtClean="0"/>
              <a:t>Starting </a:t>
            </a:r>
            <a:r>
              <a:rPr lang="en-US" sz="1800" dirty="0"/>
              <a:t>at $13 in the beginning of </a:t>
            </a:r>
            <a:r>
              <a:rPr lang="en-US" sz="1800" dirty="0" smtClean="0"/>
              <a:t>2013, </a:t>
            </a:r>
            <a:r>
              <a:rPr lang="en-US" sz="1800" dirty="0"/>
              <a:t>the price of </a:t>
            </a:r>
            <a:r>
              <a:rPr lang="en-US" sz="1800" dirty="0" err="1"/>
              <a:t>Bitcoin</a:t>
            </a:r>
            <a:r>
              <a:rPr lang="en-US" sz="1800" dirty="0"/>
              <a:t> rose to almost $250 in April </a:t>
            </a:r>
            <a:r>
              <a:rPr lang="en-US" sz="1800" dirty="0" smtClean="0"/>
              <a:t>when the </a:t>
            </a:r>
            <a:r>
              <a:rPr lang="en-US" sz="1800" dirty="0"/>
              <a:t>Electronic Frontier </a:t>
            </a:r>
            <a:r>
              <a:rPr lang="en-US" sz="1800" dirty="0" smtClean="0"/>
              <a:t>Foundation (EFF) </a:t>
            </a:r>
            <a:r>
              <a:rPr lang="en-US" sz="1800" dirty="0"/>
              <a:t>began accepting </a:t>
            </a:r>
            <a:r>
              <a:rPr lang="en-US" sz="1800" dirty="0" err="1" smtClean="0"/>
              <a:t>Bitcoin</a:t>
            </a:r>
            <a:r>
              <a:rPr lang="en-US" sz="1800" dirty="0" smtClean="0"/>
              <a:t>.</a:t>
            </a:r>
          </a:p>
          <a:p>
            <a:endParaRPr lang="en-US" sz="1800" dirty="0"/>
          </a:p>
          <a:p>
            <a:pPr marL="0" indent="0">
              <a:buNone/>
            </a:pPr>
            <a:r>
              <a:rPr lang="en-US" sz="1800" dirty="0" smtClean="0"/>
              <a:t>. </a:t>
            </a:r>
          </a:p>
          <a:p>
            <a:endParaRPr lang="en-US" sz="1800" dirty="0" smtClean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125" y="1804489"/>
            <a:ext cx="4572994" cy="4127184"/>
          </a:xfrm>
        </p:spPr>
      </p:pic>
    </p:spTree>
    <p:extLst>
      <p:ext uri="{BB962C8B-B14F-4D97-AF65-F5344CB8AC3E}">
        <p14:creationId xmlns:p14="http://schemas.microsoft.com/office/powerpoint/2010/main" val="434858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 smtClean="0"/>
              <a:t>Bitcoin</a:t>
            </a:r>
            <a:r>
              <a:rPr lang="en-US" dirty="0" smtClean="0"/>
              <a:t> Historical Price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143123" y="1645919"/>
            <a:ext cx="6551875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dirty="0" err="1"/>
              <a:t>Bitcoin</a:t>
            </a:r>
            <a:r>
              <a:rPr lang="en-US" dirty="0"/>
              <a:t> price in 2017 breached the $1,100 mark in January, a new record high at the time. By December, the price had soared to nearly $20,000. That’s a 20x rise in less than 12 </a:t>
            </a:r>
            <a:r>
              <a:rPr lang="en-US" dirty="0" smtClean="0"/>
              <a:t>months.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Bitcoin</a:t>
            </a:r>
            <a:r>
              <a:rPr lang="en-US" dirty="0"/>
              <a:t> has shown a massive price growth, reached an all-time high in 2021, as values exceeded over 65,000 USD in November 2021 when the CEO of Tesla, </a:t>
            </a:r>
            <a:r>
              <a:rPr lang="en-US" dirty="0" err="1"/>
              <a:t>Elon</a:t>
            </a:r>
            <a:r>
              <a:rPr lang="en-US" dirty="0"/>
              <a:t> Musk has announced that he has bought $1.5 billion worth of </a:t>
            </a:r>
            <a:r>
              <a:rPr lang="en-US" dirty="0" err="1"/>
              <a:t>Bitcoin</a:t>
            </a:r>
            <a:r>
              <a:rPr lang="en-US" dirty="0"/>
              <a:t> and also said it will start accepting payments in </a:t>
            </a:r>
            <a:r>
              <a:rPr lang="en-US" dirty="0" err="1"/>
              <a:t>Bitcoin</a:t>
            </a:r>
            <a:r>
              <a:rPr lang="en-US" dirty="0"/>
              <a:t> in exchange for its products. </a:t>
            </a:r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4101" y="1861277"/>
            <a:ext cx="5466222" cy="3610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043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Blockchain</a:t>
            </a:r>
            <a:r>
              <a:rPr lang="en-US" dirty="0" smtClean="0"/>
              <a:t> Technology Use Cases 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845489" y="1750052"/>
            <a:ext cx="6096000" cy="369331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err="1"/>
              <a:t>Blockchain</a:t>
            </a:r>
            <a:r>
              <a:rPr lang="en-US" dirty="0"/>
              <a:t> has so many applications in every </a:t>
            </a:r>
            <a:r>
              <a:rPr lang="en-US" dirty="0" smtClean="0"/>
              <a:t>sector, such </a:t>
            </a:r>
            <a:r>
              <a:rPr lang="en-US" dirty="0"/>
              <a:t>as healthcare, finance, government, identity, etc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According </a:t>
            </a:r>
            <a:r>
              <a:rPr lang="en-US" dirty="0"/>
              <a:t>to the research, in 2021, the top three </a:t>
            </a:r>
            <a:r>
              <a:rPr lang="en-US" dirty="0" err="1"/>
              <a:t>B</a:t>
            </a:r>
            <a:r>
              <a:rPr lang="en-US" dirty="0" err="1" smtClean="0"/>
              <a:t>lockchain</a:t>
            </a:r>
            <a:r>
              <a:rPr lang="en-US" dirty="0"/>
              <a:t> use cases are the following</a:t>
            </a:r>
            <a:r>
              <a:rPr lang="en-US" dirty="0" smtClean="0"/>
              <a:t>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45% of companies use </a:t>
            </a:r>
            <a:r>
              <a:rPr lang="en-US" dirty="0" err="1"/>
              <a:t>B</a:t>
            </a:r>
            <a:r>
              <a:rPr lang="en-US" dirty="0" err="1" smtClean="0"/>
              <a:t>lockchain</a:t>
            </a:r>
            <a:r>
              <a:rPr lang="en-US" dirty="0"/>
              <a:t> to secure internal or external information exchange;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44% of companies use </a:t>
            </a:r>
            <a:r>
              <a:rPr lang="en-US" dirty="0" err="1"/>
              <a:t>B</a:t>
            </a:r>
            <a:r>
              <a:rPr lang="en-US" dirty="0" err="1" smtClean="0"/>
              <a:t>lockchain</a:t>
            </a:r>
            <a:r>
              <a:rPr lang="en-US" dirty="0"/>
              <a:t> for operations related to digital currencies;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40% of use cases are based on asset tracking and management.</a:t>
            </a:r>
          </a:p>
          <a:p>
            <a:endParaRPr lang="en-US" dirty="0" smtClean="0"/>
          </a:p>
        </p:txBody>
      </p:sp>
      <p:pic>
        <p:nvPicPr>
          <p:cNvPr id="4" name="Content Placeholder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8757" y="1841082"/>
            <a:ext cx="4572000" cy="4098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7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Top Countries with Most Crypto Owners</a:t>
            </a:r>
            <a:endParaRPr lang="en-US" dirty="0"/>
          </a:p>
        </p:txBody>
      </p:sp>
      <p:pic>
        <p:nvPicPr>
          <p:cNvPr id="1026" name="Picture 2" descr="Top 10 Countries With Most Cryptocurrency Holder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7307" y="1569706"/>
            <a:ext cx="4724400" cy="3952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312752" y="1913139"/>
            <a:ext cx="6096000" cy="3693319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212121"/>
                </a:solidFill>
                <a:latin typeface="Book Antiqua" panose="02040602050305030304" pitchFamily="18" charset="0"/>
              </a:rPr>
              <a:t>Bitcoin</a:t>
            </a:r>
            <a:r>
              <a:rPr lang="en-US" dirty="0">
                <a:solidFill>
                  <a:srgbClr val="212121"/>
                </a:solidFill>
                <a:latin typeface="Book Antiqua" panose="02040602050305030304" pitchFamily="18" charset="0"/>
              </a:rPr>
              <a:t> and </a:t>
            </a:r>
            <a:r>
              <a:rPr lang="en-US" dirty="0" err="1">
                <a:solidFill>
                  <a:srgbClr val="212121"/>
                </a:solidFill>
                <a:latin typeface="Book Antiqua" panose="02040602050305030304" pitchFamily="18" charset="0"/>
              </a:rPr>
              <a:t>cryptocurrency</a:t>
            </a:r>
            <a:r>
              <a:rPr lang="en-US" dirty="0">
                <a:solidFill>
                  <a:srgbClr val="212121"/>
                </a:solidFill>
                <a:latin typeface="Book Antiqua" panose="02040602050305030304" pitchFamily="18" charset="0"/>
              </a:rPr>
              <a:t> adoption has grown over 800% in the past </a:t>
            </a:r>
            <a:r>
              <a:rPr lang="en-US" dirty="0" smtClean="0">
                <a:solidFill>
                  <a:srgbClr val="212121"/>
                </a:solidFill>
                <a:latin typeface="Book Antiqua" panose="02040602050305030304" pitchFamily="18" charset="0"/>
              </a:rPr>
              <a:t>year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Top 5 countries with most </a:t>
            </a:r>
            <a:r>
              <a:rPr lang="en-US" dirty="0" err="1"/>
              <a:t>cryptocurrency</a:t>
            </a:r>
            <a:r>
              <a:rPr lang="en-US" dirty="0"/>
              <a:t> holders are the following,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India 100 million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USA 27 million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Russia 17 million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Nigeria 13 million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Brazil 10 million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India has more </a:t>
            </a:r>
            <a:r>
              <a:rPr lang="en-US" dirty="0" err="1"/>
              <a:t>cryptocurrency</a:t>
            </a:r>
            <a:r>
              <a:rPr lang="en-US" dirty="0"/>
              <a:t> holders than any other country, i.e., more than 100 </a:t>
            </a:r>
            <a:r>
              <a:rPr lang="en-US" dirty="0" smtClean="0"/>
              <a:t>million people owns </a:t>
            </a:r>
            <a:r>
              <a:rPr lang="en-US" dirty="0" err="1" smtClean="0"/>
              <a:t>cryptocurrency</a:t>
            </a:r>
            <a:r>
              <a:rPr lang="en-US" dirty="0" smtClean="0"/>
              <a:t>.</a:t>
            </a:r>
            <a:endParaRPr lang="en-US" dirty="0">
              <a:solidFill>
                <a:srgbClr val="212121"/>
              </a:solidFill>
              <a:latin typeface="Book Antiqua" panose="02040602050305030304" pitchFamily="18" charset="0"/>
            </a:endParaRPr>
          </a:p>
          <a:p>
            <a:endParaRPr lang="en-US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7990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Pros &amp; Cons of </a:t>
            </a:r>
            <a:r>
              <a:rPr lang="en-US" dirty="0" err="1" smtClean="0"/>
              <a:t>Cryptocurrency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877294" y="1708999"/>
            <a:ext cx="6096000" cy="184665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b="1" dirty="0"/>
              <a:t>Pros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Lower transaction cost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Faster processing of transaction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Secure and Private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Worldwide Acceptance/Cost Reduction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Decentralization/Increase </a:t>
            </a:r>
            <a:r>
              <a:rPr lang="en-US" dirty="0" smtClean="0"/>
              <a:t>transparency 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877294" y="3354919"/>
            <a:ext cx="6096000" cy="1846659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dirty="0"/>
          </a:p>
          <a:p>
            <a:r>
              <a:rPr lang="en-US" sz="2400" b="1" dirty="0"/>
              <a:t>Cons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It has no physical form or intrinsic </a:t>
            </a:r>
            <a:r>
              <a:rPr lang="en-US" dirty="0" smtClean="0"/>
              <a:t>value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High </a:t>
            </a:r>
            <a:r>
              <a:rPr lang="en-US" dirty="0" smtClean="0"/>
              <a:t>volatility ,High risk ,Large </a:t>
            </a:r>
            <a:r>
              <a:rPr lang="en-US" dirty="0"/>
              <a:t>potential losses and not all </a:t>
            </a:r>
            <a:r>
              <a:rPr lang="en-US" dirty="0" err="1"/>
              <a:t>C</a:t>
            </a:r>
            <a:r>
              <a:rPr lang="en-US" dirty="0" err="1" smtClean="0"/>
              <a:t>ryptocurrency</a:t>
            </a:r>
            <a:r>
              <a:rPr lang="en-US" dirty="0" smtClean="0"/>
              <a:t> </a:t>
            </a:r>
            <a:r>
              <a:rPr lang="en-US" dirty="0"/>
              <a:t>are the same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437596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Conclusion</a:t>
            </a:r>
            <a:endParaRPr lang="en-US" b="1" dirty="0"/>
          </a:p>
        </p:txBody>
      </p:sp>
      <p:sp>
        <p:nvSpPr>
          <p:cNvPr id="3" name="Rectangle 2"/>
          <p:cNvSpPr/>
          <p:nvPr/>
        </p:nvSpPr>
        <p:spPr>
          <a:xfrm>
            <a:off x="341907" y="1876507"/>
            <a:ext cx="8945216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 err="1"/>
              <a:t>Cryptocurrencies</a:t>
            </a:r>
            <a:r>
              <a:rPr lang="en-US" b="1" dirty="0"/>
              <a:t> </a:t>
            </a:r>
            <a:r>
              <a:rPr lang="en-US" dirty="0"/>
              <a:t>and </a:t>
            </a:r>
            <a:r>
              <a:rPr lang="en-US" b="1" dirty="0" err="1" smtClean="0"/>
              <a:t>Blockchains</a:t>
            </a:r>
            <a:r>
              <a:rPr lang="en-US" b="1" dirty="0" smtClean="0"/>
              <a:t> </a:t>
            </a:r>
            <a:r>
              <a:rPr lang="en-US" dirty="0"/>
              <a:t>are very new technologies:</a:t>
            </a:r>
          </a:p>
          <a:p>
            <a:r>
              <a:rPr lang="en-US" dirty="0" smtClean="0"/>
              <a:t>      Like </a:t>
            </a:r>
            <a:r>
              <a:rPr lang="en-US" dirty="0"/>
              <a:t>all new technologies they are uncertain and has a high </a:t>
            </a:r>
            <a:r>
              <a:rPr lang="en-US" dirty="0" smtClean="0"/>
              <a:t>risk.</a:t>
            </a:r>
            <a:endParaRPr lang="en-US" dirty="0"/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 err="1"/>
              <a:t>Cryptocurrency</a:t>
            </a:r>
            <a:r>
              <a:rPr lang="en-US" b="1" dirty="0"/>
              <a:t> </a:t>
            </a:r>
            <a:r>
              <a:rPr lang="en-US" dirty="0"/>
              <a:t>landscape is still </a:t>
            </a:r>
            <a:r>
              <a:rPr lang="en-US" dirty="0" smtClean="0"/>
              <a:t>evolving, over </a:t>
            </a:r>
            <a:r>
              <a:rPr lang="en-US" dirty="0"/>
              <a:t>the next few years we are more likely to see more global standards being adopted to this </a:t>
            </a:r>
            <a:r>
              <a:rPr lang="en-US" dirty="0" smtClean="0"/>
              <a:t>technology.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smtClean="0"/>
              <a:t>In </a:t>
            </a:r>
            <a:r>
              <a:rPr lang="en-US" dirty="0"/>
              <a:t>order for </a:t>
            </a:r>
            <a:r>
              <a:rPr lang="en-US" b="1" dirty="0" err="1"/>
              <a:t>C</a:t>
            </a:r>
            <a:r>
              <a:rPr lang="en-US" b="1" dirty="0" err="1" smtClean="0"/>
              <a:t>ryptocurrency</a:t>
            </a:r>
            <a:r>
              <a:rPr lang="en-US" b="1" dirty="0" smtClean="0"/>
              <a:t> </a:t>
            </a:r>
            <a:r>
              <a:rPr lang="en-US" dirty="0"/>
              <a:t>to </a:t>
            </a:r>
            <a:r>
              <a:rPr lang="en-US" dirty="0" smtClean="0"/>
              <a:t>succeed </a:t>
            </a:r>
            <a:r>
              <a:rPr lang="en-US" dirty="0"/>
              <a:t>more people need to understand what it </a:t>
            </a:r>
            <a:r>
              <a:rPr lang="en-US" dirty="0" smtClean="0"/>
              <a:t>is.</a:t>
            </a:r>
            <a:endParaRPr lang="en-US" dirty="0" smtClean="0"/>
          </a:p>
          <a:p>
            <a:endParaRPr lang="en-US" dirty="0" smtClean="0"/>
          </a:p>
          <a:p>
            <a:endParaRPr lang="en-US" b="1" dirty="0" smtClean="0"/>
          </a:p>
          <a:p>
            <a:r>
              <a:rPr lang="en-US" b="1" dirty="0" smtClean="0"/>
              <a:t>Note</a:t>
            </a:r>
            <a:r>
              <a:rPr lang="en-US" dirty="0"/>
              <a:t>: This is not a financial advice, it is only for learning purpose.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9443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611757" y="3260034"/>
            <a:ext cx="297378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50085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ales Direction 16X9">
  <a:themeElements>
    <a:clrScheme name="SalesDirection">
      <a:dk1>
        <a:srgbClr val="595959"/>
      </a:dk1>
      <a:lt1>
        <a:sysClr val="window" lastClr="FFFFFF"/>
      </a:lt1>
      <a:dk2>
        <a:srgbClr val="000000"/>
      </a:dk2>
      <a:lt2>
        <a:srgbClr val="F2F2F2"/>
      </a:lt2>
      <a:accent1>
        <a:srgbClr val="1EB8C1"/>
      </a:accent1>
      <a:accent2>
        <a:srgbClr val="EF7920"/>
      </a:accent2>
      <a:accent3>
        <a:srgbClr val="EFC119"/>
      </a:accent3>
      <a:accent4>
        <a:srgbClr val="969890"/>
      </a:accent4>
      <a:accent5>
        <a:srgbClr val="50B4F2"/>
      </a:accent5>
      <a:accent6>
        <a:srgbClr val="C05A3A"/>
      </a:accent6>
      <a:hlink>
        <a:srgbClr val="EFC119"/>
      </a:hlink>
      <a:folHlink>
        <a:srgbClr val="969890"/>
      </a:folHlink>
    </a:clrScheme>
    <a:fontScheme name="Book Antiqua">
      <a:majorFont>
        <a:latin typeface="Book Antiqua"/>
        <a:ea typeface=""/>
        <a:cs typeface=""/>
      </a:majorFont>
      <a:minorFont>
        <a:latin typeface="Book Antiqu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usiness direction presentation (widescreen).potx" id="{D17AB31B-F25B-45F4-B34E-C6982D129A29}" vid="{B63A7B92-8C2A-4E6A-9062-768A2448E61C}"/>
    </a:ext>
  </a:extLst>
</a:theme>
</file>

<file path=ppt/theme/theme2.xml><?xml version="1.0" encoding="utf-8"?>
<a:theme xmlns:a="http://schemas.openxmlformats.org/drawingml/2006/main" name="Office Theme">
  <a:themeElements>
    <a:clrScheme name="SalesDirection">
      <a:dk1>
        <a:srgbClr val="595959"/>
      </a:dk1>
      <a:lt1>
        <a:sysClr val="window" lastClr="FFFFFF"/>
      </a:lt1>
      <a:dk2>
        <a:srgbClr val="000000"/>
      </a:dk2>
      <a:lt2>
        <a:srgbClr val="F2F2F2"/>
      </a:lt2>
      <a:accent1>
        <a:srgbClr val="1EB8C1"/>
      </a:accent1>
      <a:accent2>
        <a:srgbClr val="EF7920"/>
      </a:accent2>
      <a:accent3>
        <a:srgbClr val="EFC119"/>
      </a:accent3>
      <a:accent4>
        <a:srgbClr val="969890"/>
      </a:accent4>
      <a:accent5>
        <a:srgbClr val="50B4F2"/>
      </a:accent5>
      <a:accent6>
        <a:srgbClr val="C05A3A"/>
      </a:accent6>
      <a:hlink>
        <a:srgbClr val="EFC119"/>
      </a:hlink>
      <a:folHlink>
        <a:srgbClr val="969890"/>
      </a:folHlink>
    </a:clrScheme>
    <a:fontScheme name="Book Antiqua">
      <a:majorFont>
        <a:latin typeface="Book Antiqua"/>
        <a:ea typeface=""/>
        <a:cs typeface=""/>
      </a:majorFont>
      <a:minorFont>
        <a:latin typeface="Book Antiqu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SalesDirection">
      <a:dk1>
        <a:srgbClr val="595959"/>
      </a:dk1>
      <a:lt1>
        <a:sysClr val="window" lastClr="FFFFFF"/>
      </a:lt1>
      <a:dk2>
        <a:srgbClr val="000000"/>
      </a:dk2>
      <a:lt2>
        <a:srgbClr val="F2F2F2"/>
      </a:lt2>
      <a:accent1>
        <a:srgbClr val="1EB8C1"/>
      </a:accent1>
      <a:accent2>
        <a:srgbClr val="EF7920"/>
      </a:accent2>
      <a:accent3>
        <a:srgbClr val="EFC119"/>
      </a:accent3>
      <a:accent4>
        <a:srgbClr val="969890"/>
      </a:accent4>
      <a:accent5>
        <a:srgbClr val="50B4F2"/>
      </a:accent5>
      <a:accent6>
        <a:srgbClr val="C05A3A"/>
      </a:accent6>
      <a:hlink>
        <a:srgbClr val="EFC119"/>
      </a:hlink>
      <a:folHlink>
        <a:srgbClr val="969890"/>
      </a:folHlink>
    </a:clrScheme>
    <a:fontScheme name="Book Antiqua">
      <a:majorFont>
        <a:latin typeface="Book Antiqua"/>
        <a:ea typeface=""/>
        <a:cs typeface=""/>
      </a:majorFont>
      <a:minorFont>
        <a:latin typeface="Book Antiqu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direction presentation (widescreen)</Template>
  <TotalTime>8190</TotalTime>
  <Words>673</Words>
  <Application>Microsoft Office PowerPoint</Application>
  <PresentationFormat>Widescreen</PresentationFormat>
  <Paragraphs>89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Book Antiqua</vt:lpstr>
      <vt:lpstr>Times New Roman</vt:lpstr>
      <vt:lpstr>Wingdings</vt:lpstr>
      <vt:lpstr>Sales Direction 16X9</vt:lpstr>
      <vt:lpstr>Uses of Blockchain </vt:lpstr>
      <vt:lpstr>What is Data Analysis?</vt:lpstr>
      <vt:lpstr>Process in Data Analysis</vt:lpstr>
      <vt:lpstr>Tools for Data Analysis</vt:lpstr>
      <vt:lpstr>About the Dataset</vt:lpstr>
      <vt:lpstr>Topics to be covered for Analysis</vt:lpstr>
      <vt:lpstr>What is blockchain technology?</vt:lpstr>
      <vt:lpstr>What is Crypto Currency?</vt:lpstr>
      <vt:lpstr>Data Before Cleaning</vt:lpstr>
      <vt:lpstr>Data After Cleaning</vt:lpstr>
      <vt:lpstr>Bitcoin Historical Price </vt:lpstr>
      <vt:lpstr>Bitcoin Historical Price</vt:lpstr>
      <vt:lpstr>Blockchain Technology Use Cases </vt:lpstr>
      <vt:lpstr>Top Countries with Most Crypto Owners</vt:lpstr>
      <vt:lpstr>Pros &amp; Cons of Cryptocurrency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with Picture Layout</dc:title>
  <dc:creator>Sanat Mishra</dc:creator>
  <cp:lastModifiedBy>Sanat Mishra</cp:lastModifiedBy>
  <cp:revision>45</cp:revision>
  <dcterms:created xsi:type="dcterms:W3CDTF">2022-11-15T00:48:51Z</dcterms:created>
  <dcterms:modified xsi:type="dcterms:W3CDTF">2022-11-24T03:34:44Z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0x010100AA3F7D94069FF64A86F7DFF56D60E3BE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