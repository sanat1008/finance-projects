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50" r:id="rId2"/>
  </p:sldMasterIdLst>
  <p:notesMasterIdLst>
    <p:notesMasterId r:id="rId28"/>
  </p:notesMasterIdLst>
  <p:sldIdLst>
    <p:sldId id="282" r:id="rId3"/>
    <p:sldId id="286" r:id="rId4"/>
    <p:sldId id="284" r:id="rId5"/>
    <p:sldId id="285" r:id="rId6"/>
    <p:sldId id="283" r:id="rId7"/>
    <p:sldId id="287" r:id="rId8"/>
    <p:sldId id="288" r:id="rId9"/>
    <p:sldId id="306" r:id="rId10"/>
    <p:sldId id="289" r:id="rId11"/>
    <p:sldId id="290" r:id="rId12"/>
    <p:sldId id="291" r:id="rId13"/>
    <p:sldId id="292" r:id="rId14"/>
    <p:sldId id="293" r:id="rId15"/>
    <p:sldId id="295" r:id="rId16"/>
    <p:sldId id="299" r:id="rId17"/>
    <p:sldId id="303" r:id="rId18"/>
    <p:sldId id="304" r:id="rId19"/>
    <p:sldId id="300" r:id="rId20"/>
    <p:sldId id="301" r:id="rId21"/>
    <p:sldId id="302" r:id="rId22"/>
    <p:sldId id="305" r:id="rId23"/>
    <p:sldId id="298" r:id="rId24"/>
    <p:sldId id="296" r:id="rId25"/>
    <p:sldId id="297" r:id="rId26"/>
    <p:sldId id="307" r:id="rId27"/>
  </p:sldIdLst>
  <p:sldSz cx="12192000" cy="6858000"/>
  <p:notesSz cx="7053263" cy="93091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jRbXP/EiFLJGaXdEG1zXc+AWDrJ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edant Ga." initials="VG" lastIdx="1" clrIdx="0">
    <p:extLst>
      <p:ext uri="{19B8F6BF-5375-455C-9EA6-DF929625EA0E}">
        <p15:presenceInfo xmlns:p15="http://schemas.microsoft.com/office/powerpoint/2012/main" userId="61f6748a600ef1e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232A"/>
    <a:srgbClr val="009966"/>
    <a:srgbClr val="FFDE33"/>
    <a:srgbClr val="FF9933"/>
    <a:srgbClr val="CC0033"/>
    <a:srgbClr val="660099"/>
    <a:srgbClr val="7E0023"/>
    <a:srgbClr val="B93D3D"/>
    <a:srgbClr val="E4E90D"/>
    <a:srgbClr val="F6E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83C75A5-541F-4068-BE22-2AE3A88C29BB}">
  <a:tblStyle styleId="{E83C75A5-541F-4068-BE22-2AE3A88C29B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45" autoAdjust="0"/>
    <p:restoredTop sz="95118" autoAdjust="0"/>
  </p:normalViewPr>
  <p:slideViewPr>
    <p:cSldViewPr snapToGrid="0">
      <p:cViewPr varScale="1">
        <p:scale>
          <a:sx n="78" d="100"/>
          <a:sy n="78" d="100"/>
        </p:scale>
        <p:origin x="706" y="43"/>
      </p:cViewPr>
      <p:guideLst>
        <p:guide orient="horz" pos="2160"/>
        <p:guide pos="3840"/>
      </p:guideLst>
    </p:cSldViewPr>
  </p:slideViewPr>
  <p:notesTextViewPr>
    <p:cViewPr>
      <p:scale>
        <a:sx n="1" d="1"/>
        <a:sy n="1" d="1"/>
      </p:scale>
      <p:origin x="0" y="0"/>
    </p:cViewPr>
  </p:notesTextViewPr>
  <p:notesViewPr>
    <p:cSldViewPr snapToGrid="0">
      <p:cViewPr varScale="1">
        <p:scale>
          <a:sx n="60" d="100"/>
          <a:sy n="60" d="100"/>
        </p:scale>
        <p:origin x="3226" y="6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46" Type="http://customschemas.google.com/relationships/presentationmetadata" Target="meta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C:\Users\91987\Downloads\Banks%20financials%20(Private%20and%20Public).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91987\Downloads\Banks%20financials%20(Private%20and%20Public).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91987\Downloads\Banks%20financials%20(Private%20and%20Public).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91987\Downloads\Banks%20financials%20(Private%20and%20Public).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NPA</a:t>
            </a:r>
          </a:p>
        </c:rich>
      </c:tx>
      <c:overlay val="0"/>
      <c:spPr>
        <a:noFill/>
        <a:ln>
          <a:noFill/>
        </a:ln>
        <a:effectLst/>
      </c:spPr>
    </c:title>
    <c:autoTitleDeleted val="0"/>
    <c:plotArea>
      <c:layout/>
      <c:lineChart>
        <c:grouping val="standard"/>
        <c:varyColors val="0"/>
        <c:ser>
          <c:idx val="6"/>
          <c:order val="0"/>
          <c:tx>
            <c:v>HDFC</c:v>
          </c:tx>
          <c:cat>
            <c:numLit>
              <c:formatCode>General</c:formatCode>
              <c:ptCount val="6"/>
              <c:pt idx="0">
                <c:v>2018</c:v>
              </c:pt>
              <c:pt idx="1">
                <c:v>2019</c:v>
              </c:pt>
              <c:pt idx="2">
                <c:v>2020</c:v>
              </c:pt>
              <c:pt idx="3">
                <c:v>2021</c:v>
              </c:pt>
              <c:pt idx="4">
                <c:v>2022</c:v>
              </c:pt>
              <c:pt idx="5">
                <c:v>2023</c:v>
              </c:pt>
            </c:numLit>
          </c:cat>
          <c:val>
            <c:numRef>
              <c:f>Private!$B$6:$G$6</c:f>
              <c:numCache>
                <c:formatCode>General</c:formatCode>
                <c:ptCount val="6"/>
                <c:pt idx="0">
                  <c:v>0.4</c:v>
                </c:pt>
                <c:pt idx="1">
                  <c:v>0.41</c:v>
                </c:pt>
                <c:pt idx="2">
                  <c:v>0.42</c:v>
                </c:pt>
                <c:pt idx="3">
                  <c:v>0.42</c:v>
                </c:pt>
                <c:pt idx="4">
                  <c:v>0.34</c:v>
                </c:pt>
                <c:pt idx="5">
                  <c:v>0.27</c:v>
                </c:pt>
              </c:numCache>
            </c:numRef>
          </c:val>
          <c:smooth val="0"/>
          <c:extLst>
            <c:ext xmlns:c16="http://schemas.microsoft.com/office/drawing/2014/chart" uri="{C3380CC4-5D6E-409C-BE32-E72D297353CC}">
              <c16:uniqueId val="{00000000-7864-D74C-8E7A-2D88A239393D}"/>
            </c:ext>
          </c:extLst>
        </c:ser>
        <c:ser>
          <c:idx val="7"/>
          <c:order val="1"/>
          <c:tx>
            <c:v>ICICI</c:v>
          </c:tx>
          <c:cat>
            <c:numLit>
              <c:formatCode>General</c:formatCode>
              <c:ptCount val="6"/>
              <c:pt idx="0">
                <c:v>2018</c:v>
              </c:pt>
              <c:pt idx="1">
                <c:v>2019</c:v>
              </c:pt>
              <c:pt idx="2">
                <c:v>2020</c:v>
              </c:pt>
              <c:pt idx="3">
                <c:v>2021</c:v>
              </c:pt>
              <c:pt idx="4">
                <c:v>2022</c:v>
              </c:pt>
              <c:pt idx="5">
                <c:v>2023</c:v>
              </c:pt>
            </c:numLit>
          </c:cat>
          <c:val>
            <c:numRef>
              <c:f>Private!$J$6:$O$6</c:f>
              <c:numCache>
                <c:formatCode>General</c:formatCode>
                <c:ptCount val="6"/>
                <c:pt idx="0">
                  <c:v>1.07</c:v>
                </c:pt>
                <c:pt idx="1">
                  <c:v>0.94</c:v>
                </c:pt>
                <c:pt idx="2">
                  <c:v>0.84</c:v>
                </c:pt>
                <c:pt idx="3">
                  <c:v>0.7</c:v>
                </c:pt>
                <c:pt idx="4">
                  <c:v>0.76</c:v>
                </c:pt>
                <c:pt idx="5">
                  <c:v>0.48</c:v>
                </c:pt>
              </c:numCache>
            </c:numRef>
          </c:val>
          <c:smooth val="0"/>
          <c:extLst>
            <c:ext xmlns:c16="http://schemas.microsoft.com/office/drawing/2014/chart" uri="{C3380CC4-5D6E-409C-BE32-E72D297353CC}">
              <c16:uniqueId val="{00000001-7864-D74C-8E7A-2D88A239393D}"/>
            </c:ext>
          </c:extLst>
        </c:ser>
        <c:ser>
          <c:idx val="8"/>
          <c:order val="2"/>
          <c:tx>
            <c:v>AXIS</c:v>
          </c:tx>
          <c:cat>
            <c:numLit>
              <c:formatCode>General</c:formatCode>
              <c:ptCount val="6"/>
              <c:pt idx="0">
                <c:v>2018</c:v>
              </c:pt>
              <c:pt idx="1">
                <c:v>2019</c:v>
              </c:pt>
              <c:pt idx="2">
                <c:v>2020</c:v>
              </c:pt>
              <c:pt idx="3">
                <c:v>2021</c:v>
              </c:pt>
              <c:pt idx="4">
                <c:v>2022</c:v>
              </c:pt>
              <c:pt idx="5">
                <c:v>2023</c:v>
              </c:pt>
            </c:numLit>
          </c:cat>
          <c:val>
            <c:numRef>
              <c:f>Private!$B$14:$G$14</c:f>
              <c:numCache>
                <c:formatCode>General</c:formatCode>
                <c:ptCount val="6"/>
                <c:pt idx="0">
                  <c:v>2.06</c:v>
                </c:pt>
                <c:pt idx="1">
                  <c:v>1.56</c:v>
                </c:pt>
                <c:pt idx="2">
                  <c:v>1.05</c:v>
                </c:pt>
                <c:pt idx="3">
                  <c:v>0.73</c:v>
                </c:pt>
                <c:pt idx="4">
                  <c:v>0.52</c:v>
                </c:pt>
                <c:pt idx="5">
                  <c:v>0.39</c:v>
                </c:pt>
              </c:numCache>
            </c:numRef>
          </c:val>
          <c:smooth val="0"/>
          <c:extLst>
            <c:ext xmlns:c16="http://schemas.microsoft.com/office/drawing/2014/chart" uri="{C3380CC4-5D6E-409C-BE32-E72D297353CC}">
              <c16:uniqueId val="{00000002-7864-D74C-8E7A-2D88A239393D}"/>
            </c:ext>
          </c:extLst>
        </c:ser>
        <c:ser>
          <c:idx val="9"/>
          <c:order val="3"/>
          <c:tx>
            <c:v>INDUSLND</c:v>
          </c:tx>
          <c:cat>
            <c:numLit>
              <c:formatCode>General</c:formatCode>
              <c:ptCount val="6"/>
              <c:pt idx="0">
                <c:v>2018</c:v>
              </c:pt>
              <c:pt idx="1">
                <c:v>2019</c:v>
              </c:pt>
              <c:pt idx="2">
                <c:v>2020</c:v>
              </c:pt>
              <c:pt idx="3">
                <c:v>2021</c:v>
              </c:pt>
              <c:pt idx="4">
                <c:v>2022</c:v>
              </c:pt>
              <c:pt idx="5">
                <c:v>2023</c:v>
              </c:pt>
            </c:numLit>
          </c:cat>
          <c:val>
            <c:numRef>
              <c:f>Private!$J$14:$O$14</c:f>
              <c:numCache>
                <c:formatCode>General</c:formatCode>
                <c:ptCount val="6"/>
                <c:pt idx="0">
                  <c:v>0.17</c:v>
                </c:pt>
                <c:pt idx="1">
                  <c:v>0.4</c:v>
                </c:pt>
                <c:pt idx="2">
                  <c:v>0.52</c:v>
                </c:pt>
                <c:pt idx="3">
                  <c:v>0.59</c:v>
                </c:pt>
                <c:pt idx="4">
                  <c:v>0.62</c:v>
                </c:pt>
                <c:pt idx="5">
                  <c:v>0.56999999999999995</c:v>
                </c:pt>
              </c:numCache>
            </c:numRef>
          </c:val>
          <c:smooth val="0"/>
          <c:extLst>
            <c:ext xmlns:c16="http://schemas.microsoft.com/office/drawing/2014/chart" uri="{C3380CC4-5D6E-409C-BE32-E72D297353CC}">
              <c16:uniqueId val="{00000003-7864-D74C-8E7A-2D88A239393D}"/>
            </c:ext>
          </c:extLst>
        </c:ser>
        <c:ser>
          <c:idx val="10"/>
          <c:order val="4"/>
          <c:tx>
            <c:v>KOTAK</c:v>
          </c:tx>
          <c:cat>
            <c:numLit>
              <c:formatCode>General</c:formatCode>
              <c:ptCount val="6"/>
              <c:pt idx="0">
                <c:v>2018</c:v>
              </c:pt>
              <c:pt idx="1">
                <c:v>2019</c:v>
              </c:pt>
              <c:pt idx="2">
                <c:v>2020</c:v>
              </c:pt>
              <c:pt idx="3">
                <c:v>2021</c:v>
              </c:pt>
              <c:pt idx="4">
                <c:v>2022</c:v>
              </c:pt>
              <c:pt idx="5">
                <c:v>2023</c:v>
              </c:pt>
            </c:numLit>
          </c:cat>
          <c:val>
            <c:numRef>
              <c:f>Private!$B$22:$G$22</c:f>
              <c:numCache>
                <c:formatCode>General</c:formatCode>
                <c:ptCount val="6"/>
                <c:pt idx="0">
                  <c:v>0.63</c:v>
                </c:pt>
                <c:pt idx="1">
                  <c:v>0.72</c:v>
                </c:pt>
                <c:pt idx="2">
                  <c:v>0.62</c:v>
                </c:pt>
                <c:pt idx="3">
                  <c:v>0.7</c:v>
                </c:pt>
                <c:pt idx="4">
                  <c:v>0.64</c:v>
                </c:pt>
                <c:pt idx="5">
                  <c:v>0.4</c:v>
                </c:pt>
              </c:numCache>
            </c:numRef>
          </c:val>
          <c:smooth val="0"/>
          <c:extLst>
            <c:ext xmlns:c16="http://schemas.microsoft.com/office/drawing/2014/chart" uri="{C3380CC4-5D6E-409C-BE32-E72D297353CC}">
              <c16:uniqueId val="{00000004-7864-D74C-8E7A-2D88A239393D}"/>
            </c:ext>
          </c:extLst>
        </c:ser>
        <c:ser>
          <c:idx val="11"/>
          <c:order val="5"/>
          <c:tx>
            <c:v>YES</c:v>
          </c:tx>
          <c:cat>
            <c:numLit>
              <c:formatCode>General</c:formatCode>
              <c:ptCount val="6"/>
              <c:pt idx="0">
                <c:v>2018</c:v>
              </c:pt>
              <c:pt idx="1">
                <c:v>2019</c:v>
              </c:pt>
              <c:pt idx="2">
                <c:v>2020</c:v>
              </c:pt>
              <c:pt idx="3">
                <c:v>2021</c:v>
              </c:pt>
              <c:pt idx="4">
                <c:v>2022</c:v>
              </c:pt>
              <c:pt idx="5">
                <c:v>2023</c:v>
              </c:pt>
            </c:numLit>
          </c:cat>
          <c:val>
            <c:numRef>
              <c:f>Private!$J$22:$O$22</c:f>
              <c:numCache>
                <c:formatCode>General</c:formatCode>
                <c:ptCount val="6"/>
                <c:pt idx="0">
                  <c:v>7</c:v>
                </c:pt>
                <c:pt idx="1">
                  <c:v>8.1999999999999993</c:v>
                </c:pt>
                <c:pt idx="2">
                  <c:v>6.6</c:v>
                </c:pt>
                <c:pt idx="3">
                  <c:v>5.5</c:v>
                </c:pt>
                <c:pt idx="4">
                  <c:v>4.2</c:v>
                </c:pt>
                <c:pt idx="5">
                  <c:v>3.6</c:v>
                </c:pt>
              </c:numCache>
            </c:numRef>
          </c:val>
          <c:smooth val="0"/>
          <c:extLst>
            <c:ext xmlns:c16="http://schemas.microsoft.com/office/drawing/2014/chart" uri="{C3380CC4-5D6E-409C-BE32-E72D297353CC}">
              <c16:uniqueId val="{00000005-7864-D74C-8E7A-2D88A239393D}"/>
            </c:ext>
          </c:extLst>
        </c:ser>
        <c:dLbls>
          <c:showLegendKey val="0"/>
          <c:showVal val="0"/>
          <c:showCatName val="0"/>
          <c:showSerName val="0"/>
          <c:showPercent val="0"/>
          <c:showBubbleSize val="0"/>
        </c:dLbls>
        <c:marker val="1"/>
        <c:smooth val="0"/>
        <c:axId val="1193674832"/>
        <c:axId val="1193664752"/>
      </c:lineChart>
      <c:catAx>
        <c:axId val="119367483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Year</a:t>
                </a:r>
              </a:p>
            </c:rich>
          </c:tx>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3664752"/>
        <c:crosses val="autoZero"/>
        <c:auto val="1"/>
        <c:lblAlgn val="ctr"/>
        <c:lblOffset val="100"/>
        <c:noMultiLvlLbl val="0"/>
      </c:catAx>
      <c:valAx>
        <c:axId val="1193664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NPA</a:t>
                </a:r>
              </a:p>
            </c:rich>
          </c:tx>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3674832"/>
        <c:crosses val="autoZero"/>
        <c:crossBetween val="between"/>
      </c:valAx>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LTD</a:t>
            </a:r>
          </a:p>
        </c:rich>
      </c:tx>
      <c:overlay val="0"/>
      <c:spPr>
        <a:noFill/>
        <a:ln>
          <a:noFill/>
        </a:ln>
        <a:effectLst/>
      </c:spPr>
    </c:title>
    <c:autoTitleDeleted val="0"/>
    <c:plotArea>
      <c:layout/>
      <c:lineChart>
        <c:grouping val="standard"/>
        <c:varyColors val="0"/>
        <c:ser>
          <c:idx val="6"/>
          <c:order val="0"/>
          <c:tx>
            <c:v>HDFC</c:v>
          </c:tx>
          <c:cat>
            <c:numLit>
              <c:formatCode>General</c:formatCode>
              <c:ptCount val="6"/>
              <c:pt idx="0">
                <c:v>2018</c:v>
              </c:pt>
              <c:pt idx="1">
                <c:v>2019</c:v>
              </c:pt>
              <c:pt idx="2">
                <c:v>2020</c:v>
              </c:pt>
              <c:pt idx="3">
                <c:v>2021</c:v>
              </c:pt>
              <c:pt idx="4">
                <c:v>2022</c:v>
              </c:pt>
              <c:pt idx="5">
                <c:v>2023</c:v>
              </c:pt>
            </c:numLit>
          </c:cat>
          <c:val>
            <c:numRef>
              <c:f>Private!$B$7:$G$7</c:f>
              <c:numCache>
                <c:formatCode>General</c:formatCode>
                <c:ptCount val="6"/>
                <c:pt idx="0">
                  <c:v>84.2</c:v>
                </c:pt>
                <c:pt idx="1">
                  <c:v>85.1</c:v>
                </c:pt>
                <c:pt idx="2">
                  <c:v>86.6</c:v>
                </c:pt>
                <c:pt idx="3">
                  <c:v>84.8</c:v>
                </c:pt>
                <c:pt idx="4">
                  <c:v>85.4</c:v>
                </c:pt>
                <c:pt idx="5">
                  <c:v>82.9</c:v>
                </c:pt>
              </c:numCache>
            </c:numRef>
          </c:val>
          <c:smooth val="0"/>
          <c:extLst>
            <c:ext xmlns:c16="http://schemas.microsoft.com/office/drawing/2014/chart" uri="{C3380CC4-5D6E-409C-BE32-E72D297353CC}">
              <c16:uniqueId val="{00000000-052A-2140-B48C-1C81B0EC89CA}"/>
            </c:ext>
          </c:extLst>
        </c:ser>
        <c:ser>
          <c:idx val="7"/>
          <c:order val="1"/>
          <c:tx>
            <c:v>ICICI</c:v>
          </c:tx>
          <c:marker>
            <c:spPr>
              <a:solidFill>
                <a:schemeClr val="accent2"/>
              </a:solidFill>
              <a:ln w="9525">
                <a:solidFill>
                  <a:schemeClr val="accent2"/>
                </a:solidFill>
              </a:ln>
              <a:effectLst/>
            </c:spPr>
          </c:marker>
          <c:cat>
            <c:numLit>
              <c:formatCode>General</c:formatCode>
              <c:ptCount val="6"/>
              <c:pt idx="0">
                <c:v>2018</c:v>
              </c:pt>
              <c:pt idx="1">
                <c:v>2019</c:v>
              </c:pt>
              <c:pt idx="2">
                <c:v>2020</c:v>
              </c:pt>
              <c:pt idx="3">
                <c:v>2021</c:v>
              </c:pt>
              <c:pt idx="4">
                <c:v>2022</c:v>
              </c:pt>
              <c:pt idx="5">
                <c:v>2023</c:v>
              </c:pt>
            </c:numLit>
          </c:cat>
          <c:val>
            <c:numRef>
              <c:f>Private!$J$7:$O$7</c:f>
              <c:numCache>
                <c:formatCode>General</c:formatCode>
                <c:ptCount val="6"/>
                <c:pt idx="0">
                  <c:v>68.150000000000006</c:v>
                </c:pt>
                <c:pt idx="1">
                  <c:v>67.89</c:v>
                </c:pt>
                <c:pt idx="2">
                  <c:v>67.099999999999994</c:v>
                </c:pt>
                <c:pt idx="3">
                  <c:v>71.97</c:v>
                </c:pt>
                <c:pt idx="4">
                  <c:v>75.48</c:v>
                </c:pt>
                <c:pt idx="5">
                  <c:v>83.06</c:v>
                </c:pt>
              </c:numCache>
            </c:numRef>
          </c:val>
          <c:smooth val="0"/>
          <c:extLst>
            <c:ext xmlns:c16="http://schemas.microsoft.com/office/drawing/2014/chart" uri="{C3380CC4-5D6E-409C-BE32-E72D297353CC}">
              <c16:uniqueId val="{00000001-052A-2140-B48C-1C81B0EC89CA}"/>
            </c:ext>
          </c:extLst>
        </c:ser>
        <c:ser>
          <c:idx val="8"/>
          <c:order val="2"/>
          <c:tx>
            <c:v>AXIS</c:v>
          </c:tx>
          <c:marker>
            <c:spPr>
              <a:solidFill>
                <a:schemeClr val="accent3"/>
              </a:solidFill>
              <a:ln w="9525">
                <a:solidFill>
                  <a:schemeClr val="accent3"/>
                </a:solidFill>
              </a:ln>
              <a:effectLst/>
            </c:spPr>
          </c:marker>
          <c:cat>
            <c:numLit>
              <c:formatCode>General</c:formatCode>
              <c:ptCount val="6"/>
              <c:pt idx="0">
                <c:v>2018</c:v>
              </c:pt>
              <c:pt idx="1">
                <c:v>2019</c:v>
              </c:pt>
              <c:pt idx="2">
                <c:v>2020</c:v>
              </c:pt>
              <c:pt idx="3">
                <c:v>2021</c:v>
              </c:pt>
              <c:pt idx="4">
                <c:v>2022</c:v>
              </c:pt>
              <c:pt idx="5">
                <c:v>2023</c:v>
              </c:pt>
            </c:numLit>
          </c:cat>
          <c:val>
            <c:numRef>
              <c:f>Private!$B$15:$G$15</c:f>
              <c:numCache>
                <c:formatCode>General</c:formatCode>
                <c:ptCount val="6"/>
                <c:pt idx="0">
                  <c:v>69.5</c:v>
                </c:pt>
                <c:pt idx="1">
                  <c:v>70.900000000000006</c:v>
                </c:pt>
                <c:pt idx="2">
                  <c:v>71.2</c:v>
                </c:pt>
                <c:pt idx="3">
                  <c:v>73.5</c:v>
                </c:pt>
                <c:pt idx="4">
                  <c:v>76.400000000000006</c:v>
                </c:pt>
                <c:pt idx="5">
                  <c:v>78.099999999999994</c:v>
                </c:pt>
              </c:numCache>
            </c:numRef>
          </c:val>
          <c:smooth val="0"/>
          <c:extLst>
            <c:ext xmlns:c16="http://schemas.microsoft.com/office/drawing/2014/chart" uri="{C3380CC4-5D6E-409C-BE32-E72D297353CC}">
              <c16:uniqueId val="{00000002-052A-2140-B48C-1C81B0EC89CA}"/>
            </c:ext>
          </c:extLst>
        </c:ser>
        <c:ser>
          <c:idx val="9"/>
          <c:order val="3"/>
          <c:tx>
            <c:v>INDUSLND</c:v>
          </c:tx>
          <c:marker>
            <c:spPr>
              <a:solidFill>
                <a:schemeClr val="accent4"/>
              </a:solidFill>
              <a:ln w="9525">
                <a:solidFill>
                  <a:schemeClr val="accent4"/>
                </a:solidFill>
              </a:ln>
              <a:effectLst/>
            </c:spPr>
          </c:marker>
          <c:cat>
            <c:numLit>
              <c:formatCode>General</c:formatCode>
              <c:ptCount val="6"/>
              <c:pt idx="0">
                <c:v>2018</c:v>
              </c:pt>
              <c:pt idx="1">
                <c:v>2019</c:v>
              </c:pt>
              <c:pt idx="2">
                <c:v>2020</c:v>
              </c:pt>
              <c:pt idx="3">
                <c:v>2021</c:v>
              </c:pt>
              <c:pt idx="4">
                <c:v>2022</c:v>
              </c:pt>
              <c:pt idx="5">
                <c:v>2023</c:v>
              </c:pt>
            </c:numLit>
          </c:cat>
          <c:val>
            <c:numRef>
              <c:f>Private!$J$15:$O$15</c:f>
              <c:numCache>
                <c:formatCode>General</c:formatCode>
                <c:ptCount val="6"/>
                <c:pt idx="0">
                  <c:v>68.13</c:v>
                </c:pt>
                <c:pt idx="1">
                  <c:v>67.89</c:v>
                </c:pt>
                <c:pt idx="2">
                  <c:v>67.09</c:v>
                </c:pt>
                <c:pt idx="3">
                  <c:v>72.08</c:v>
                </c:pt>
                <c:pt idx="4">
                  <c:v>75.44</c:v>
                </c:pt>
                <c:pt idx="5">
                  <c:v>82.97</c:v>
                </c:pt>
              </c:numCache>
            </c:numRef>
          </c:val>
          <c:smooth val="0"/>
          <c:extLst>
            <c:ext xmlns:c16="http://schemas.microsoft.com/office/drawing/2014/chart" uri="{C3380CC4-5D6E-409C-BE32-E72D297353CC}">
              <c16:uniqueId val="{00000003-052A-2140-B48C-1C81B0EC89CA}"/>
            </c:ext>
          </c:extLst>
        </c:ser>
        <c:ser>
          <c:idx val="10"/>
          <c:order val="4"/>
          <c:tx>
            <c:v>KOTAK</c:v>
          </c:tx>
          <c:marker>
            <c:spPr>
              <a:solidFill>
                <a:schemeClr val="accent5"/>
              </a:solidFill>
              <a:ln w="9525">
                <a:solidFill>
                  <a:schemeClr val="accent5"/>
                </a:solidFill>
              </a:ln>
              <a:effectLst/>
            </c:spPr>
          </c:marker>
          <c:cat>
            <c:numLit>
              <c:formatCode>General</c:formatCode>
              <c:ptCount val="6"/>
              <c:pt idx="0">
                <c:v>2018</c:v>
              </c:pt>
              <c:pt idx="1">
                <c:v>2019</c:v>
              </c:pt>
              <c:pt idx="2">
                <c:v>2020</c:v>
              </c:pt>
              <c:pt idx="3">
                <c:v>2021</c:v>
              </c:pt>
              <c:pt idx="4">
                <c:v>2022</c:v>
              </c:pt>
              <c:pt idx="5">
                <c:v>2023</c:v>
              </c:pt>
            </c:numLit>
          </c:cat>
          <c:val>
            <c:numRef>
              <c:f>Private!$B$23:$G$23</c:f>
              <c:numCache>
                <c:formatCode>General</c:formatCode>
                <c:ptCount val="6"/>
                <c:pt idx="0">
                  <c:v>55.71</c:v>
                </c:pt>
                <c:pt idx="1">
                  <c:v>53.86</c:v>
                </c:pt>
                <c:pt idx="2">
                  <c:v>51.48</c:v>
                </c:pt>
                <c:pt idx="3">
                  <c:v>48</c:v>
                </c:pt>
                <c:pt idx="4">
                  <c:v>46.5</c:v>
                </c:pt>
                <c:pt idx="5">
                  <c:v>45.5</c:v>
                </c:pt>
              </c:numCache>
            </c:numRef>
          </c:val>
          <c:smooth val="0"/>
          <c:extLst>
            <c:ext xmlns:c16="http://schemas.microsoft.com/office/drawing/2014/chart" uri="{C3380CC4-5D6E-409C-BE32-E72D297353CC}">
              <c16:uniqueId val="{00000004-052A-2140-B48C-1C81B0EC89CA}"/>
            </c:ext>
          </c:extLst>
        </c:ser>
        <c:ser>
          <c:idx val="11"/>
          <c:order val="5"/>
          <c:tx>
            <c:v>YES</c:v>
          </c:tx>
          <c:marker>
            <c:spPr>
              <a:solidFill>
                <a:schemeClr val="accent6"/>
              </a:solidFill>
              <a:ln w="9525">
                <a:solidFill>
                  <a:schemeClr val="accent6"/>
                </a:solidFill>
              </a:ln>
              <a:effectLst/>
            </c:spPr>
          </c:marker>
          <c:cat>
            <c:numLit>
              <c:formatCode>General</c:formatCode>
              <c:ptCount val="6"/>
              <c:pt idx="0">
                <c:v>2018</c:v>
              </c:pt>
              <c:pt idx="1">
                <c:v>2019</c:v>
              </c:pt>
              <c:pt idx="2">
                <c:v>2020</c:v>
              </c:pt>
              <c:pt idx="3">
                <c:v>2021</c:v>
              </c:pt>
              <c:pt idx="4">
                <c:v>2022</c:v>
              </c:pt>
              <c:pt idx="5">
                <c:v>2023</c:v>
              </c:pt>
            </c:numLit>
          </c:cat>
          <c:val>
            <c:numRef>
              <c:f>Private!$J$23:$O$23</c:f>
              <c:numCache>
                <c:formatCode>General</c:formatCode>
                <c:ptCount val="6"/>
                <c:pt idx="0">
                  <c:v>68.010000000000005</c:v>
                </c:pt>
                <c:pt idx="1">
                  <c:v>68.7</c:v>
                </c:pt>
                <c:pt idx="2">
                  <c:v>68.3</c:v>
                </c:pt>
                <c:pt idx="3">
                  <c:v>66.86</c:v>
                </c:pt>
                <c:pt idx="4">
                  <c:v>66.760000000000005</c:v>
                </c:pt>
                <c:pt idx="5">
                  <c:v>68.239999999999995</c:v>
                </c:pt>
              </c:numCache>
            </c:numRef>
          </c:val>
          <c:smooth val="0"/>
          <c:extLst>
            <c:ext xmlns:c16="http://schemas.microsoft.com/office/drawing/2014/chart" uri="{C3380CC4-5D6E-409C-BE32-E72D297353CC}">
              <c16:uniqueId val="{00000005-052A-2140-B48C-1C81B0EC89CA}"/>
            </c:ext>
          </c:extLst>
        </c:ser>
        <c:dLbls>
          <c:showLegendKey val="0"/>
          <c:showVal val="0"/>
          <c:showCatName val="0"/>
          <c:showSerName val="0"/>
          <c:showPercent val="0"/>
          <c:showBubbleSize val="0"/>
        </c:dLbls>
        <c:marker val="1"/>
        <c:smooth val="0"/>
        <c:axId val="1193674832"/>
        <c:axId val="1193664752"/>
      </c:lineChart>
      <c:catAx>
        <c:axId val="119367483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Year</a:t>
                </a:r>
              </a:p>
            </c:rich>
          </c:tx>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3664752"/>
        <c:crosses val="autoZero"/>
        <c:auto val="1"/>
        <c:lblAlgn val="ctr"/>
        <c:lblOffset val="100"/>
        <c:noMultiLvlLbl val="0"/>
      </c:catAx>
      <c:valAx>
        <c:axId val="1193664752"/>
        <c:scaling>
          <c:orientation val="minMax"/>
          <c:min val="4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LTD</a:t>
                </a:r>
              </a:p>
            </c:rich>
          </c:tx>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3674832"/>
        <c:crosses val="autoZero"/>
        <c:crossBetween val="between"/>
      </c:valAx>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NPA</a:t>
            </a:r>
          </a:p>
        </c:rich>
      </c:tx>
      <c:overlay val="0"/>
      <c:spPr>
        <a:noFill/>
        <a:ln>
          <a:noFill/>
        </a:ln>
        <a:effectLst/>
      </c:spPr>
    </c:title>
    <c:autoTitleDeleted val="0"/>
    <c:plotArea>
      <c:layout/>
      <c:lineChart>
        <c:grouping val="standard"/>
        <c:varyColors val="0"/>
        <c:ser>
          <c:idx val="6"/>
          <c:order val="0"/>
          <c:tx>
            <c:v>SBI</c:v>
          </c:tx>
          <c:cat>
            <c:numLit>
              <c:formatCode>General</c:formatCode>
              <c:ptCount val="6"/>
              <c:pt idx="0">
                <c:v>2018</c:v>
              </c:pt>
              <c:pt idx="1">
                <c:v>2019</c:v>
              </c:pt>
              <c:pt idx="2">
                <c:v>2020</c:v>
              </c:pt>
              <c:pt idx="3">
                <c:v>2021</c:v>
              </c:pt>
              <c:pt idx="4">
                <c:v>2022</c:v>
              </c:pt>
              <c:pt idx="5">
                <c:v>2023</c:v>
              </c:pt>
            </c:numLit>
          </c:cat>
          <c:val>
            <c:numRef>
              <c:f>Public!$B$6:$G$6</c:f>
              <c:numCache>
                <c:formatCode>General</c:formatCode>
                <c:ptCount val="6"/>
                <c:pt idx="0">
                  <c:v>2.23</c:v>
                </c:pt>
                <c:pt idx="1">
                  <c:v>2.0499999999999998</c:v>
                </c:pt>
                <c:pt idx="2">
                  <c:v>1.4</c:v>
                </c:pt>
                <c:pt idx="3">
                  <c:v>0.37</c:v>
                </c:pt>
                <c:pt idx="4">
                  <c:v>0.52</c:v>
                </c:pt>
                <c:pt idx="5">
                  <c:v>0.64</c:v>
                </c:pt>
              </c:numCache>
            </c:numRef>
          </c:val>
          <c:smooth val="0"/>
          <c:extLst>
            <c:ext xmlns:c16="http://schemas.microsoft.com/office/drawing/2014/chart" uri="{C3380CC4-5D6E-409C-BE32-E72D297353CC}">
              <c16:uniqueId val="{00000000-F278-9D49-B6B2-DF74DB6347A8}"/>
            </c:ext>
          </c:extLst>
        </c:ser>
        <c:ser>
          <c:idx val="7"/>
          <c:order val="1"/>
          <c:tx>
            <c:v>UBOI</c:v>
          </c:tx>
          <c:cat>
            <c:numLit>
              <c:formatCode>General</c:formatCode>
              <c:ptCount val="6"/>
              <c:pt idx="0">
                <c:v>2018</c:v>
              </c:pt>
              <c:pt idx="1">
                <c:v>2019</c:v>
              </c:pt>
              <c:pt idx="2">
                <c:v>2020</c:v>
              </c:pt>
              <c:pt idx="3">
                <c:v>2021</c:v>
              </c:pt>
              <c:pt idx="4">
                <c:v>2022</c:v>
              </c:pt>
              <c:pt idx="5">
                <c:v>2023</c:v>
              </c:pt>
            </c:numLit>
          </c:cat>
          <c:val>
            <c:numRef>
              <c:f>Public!$J$6:$O$6</c:f>
              <c:numCache>
                <c:formatCode>General</c:formatCode>
                <c:ptCount val="6"/>
                <c:pt idx="0">
                  <c:v>2.54</c:v>
                </c:pt>
                <c:pt idx="1">
                  <c:v>2.64</c:v>
                </c:pt>
                <c:pt idx="2">
                  <c:v>2.14</c:v>
                </c:pt>
                <c:pt idx="3">
                  <c:v>1.7</c:v>
                </c:pt>
                <c:pt idx="4">
                  <c:v>1.58</c:v>
                </c:pt>
                <c:pt idx="5">
                  <c:v>1.3</c:v>
                </c:pt>
              </c:numCache>
            </c:numRef>
          </c:val>
          <c:smooth val="0"/>
          <c:extLst>
            <c:ext xmlns:c16="http://schemas.microsoft.com/office/drawing/2014/chart" uri="{C3380CC4-5D6E-409C-BE32-E72D297353CC}">
              <c16:uniqueId val="{00000001-F278-9D49-B6B2-DF74DB6347A8}"/>
            </c:ext>
          </c:extLst>
        </c:ser>
        <c:ser>
          <c:idx val="8"/>
          <c:order val="2"/>
          <c:tx>
            <c:v>PNB</c:v>
          </c:tx>
          <c:cat>
            <c:numLit>
              <c:formatCode>General</c:formatCode>
              <c:ptCount val="6"/>
              <c:pt idx="0">
                <c:v>2018</c:v>
              </c:pt>
              <c:pt idx="1">
                <c:v>2019</c:v>
              </c:pt>
              <c:pt idx="2">
                <c:v>2020</c:v>
              </c:pt>
              <c:pt idx="3">
                <c:v>2021</c:v>
              </c:pt>
              <c:pt idx="4">
                <c:v>2022</c:v>
              </c:pt>
              <c:pt idx="5">
                <c:v>2023</c:v>
              </c:pt>
            </c:numLit>
          </c:cat>
          <c:val>
            <c:numRef>
              <c:f>Public!$B$14:$G$14</c:f>
              <c:numCache>
                <c:formatCode>General</c:formatCode>
                <c:ptCount val="6"/>
                <c:pt idx="0">
                  <c:v>6.61</c:v>
                </c:pt>
                <c:pt idx="1">
                  <c:v>6.29</c:v>
                </c:pt>
                <c:pt idx="2">
                  <c:v>5.09</c:v>
                </c:pt>
                <c:pt idx="3">
                  <c:v>3.73</c:v>
                </c:pt>
                <c:pt idx="4">
                  <c:v>2.72</c:v>
                </c:pt>
                <c:pt idx="5">
                  <c:v>1.47</c:v>
                </c:pt>
              </c:numCache>
            </c:numRef>
          </c:val>
          <c:smooth val="0"/>
          <c:extLst>
            <c:ext xmlns:c16="http://schemas.microsoft.com/office/drawing/2014/chart" uri="{C3380CC4-5D6E-409C-BE32-E72D297353CC}">
              <c16:uniqueId val="{00000002-F278-9D49-B6B2-DF74DB6347A8}"/>
            </c:ext>
          </c:extLst>
        </c:ser>
        <c:ser>
          <c:idx val="9"/>
          <c:order val="3"/>
          <c:tx>
            <c:v>BOI</c:v>
          </c:tx>
          <c:cat>
            <c:numLit>
              <c:formatCode>General</c:formatCode>
              <c:ptCount val="6"/>
              <c:pt idx="0">
                <c:v>2018</c:v>
              </c:pt>
              <c:pt idx="1">
                <c:v>2019</c:v>
              </c:pt>
              <c:pt idx="2">
                <c:v>2020</c:v>
              </c:pt>
              <c:pt idx="3">
                <c:v>2021</c:v>
              </c:pt>
              <c:pt idx="4">
                <c:v>2022</c:v>
              </c:pt>
              <c:pt idx="5">
                <c:v>2023</c:v>
              </c:pt>
            </c:numLit>
          </c:cat>
          <c:val>
            <c:numRef>
              <c:f>Public!$J$14:$O$14</c:f>
              <c:numCache>
                <c:formatCode>General</c:formatCode>
                <c:ptCount val="6"/>
                <c:pt idx="0">
                  <c:v>5.17</c:v>
                </c:pt>
                <c:pt idx="1">
                  <c:v>4.62</c:v>
                </c:pt>
                <c:pt idx="2">
                  <c:v>4.2</c:v>
                </c:pt>
                <c:pt idx="3">
                  <c:v>3.53</c:v>
                </c:pt>
                <c:pt idx="4">
                  <c:v>2.5299999999999998</c:v>
                </c:pt>
                <c:pt idx="5">
                  <c:v>2.0499999999999998</c:v>
                </c:pt>
              </c:numCache>
            </c:numRef>
          </c:val>
          <c:smooth val="0"/>
          <c:extLst>
            <c:ext xmlns:c16="http://schemas.microsoft.com/office/drawing/2014/chart" uri="{C3380CC4-5D6E-409C-BE32-E72D297353CC}">
              <c16:uniqueId val="{00000003-F278-9D49-B6B2-DF74DB6347A8}"/>
            </c:ext>
          </c:extLst>
        </c:ser>
        <c:ser>
          <c:idx val="10"/>
          <c:order val="4"/>
          <c:tx>
            <c:v>BOB</c:v>
          </c:tx>
          <c:cat>
            <c:numLit>
              <c:formatCode>General</c:formatCode>
              <c:ptCount val="6"/>
              <c:pt idx="0">
                <c:v>2018</c:v>
              </c:pt>
              <c:pt idx="1">
                <c:v>2019</c:v>
              </c:pt>
              <c:pt idx="2">
                <c:v>2020</c:v>
              </c:pt>
              <c:pt idx="3">
                <c:v>2021</c:v>
              </c:pt>
              <c:pt idx="4">
                <c:v>2022</c:v>
              </c:pt>
              <c:pt idx="5">
                <c:v>2023</c:v>
              </c:pt>
            </c:numLit>
          </c:cat>
          <c:val>
            <c:numRef>
              <c:f>Public!$B$22:$G$22</c:f>
              <c:numCache>
                <c:formatCode>General</c:formatCode>
                <c:ptCount val="6"/>
                <c:pt idx="0">
                  <c:v>4.29</c:v>
                </c:pt>
                <c:pt idx="1">
                  <c:v>4.22</c:v>
                </c:pt>
                <c:pt idx="2">
                  <c:v>3.73</c:v>
                </c:pt>
                <c:pt idx="3">
                  <c:v>2.25</c:v>
                </c:pt>
                <c:pt idx="4">
                  <c:v>1.1599999999999999</c:v>
                </c:pt>
                <c:pt idx="5">
                  <c:v>0.76</c:v>
                </c:pt>
              </c:numCache>
            </c:numRef>
          </c:val>
          <c:smooth val="0"/>
          <c:extLst>
            <c:ext xmlns:c16="http://schemas.microsoft.com/office/drawing/2014/chart" uri="{C3380CC4-5D6E-409C-BE32-E72D297353CC}">
              <c16:uniqueId val="{00000004-F278-9D49-B6B2-DF74DB6347A8}"/>
            </c:ext>
          </c:extLst>
        </c:ser>
        <c:dLbls>
          <c:showLegendKey val="0"/>
          <c:showVal val="0"/>
          <c:showCatName val="0"/>
          <c:showSerName val="0"/>
          <c:showPercent val="0"/>
          <c:showBubbleSize val="0"/>
        </c:dLbls>
        <c:marker val="1"/>
        <c:smooth val="0"/>
        <c:axId val="1193674832"/>
        <c:axId val="1193664752"/>
      </c:lineChart>
      <c:catAx>
        <c:axId val="119367483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Year</a:t>
                </a:r>
              </a:p>
            </c:rich>
          </c:tx>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3664752"/>
        <c:crosses val="autoZero"/>
        <c:auto val="1"/>
        <c:lblAlgn val="ctr"/>
        <c:lblOffset val="100"/>
        <c:noMultiLvlLbl val="0"/>
      </c:catAx>
      <c:valAx>
        <c:axId val="1193664752"/>
        <c:scaling>
          <c:orientation val="minMax"/>
          <c:max val="7"/>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NPA</a:t>
                </a:r>
              </a:p>
            </c:rich>
          </c:tx>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3674832"/>
        <c:crosses val="autoZero"/>
        <c:crossBetween val="between"/>
      </c:valAx>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txPr>
    <a:bodyPr/>
    <a:lstStyle/>
    <a:p>
      <a:pP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LTD</a:t>
            </a:r>
          </a:p>
        </c:rich>
      </c:tx>
      <c:layout>
        <c:manualLayout>
          <c:xMode val="edge"/>
          <c:yMode val="edge"/>
          <c:x val="0.40468565113146493"/>
          <c:y val="4.1210250968805949E-2"/>
        </c:manualLayout>
      </c:layout>
      <c:overlay val="0"/>
      <c:spPr>
        <a:noFill/>
        <a:ln>
          <a:noFill/>
        </a:ln>
        <a:effectLst/>
      </c:spPr>
    </c:title>
    <c:autoTitleDeleted val="0"/>
    <c:plotArea>
      <c:layout/>
      <c:lineChart>
        <c:grouping val="standard"/>
        <c:varyColors val="0"/>
        <c:ser>
          <c:idx val="6"/>
          <c:order val="0"/>
          <c:tx>
            <c:v>SBI</c:v>
          </c:tx>
          <c:cat>
            <c:numLit>
              <c:formatCode>General</c:formatCode>
              <c:ptCount val="6"/>
              <c:pt idx="0">
                <c:v>2018</c:v>
              </c:pt>
              <c:pt idx="1">
                <c:v>2019</c:v>
              </c:pt>
              <c:pt idx="2">
                <c:v>2020</c:v>
              </c:pt>
              <c:pt idx="3">
                <c:v>2021</c:v>
              </c:pt>
              <c:pt idx="4">
                <c:v>2022</c:v>
              </c:pt>
              <c:pt idx="5">
                <c:v>2023</c:v>
              </c:pt>
            </c:numLit>
          </c:cat>
          <c:val>
            <c:numRef>
              <c:f>Public!$B$7:$G$7</c:f>
              <c:numCache>
                <c:formatCode>General</c:formatCode>
                <c:ptCount val="6"/>
                <c:pt idx="0">
                  <c:v>76.3</c:v>
                </c:pt>
                <c:pt idx="1">
                  <c:v>77.38</c:v>
                </c:pt>
                <c:pt idx="2">
                  <c:v>74.87</c:v>
                </c:pt>
                <c:pt idx="3">
                  <c:v>72.569999999999993</c:v>
                </c:pt>
                <c:pt idx="4">
                  <c:v>75.17</c:v>
                </c:pt>
                <c:pt idx="5">
                  <c:v>79.23</c:v>
                </c:pt>
              </c:numCache>
            </c:numRef>
          </c:val>
          <c:smooth val="0"/>
          <c:extLst>
            <c:ext xmlns:c16="http://schemas.microsoft.com/office/drawing/2014/chart" uri="{C3380CC4-5D6E-409C-BE32-E72D297353CC}">
              <c16:uniqueId val="{00000000-0F89-E64B-965F-6DEE7774C58F}"/>
            </c:ext>
          </c:extLst>
        </c:ser>
        <c:ser>
          <c:idx val="7"/>
          <c:order val="1"/>
          <c:tx>
            <c:v>UBOI</c:v>
          </c:tx>
          <c:cat>
            <c:numLit>
              <c:formatCode>General</c:formatCode>
              <c:ptCount val="6"/>
              <c:pt idx="0">
                <c:v>2018</c:v>
              </c:pt>
              <c:pt idx="1">
                <c:v>2019</c:v>
              </c:pt>
              <c:pt idx="2">
                <c:v>2020</c:v>
              </c:pt>
              <c:pt idx="3">
                <c:v>2021</c:v>
              </c:pt>
              <c:pt idx="4">
                <c:v>2022</c:v>
              </c:pt>
              <c:pt idx="5">
                <c:v>2023</c:v>
              </c:pt>
            </c:numLit>
          </c:cat>
          <c:val>
            <c:numRef>
              <c:f>Public!$J$7:$O$7</c:f>
              <c:numCache>
                <c:formatCode>General</c:formatCode>
                <c:ptCount val="6"/>
                <c:pt idx="0">
                  <c:v>68.13</c:v>
                </c:pt>
                <c:pt idx="1">
                  <c:v>67.89</c:v>
                </c:pt>
                <c:pt idx="2">
                  <c:v>67.09</c:v>
                </c:pt>
                <c:pt idx="3">
                  <c:v>72.08</c:v>
                </c:pt>
                <c:pt idx="4">
                  <c:v>75.44</c:v>
                </c:pt>
                <c:pt idx="5">
                  <c:v>82.97</c:v>
                </c:pt>
              </c:numCache>
            </c:numRef>
          </c:val>
          <c:smooth val="0"/>
          <c:extLst>
            <c:ext xmlns:c16="http://schemas.microsoft.com/office/drawing/2014/chart" uri="{C3380CC4-5D6E-409C-BE32-E72D297353CC}">
              <c16:uniqueId val="{00000001-0F89-E64B-965F-6DEE7774C58F}"/>
            </c:ext>
          </c:extLst>
        </c:ser>
        <c:ser>
          <c:idx val="8"/>
          <c:order val="2"/>
          <c:tx>
            <c:v>PNB</c:v>
          </c:tx>
          <c:cat>
            <c:numLit>
              <c:formatCode>General</c:formatCode>
              <c:ptCount val="6"/>
              <c:pt idx="0">
                <c:v>2018</c:v>
              </c:pt>
              <c:pt idx="1">
                <c:v>2019</c:v>
              </c:pt>
              <c:pt idx="2">
                <c:v>2020</c:v>
              </c:pt>
              <c:pt idx="3">
                <c:v>2021</c:v>
              </c:pt>
              <c:pt idx="4">
                <c:v>2022</c:v>
              </c:pt>
              <c:pt idx="5">
                <c:v>2023</c:v>
              </c:pt>
            </c:numLit>
          </c:cat>
          <c:val>
            <c:numRef>
              <c:f>Public!$B$15:$G$15</c:f>
              <c:numCache>
                <c:formatCode>General</c:formatCode>
                <c:ptCount val="6"/>
                <c:pt idx="0">
                  <c:v>79.3</c:v>
                </c:pt>
                <c:pt idx="1">
                  <c:v>82.71</c:v>
                </c:pt>
                <c:pt idx="2">
                  <c:v>83.12</c:v>
                </c:pt>
                <c:pt idx="3">
                  <c:v>83.6</c:v>
                </c:pt>
                <c:pt idx="4">
                  <c:v>86.8</c:v>
                </c:pt>
                <c:pt idx="5">
                  <c:v>89.22</c:v>
                </c:pt>
              </c:numCache>
            </c:numRef>
          </c:val>
          <c:smooth val="0"/>
          <c:extLst>
            <c:ext xmlns:c16="http://schemas.microsoft.com/office/drawing/2014/chart" uri="{C3380CC4-5D6E-409C-BE32-E72D297353CC}">
              <c16:uniqueId val="{00000002-0F89-E64B-965F-6DEE7774C58F}"/>
            </c:ext>
          </c:extLst>
        </c:ser>
        <c:ser>
          <c:idx val="9"/>
          <c:order val="3"/>
          <c:tx>
            <c:v>BOI</c:v>
          </c:tx>
          <c:cat>
            <c:numLit>
              <c:formatCode>General</c:formatCode>
              <c:ptCount val="6"/>
              <c:pt idx="0">
                <c:v>2018</c:v>
              </c:pt>
              <c:pt idx="1">
                <c:v>2019</c:v>
              </c:pt>
              <c:pt idx="2">
                <c:v>2020</c:v>
              </c:pt>
              <c:pt idx="3">
                <c:v>2021</c:v>
              </c:pt>
              <c:pt idx="4">
                <c:v>2022</c:v>
              </c:pt>
              <c:pt idx="5">
                <c:v>2023</c:v>
              </c:pt>
            </c:numLit>
          </c:cat>
          <c:val>
            <c:numRef>
              <c:f>Public!$J$15:$O$15</c:f>
              <c:numCache>
                <c:formatCode>General</c:formatCode>
                <c:ptCount val="6"/>
                <c:pt idx="0">
                  <c:v>55.56</c:v>
                </c:pt>
                <c:pt idx="1">
                  <c:v>59.14</c:v>
                </c:pt>
                <c:pt idx="2">
                  <c:v>59.7</c:v>
                </c:pt>
                <c:pt idx="3">
                  <c:v>65.760000000000005</c:v>
                </c:pt>
                <c:pt idx="4">
                  <c:v>72.78</c:v>
                </c:pt>
                <c:pt idx="5">
                  <c:v>76.8</c:v>
                </c:pt>
              </c:numCache>
            </c:numRef>
          </c:val>
          <c:smooth val="0"/>
          <c:extLst>
            <c:ext xmlns:c16="http://schemas.microsoft.com/office/drawing/2014/chart" uri="{C3380CC4-5D6E-409C-BE32-E72D297353CC}">
              <c16:uniqueId val="{00000003-0F89-E64B-965F-6DEE7774C58F}"/>
            </c:ext>
          </c:extLst>
        </c:ser>
        <c:ser>
          <c:idx val="10"/>
          <c:order val="4"/>
          <c:tx>
            <c:v>BOB</c:v>
          </c:tx>
          <c:cat>
            <c:numLit>
              <c:formatCode>General</c:formatCode>
              <c:ptCount val="6"/>
              <c:pt idx="0">
                <c:v>2018</c:v>
              </c:pt>
              <c:pt idx="1">
                <c:v>2019</c:v>
              </c:pt>
              <c:pt idx="2">
                <c:v>2020</c:v>
              </c:pt>
              <c:pt idx="3">
                <c:v>2021</c:v>
              </c:pt>
              <c:pt idx="4">
                <c:v>2022</c:v>
              </c:pt>
              <c:pt idx="5">
                <c:v>2023</c:v>
              </c:pt>
            </c:numLit>
          </c:cat>
          <c:val>
            <c:numRef>
              <c:f>Public!$B$23:$G$23</c:f>
              <c:numCache>
                <c:formatCode>General</c:formatCode>
                <c:ptCount val="6"/>
                <c:pt idx="0">
                  <c:v>68.13</c:v>
                </c:pt>
                <c:pt idx="1">
                  <c:v>67.89</c:v>
                </c:pt>
                <c:pt idx="2">
                  <c:v>67.09</c:v>
                </c:pt>
                <c:pt idx="3">
                  <c:v>72.08</c:v>
                </c:pt>
                <c:pt idx="4">
                  <c:v>75.44</c:v>
                </c:pt>
                <c:pt idx="5">
                  <c:v>82.97</c:v>
                </c:pt>
              </c:numCache>
            </c:numRef>
          </c:val>
          <c:smooth val="0"/>
          <c:extLst>
            <c:ext xmlns:c16="http://schemas.microsoft.com/office/drawing/2014/chart" uri="{C3380CC4-5D6E-409C-BE32-E72D297353CC}">
              <c16:uniqueId val="{00000004-0F89-E64B-965F-6DEE7774C58F}"/>
            </c:ext>
          </c:extLst>
        </c:ser>
        <c:dLbls>
          <c:showLegendKey val="0"/>
          <c:showVal val="0"/>
          <c:showCatName val="0"/>
          <c:showSerName val="0"/>
          <c:showPercent val="0"/>
          <c:showBubbleSize val="0"/>
        </c:dLbls>
        <c:marker val="1"/>
        <c:smooth val="0"/>
        <c:axId val="1193674832"/>
        <c:axId val="1193664752"/>
      </c:lineChart>
      <c:catAx>
        <c:axId val="119367483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Year</a:t>
                </a:r>
              </a:p>
            </c:rich>
          </c:tx>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3664752"/>
        <c:crosses val="autoZero"/>
        <c:auto val="1"/>
        <c:lblAlgn val="ctr"/>
        <c:lblOffset val="100"/>
        <c:noMultiLvlLbl val="0"/>
      </c:catAx>
      <c:valAx>
        <c:axId val="1193664752"/>
        <c:scaling>
          <c:orientation val="minMax"/>
          <c:max val="90"/>
          <c:min val="5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LTD</a:t>
                </a:r>
              </a:p>
            </c:rich>
          </c:tx>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3674832"/>
        <c:crosses val="autoZero"/>
        <c:crossBetween val="between"/>
      </c:valAx>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txPr>
    <a:bodyPr/>
    <a:lstStyle/>
    <a:p>
      <a:pP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56414" cy="465455"/>
          </a:xfrm>
          <a:prstGeom prst="rect">
            <a:avLst/>
          </a:prstGeom>
          <a:noFill/>
          <a:ln>
            <a:noFill/>
          </a:ln>
        </p:spPr>
        <p:txBody>
          <a:bodyPr spcFirstLastPara="1" wrap="square" lIns="93475" tIns="46725" rIns="93475" bIns="467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95217" y="0"/>
            <a:ext cx="3056414" cy="465455"/>
          </a:xfrm>
          <a:prstGeom prst="rect">
            <a:avLst/>
          </a:prstGeom>
          <a:noFill/>
          <a:ln>
            <a:noFill/>
          </a:ln>
        </p:spPr>
        <p:txBody>
          <a:bodyPr spcFirstLastPara="1" wrap="square" lIns="93475" tIns="46725" rIns="93475" bIns="467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25450"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5327" y="4421823"/>
            <a:ext cx="5642610" cy="4189095"/>
          </a:xfrm>
          <a:prstGeom prst="rect">
            <a:avLst/>
          </a:prstGeom>
          <a:noFill/>
          <a:ln>
            <a:noFill/>
          </a:ln>
        </p:spPr>
        <p:txBody>
          <a:bodyPr spcFirstLastPara="1" wrap="square" lIns="93475" tIns="46725" rIns="93475" bIns="46725"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42029"/>
            <a:ext cx="3056414" cy="465455"/>
          </a:xfrm>
          <a:prstGeom prst="rect">
            <a:avLst/>
          </a:prstGeom>
          <a:noFill/>
          <a:ln>
            <a:noFill/>
          </a:ln>
        </p:spPr>
        <p:txBody>
          <a:bodyPr spcFirstLastPara="1" wrap="square" lIns="93475" tIns="46725" rIns="93475" bIns="467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95217" y="8842029"/>
            <a:ext cx="3056414" cy="465455"/>
          </a:xfrm>
          <a:prstGeom prst="rect">
            <a:avLst/>
          </a:prstGeom>
          <a:noFill/>
          <a:ln>
            <a:noFill/>
          </a:ln>
        </p:spPr>
        <p:txBody>
          <a:bodyPr spcFirstLastPara="1" wrap="square" lIns="93475" tIns="46725" rIns="93475" bIns="46725"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1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DDF69-06FA-D3CD-1E16-46D9CC107B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D819403-83B0-7B2A-B4AA-3B11781DBA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11CA16C-59BD-BCE6-4D49-9F0B3FBA1FF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8330201-BF9B-8BDF-78BA-1DA9E21AD0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4D63E3-1408-773A-4BA1-BFECBBB12AB2}"/>
              </a:ext>
            </a:extLst>
          </p:cNvPr>
          <p:cNvSpPr>
            <a:spLocks noGrp="1"/>
          </p:cNvSpPr>
          <p:nvPr>
            <p:ph type="sldNum" sz="quarter" idx="12"/>
          </p:nvPr>
        </p:nvSpPr>
        <p:spPr/>
        <p:txBody>
          <a:bodyPr/>
          <a:lstStyle/>
          <a:p>
            <a:fld id="{9F89EB8C-861E-4B45-AD95-5BDD66AE18EA}" type="slidenum">
              <a:rPr lang="en-IN" smtClean="0"/>
              <a:t>‹#›</a:t>
            </a:fld>
            <a:endParaRPr lang="en-IN"/>
          </a:p>
        </p:txBody>
      </p:sp>
    </p:spTree>
    <p:extLst>
      <p:ext uri="{BB962C8B-B14F-4D97-AF65-F5344CB8AC3E}">
        <p14:creationId xmlns:p14="http://schemas.microsoft.com/office/powerpoint/2010/main" val="107574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13A9C-A523-37AD-E2F0-FDBA67B1DC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2E1A89-BF68-7540-09F1-45E2DE39AD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B8EC2C-141C-AE38-9775-5D7777F7D6D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8A354FD-869D-2786-335B-28D84A23C8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0A955D-B42E-E21B-D0A3-A77EB3796778}"/>
              </a:ext>
            </a:extLst>
          </p:cNvPr>
          <p:cNvSpPr>
            <a:spLocks noGrp="1"/>
          </p:cNvSpPr>
          <p:nvPr>
            <p:ph type="sldNum" sz="quarter" idx="12"/>
          </p:nvPr>
        </p:nvSpPr>
        <p:spPr/>
        <p:txBody>
          <a:bodyPr/>
          <a:lstStyle/>
          <a:p>
            <a:fld id="{9F89EB8C-861E-4B45-AD95-5BDD66AE18EA}" type="slidenum">
              <a:rPr lang="en-IN" smtClean="0"/>
              <a:t>‹#›</a:t>
            </a:fld>
            <a:endParaRPr lang="en-IN"/>
          </a:p>
        </p:txBody>
      </p:sp>
    </p:spTree>
    <p:extLst>
      <p:ext uri="{BB962C8B-B14F-4D97-AF65-F5344CB8AC3E}">
        <p14:creationId xmlns:p14="http://schemas.microsoft.com/office/powerpoint/2010/main" val="3886822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C39B9-7B7F-E109-9310-69D033346F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33F0926-4C4E-A782-A45A-4052803CAF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234C6E-85D7-3553-346D-14F74E964250}"/>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E7A01F4D-62C6-0364-217A-4B3957C5BA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67B56C-C334-9F38-45F0-85E75FD1DDA9}"/>
              </a:ext>
            </a:extLst>
          </p:cNvPr>
          <p:cNvSpPr>
            <a:spLocks noGrp="1"/>
          </p:cNvSpPr>
          <p:nvPr>
            <p:ph type="sldNum" sz="quarter" idx="12"/>
          </p:nvPr>
        </p:nvSpPr>
        <p:spPr/>
        <p:txBody>
          <a:bodyPr/>
          <a:lstStyle/>
          <a:p>
            <a:fld id="{9F89EB8C-861E-4B45-AD95-5BDD66AE18EA}" type="slidenum">
              <a:rPr lang="en-IN" smtClean="0"/>
              <a:t>‹#›</a:t>
            </a:fld>
            <a:endParaRPr lang="en-IN"/>
          </a:p>
        </p:txBody>
      </p:sp>
    </p:spTree>
    <p:extLst>
      <p:ext uri="{BB962C8B-B14F-4D97-AF65-F5344CB8AC3E}">
        <p14:creationId xmlns:p14="http://schemas.microsoft.com/office/powerpoint/2010/main" val="1363250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A16E7-6724-19CE-7BE1-67B670CF876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345CC49-6C9B-BDCC-3421-723837C59B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10C215-4449-A099-9D12-B2DECA5C2C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0F82D18-FA7E-2562-5606-09799FC7D3A5}"/>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EB858C56-7355-FAD3-3206-0A3F7DA28C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DC01E7-28A6-DCC2-AF37-B53237B80D1F}"/>
              </a:ext>
            </a:extLst>
          </p:cNvPr>
          <p:cNvSpPr>
            <a:spLocks noGrp="1"/>
          </p:cNvSpPr>
          <p:nvPr>
            <p:ph type="sldNum" sz="quarter" idx="12"/>
          </p:nvPr>
        </p:nvSpPr>
        <p:spPr/>
        <p:txBody>
          <a:bodyPr/>
          <a:lstStyle/>
          <a:p>
            <a:fld id="{9F89EB8C-861E-4B45-AD95-5BDD66AE18EA}" type="slidenum">
              <a:rPr lang="en-IN" smtClean="0"/>
              <a:t>‹#›</a:t>
            </a:fld>
            <a:endParaRPr lang="en-IN"/>
          </a:p>
        </p:txBody>
      </p:sp>
    </p:spTree>
    <p:extLst>
      <p:ext uri="{BB962C8B-B14F-4D97-AF65-F5344CB8AC3E}">
        <p14:creationId xmlns:p14="http://schemas.microsoft.com/office/powerpoint/2010/main" val="2329137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F10A1-833E-CA35-EB8C-0C4A80BC45C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4D56F24-4890-C31B-5798-F9379F3F21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B4E4A3-D9EA-A065-CF9F-1FD8393D33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C65B215-654B-241B-E3D7-83B0F7ACC1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27CD40-C449-62F4-CC56-FF8F6CEF46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AB80834-CE9A-5ACD-5E2F-AD8FCB8CDAC9}"/>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4F7F8FF9-1F7E-A2D1-CE8B-779EF9113A1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BE898D8-EAA9-F52F-DD05-60161B041985}"/>
              </a:ext>
            </a:extLst>
          </p:cNvPr>
          <p:cNvSpPr>
            <a:spLocks noGrp="1"/>
          </p:cNvSpPr>
          <p:nvPr>
            <p:ph type="sldNum" sz="quarter" idx="12"/>
          </p:nvPr>
        </p:nvSpPr>
        <p:spPr/>
        <p:txBody>
          <a:bodyPr/>
          <a:lstStyle/>
          <a:p>
            <a:fld id="{9F89EB8C-861E-4B45-AD95-5BDD66AE18EA}" type="slidenum">
              <a:rPr lang="en-IN" smtClean="0"/>
              <a:t>‹#›</a:t>
            </a:fld>
            <a:endParaRPr lang="en-IN"/>
          </a:p>
        </p:txBody>
      </p:sp>
    </p:spTree>
    <p:extLst>
      <p:ext uri="{BB962C8B-B14F-4D97-AF65-F5344CB8AC3E}">
        <p14:creationId xmlns:p14="http://schemas.microsoft.com/office/powerpoint/2010/main" val="553392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77955-9004-8DFE-07E2-0BA0A30A0E2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7B8E464-733F-4880-55F6-7060592C678F}"/>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4AA49E61-3CC4-773B-2CEB-B59C49635FC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6A973E0-C140-400C-0855-F3FDC22C5C36}"/>
              </a:ext>
            </a:extLst>
          </p:cNvPr>
          <p:cNvSpPr>
            <a:spLocks noGrp="1"/>
          </p:cNvSpPr>
          <p:nvPr>
            <p:ph type="sldNum" sz="quarter" idx="12"/>
          </p:nvPr>
        </p:nvSpPr>
        <p:spPr/>
        <p:txBody>
          <a:bodyPr/>
          <a:lstStyle/>
          <a:p>
            <a:fld id="{9F89EB8C-861E-4B45-AD95-5BDD66AE18EA}" type="slidenum">
              <a:rPr lang="en-IN" smtClean="0"/>
              <a:t>‹#›</a:t>
            </a:fld>
            <a:endParaRPr lang="en-IN"/>
          </a:p>
        </p:txBody>
      </p:sp>
    </p:spTree>
    <p:extLst>
      <p:ext uri="{BB962C8B-B14F-4D97-AF65-F5344CB8AC3E}">
        <p14:creationId xmlns:p14="http://schemas.microsoft.com/office/powerpoint/2010/main" val="2786843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70E6EA-9FDB-08CA-D65B-F532A54515B8}"/>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9B1E9E8B-18CE-D440-F661-BFCF2637181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D99E14D-7E5B-1BEA-6903-5F6267C95EBE}"/>
              </a:ext>
            </a:extLst>
          </p:cNvPr>
          <p:cNvSpPr>
            <a:spLocks noGrp="1"/>
          </p:cNvSpPr>
          <p:nvPr>
            <p:ph type="sldNum" sz="quarter" idx="12"/>
          </p:nvPr>
        </p:nvSpPr>
        <p:spPr/>
        <p:txBody>
          <a:bodyPr/>
          <a:lstStyle/>
          <a:p>
            <a:fld id="{9F89EB8C-861E-4B45-AD95-5BDD66AE18EA}" type="slidenum">
              <a:rPr lang="en-IN" smtClean="0"/>
              <a:t>‹#›</a:t>
            </a:fld>
            <a:endParaRPr lang="en-IN"/>
          </a:p>
        </p:txBody>
      </p:sp>
    </p:spTree>
    <p:extLst>
      <p:ext uri="{BB962C8B-B14F-4D97-AF65-F5344CB8AC3E}">
        <p14:creationId xmlns:p14="http://schemas.microsoft.com/office/powerpoint/2010/main" val="1325783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11500-792E-1B4E-3602-18B3A1256B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9E87036-1FAC-68FE-E6B4-4D8C68A2A9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65E07CA-DDB1-2B68-C879-D1DC38F8A4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C88AF1-919C-C1F1-02F8-2311916DA479}"/>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07800C56-4055-6E27-2B0D-B1E5B4E7C5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F1B537-644F-1B0B-44E0-3B56674CA74F}"/>
              </a:ext>
            </a:extLst>
          </p:cNvPr>
          <p:cNvSpPr>
            <a:spLocks noGrp="1"/>
          </p:cNvSpPr>
          <p:nvPr>
            <p:ph type="sldNum" sz="quarter" idx="12"/>
          </p:nvPr>
        </p:nvSpPr>
        <p:spPr/>
        <p:txBody>
          <a:bodyPr/>
          <a:lstStyle/>
          <a:p>
            <a:fld id="{9F89EB8C-861E-4B45-AD95-5BDD66AE18EA}" type="slidenum">
              <a:rPr lang="en-IN" smtClean="0"/>
              <a:t>‹#›</a:t>
            </a:fld>
            <a:endParaRPr lang="en-IN"/>
          </a:p>
        </p:txBody>
      </p:sp>
    </p:spTree>
    <p:extLst>
      <p:ext uri="{BB962C8B-B14F-4D97-AF65-F5344CB8AC3E}">
        <p14:creationId xmlns:p14="http://schemas.microsoft.com/office/powerpoint/2010/main" val="15517752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27368-DB65-A7AB-FAA6-9C45CF291B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7C20979-DC6F-89D2-C35D-DA47B94ED3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7939FE9-D8B1-8752-40B1-659B02E7D5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34C787-5A6F-F796-812B-D3734566B273}"/>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C84BEA12-C66F-F4A8-3FFF-FC1D1548CA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687CA2-6589-FBD6-67B6-A77BCE4FAD22}"/>
              </a:ext>
            </a:extLst>
          </p:cNvPr>
          <p:cNvSpPr>
            <a:spLocks noGrp="1"/>
          </p:cNvSpPr>
          <p:nvPr>
            <p:ph type="sldNum" sz="quarter" idx="12"/>
          </p:nvPr>
        </p:nvSpPr>
        <p:spPr/>
        <p:txBody>
          <a:bodyPr/>
          <a:lstStyle/>
          <a:p>
            <a:fld id="{9F89EB8C-861E-4B45-AD95-5BDD66AE18EA}" type="slidenum">
              <a:rPr lang="en-IN" smtClean="0"/>
              <a:t>‹#›</a:t>
            </a:fld>
            <a:endParaRPr lang="en-IN"/>
          </a:p>
        </p:txBody>
      </p:sp>
    </p:spTree>
    <p:extLst>
      <p:ext uri="{BB962C8B-B14F-4D97-AF65-F5344CB8AC3E}">
        <p14:creationId xmlns:p14="http://schemas.microsoft.com/office/powerpoint/2010/main" val="3016131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426A7-0F8A-929B-9AEF-D586C003E8F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224EF7C-7D5D-695B-D0A1-9BD3231975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F413F6-312F-8DAA-5E59-F9DDC75114AF}"/>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69B0B0D4-CB9B-3BED-B7FF-D54AFA68B0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FB53A0-B516-F7C8-8DFB-05175CAC63E8}"/>
              </a:ext>
            </a:extLst>
          </p:cNvPr>
          <p:cNvSpPr>
            <a:spLocks noGrp="1"/>
          </p:cNvSpPr>
          <p:nvPr>
            <p:ph type="sldNum" sz="quarter" idx="12"/>
          </p:nvPr>
        </p:nvSpPr>
        <p:spPr/>
        <p:txBody>
          <a:bodyPr/>
          <a:lstStyle/>
          <a:p>
            <a:fld id="{9F89EB8C-861E-4B45-AD95-5BDD66AE18EA}" type="slidenum">
              <a:rPr lang="en-IN" smtClean="0"/>
              <a:t>‹#›</a:t>
            </a:fld>
            <a:endParaRPr lang="en-IN"/>
          </a:p>
        </p:txBody>
      </p:sp>
    </p:spTree>
    <p:extLst>
      <p:ext uri="{BB962C8B-B14F-4D97-AF65-F5344CB8AC3E}">
        <p14:creationId xmlns:p14="http://schemas.microsoft.com/office/powerpoint/2010/main" val="32658018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705A99-273C-4B42-F42C-533562B12E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1BCCC1-3024-367F-2DF5-08C90BD3FC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B989C9-546A-0BAE-C69D-EB49C7DA4306}"/>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F1A363E4-0976-3E71-06D6-6442D517AF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0F35C8-6EE9-62C4-DAA2-FE127A6C6CAD}"/>
              </a:ext>
            </a:extLst>
          </p:cNvPr>
          <p:cNvSpPr>
            <a:spLocks noGrp="1"/>
          </p:cNvSpPr>
          <p:nvPr>
            <p:ph type="sldNum" sz="quarter" idx="12"/>
          </p:nvPr>
        </p:nvSpPr>
        <p:spPr/>
        <p:txBody>
          <a:bodyPr/>
          <a:lstStyle/>
          <a:p>
            <a:fld id="{9F89EB8C-861E-4B45-AD95-5BDD66AE18EA}" type="slidenum">
              <a:rPr lang="en-IN" smtClean="0"/>
              <a:t>‹#›</a:t>
            </a:fld>
            <a:endParaRPr lang="en-IN"/>
          </a:p>
        </p:txBody>
      </p:sp>
    </p:spTree>
    <p:extLst>
      <p:ext uri="{BB962C8B-B14F-4D97-AF65-F5344CB8AC3E}">
        <p14:creationId xmlns:p14="http://schemas.microsoft.com/office/powerpoint/2010/main" val="20697062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4" name="Rectangle 3">
            <a:extLst>
              <a:ext uri="{FF2B5EF4-FFF2-40B4-BE49-F238E27FC236}">
                <a16:creationId xmlns:a16="http://schemas.microsoft.com/office/drawing/2014/main" id="{5E8DDDBF-9BE6-48C5-9D12-8C3F9AB7EB7C}"/>
              </a:ext>
            </a:extLst>
          </p:cNvPr>
          <p:cNvSpPr/>
          <p:nvPr userDrawn="1"/>
        </p:nvSpPr>
        <p:spPr>
          <a:xfrm>
            <a:off x="-1" y="-1"/>
            <a:ext cx="12192001" cy="687973"/>
          </a:xfrm>
          <a:prstGeom prst="rect">
            <a:avLst/>
          </a:prstGeom>
          <a:solidFill>
            <a:srgbClr val="D223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6" name="Google Shape;16;p5"/>
          <p:cNvPicPr preferRelativeResize="0"/>
          <p:nvPr/>
        </p:nvPicPr>
        <p:blipFill rotWithShape="1">
          <a:blip r:embed="rId3">
            <a:alphaModFix/>
          </a:blip>
          <a:srcRect l="42706" t="40069" r="5529" b="25769"/>
          <a:stretch/>
        </p:blipFill>
        <p:spPr>
          <a:xfrm>
            <a:off x="2400885" y="440479"/>
            <a:ext cx="2365211" cy="433768"/>
          </a:xfrm>
          <a:prstGeom prst="rect">
            <a:avLst/>
          </a:prstGeom>
          <a:noFill/>
          <a:ln>
            <a:noFill/>
          </a:ln>
        </p:spPr>
      </p:pic>
      <p:pic>
        <p:nvPicPr>
          <p:cNvPr id="17" name="Google Shape;17;p5"/>
          <p:cNvPicPr preferRelativeResize="0"/>
          <p:nvPr/>
        </p:nvPicPr>
        <p:blipFill rotWithShape="1">
          <a:blip r:embed="rId4">
            <a:alphaModFix/>
          </a:blip>
          <a:srcRect/>
          <a:stretch/>
        </p:blipFill>
        <p:spPr>
          <a:xfrm>
            <a:off x="-175628" y="171588"/>
            <a:ext cx="5153025" cy="971550"/>
          </a:xfrm>
          <a:prstGeom prst="roundRect">
            <a:avLst>
              <a:gd name="adj" fmla="val 16667"/>
            </a:avLst>
          </a:prstGeom>
          <a:noFill/>
          <a:ln>
            <a:noFill/>
          </a:ln>
          <a:effectLst>
            <a:outerShdw blurRad="76200" dist="38100" dir="7800000" algn="tl" rotWithShape="0">
              <a:srgbClr val="000000">
                <a:alpha val="40000"/>
              </a:srgbClr>
            </a:outerShdw>
          </a:effectLst>
        </p:spPr>
      </p:pic>
      <p:pic>
        <p:nvPicPr>
          <p:cNvPr id="2" name="Picture 1">
            <a:extLst>
              <a:ext uri="{FF2B5EF4-FFF2-40B4-BE49-F238E27FC236}">
                <a16:creationId xmlns:a16="http://schemas.microsoft.com/office/drawing/2014/main" id="{EB89498D-79EC-5F99-6754-110F476AB9C2}"/>
              </a:ext>
            </a:extLst>
          </p:cNvPr>
          <p:cNvPicPr>
            <a:picLocks noChangeAspect="1"/>
          </p:cNvPicPr>
          <p:nvPr userDrawn="1"/>
        </p:nvPicPr>
        <p:blipFill rotWithShape="1">
          <a:blip r:embed="rId5"/>
          <a:srcRect l="36355" t="33190" r="4570" b="31652"/>
          <a:stretch/>
        </p:blipFill>
        <p:spPr>
          <a:xfrm>
            <a:off x="1727467" y="409868"/>
            <a:ext cx="3211830" cy="494989"/>
          </a:xfrm>
          <a:prstGeom prst="rect">
            <a:avLst/>
          </a:prstGeom>
        </p:spPr>
      </p:pic>
      <p:sp>
        <p:nvSpPr>
          <p:cNvPr id="3" name="Rectangle 2">
            <a:extLst>
              <a:ext uri="{FF2B5EF4-FFF2-40B4-BE49-F238E27FC236}">
                <a16:creationId xmlns:a16="http://schemas.microsoft.com/office/drawing/2014/main" id="{236C891C-76E8-8AB0-9B36-D47B795C38E4}"/>
              </a:ext>
            </a:extLst>
          </p:cNvPr>
          <p:cNvSpPr/>
          <p:nvPr userDrawn="1"/>
        </p:nvSpPr>
        <p:spPr>
          <a:xfrm>
            <a:off x="-697523" y="6748130"/>
            <a:ext cx="13587046" cy="281458"/>
          </a:xfrm>
          <a:prstGeom prst="rect">
            <a:avLst/>
          </a:prstGeom>
          <a:solidFill>
            <a:srgbClr val="D223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49" r:id="rId1"/>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DDCB11-0078-B0B3-BB83-322DA97E0A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A3D701E-A9CA-1D62-FE6D-1A369B057C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78D848-4AA5-32B7-0EA6-7911AA0ED7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917511D8-667E-1A1B-F0C9-3AF60ACFDD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739949E-B773-136B-167D-B8E8734794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89EB8C-861E-4B45-AD95-5BDD66AE18EA}" type="slidenum">
              <a:rPr lang="en-IN" smtClean="0"/>
              <a:t>‹#›</a:t>
            </a:fld>
            <a:endParaRPr lang="en-IN"/>
          </a:p>
        </p:txBody>
      </p:sp>
    </p:spTree>
    <p:extLst>
      <p:ext uri="{BB962C8B-B14F-4D97-AF65-F5344CB8AC3E}">
        <p14:creationId xmlns:p14="http://schemas.microsoft.com/office/powerpoint/2010/main" val="2892146565"/>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bfsi.economictimes.indiatimes.com/news/banking/indian-banking-health-fortified-by-low-npas-capital-adequacy-and-liquidity-buffers-rbi/101362139" TargetMode="External"/><Relationship Id="rId2" Type="http://schemas.openxmlformats.org/officeDocument/2006/relationships/hyperlink" Target="https://gh.bmj.com/content/3/Suppl_1/e000597" TargetMode="External"/><Relationship Id="rId1" Type="http://schemas.openxmlformats.org/officeDocument/2006/relationships/slideLayout" Target="../slideLayouts/slideLayout1.xml"/><Relationship Id="rId4" Type="http://schemas.openxmlformats.org/officeDocument/2006/relationships/hyperlink" Target="https://doi.org/10.1155/2022/8103510"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392F64D-F3A1-DB8B-D0F8-E5D9CE962288}"/>
              </a:ext>
            </a:extLst>
          </p:cNvPr>
          <p:cNvSpPr txBox="1"/>
          <p:nvPr/>
        </p:nvSpPr>
        <p:spPr>
          <a:xfrm>
            <a:off x="2545976" y="1869141"/>
            <a:ext cx="7100048" cy="2339102"/>
          </a:xfrm>
          <a:prstGeom prst="rect">
            <a:avLst/>
          </a:prstGeom>
          <a:noFill/>
        </p:spPr>
        <p:txBody>
          <a:bodyPr wrap="square" rtlCol="0">
            <a:spAutoFit/>
          </a:bodyPr>
          <a:lstStyle/>
          <a:p>
            <a:pPr algn="ctr"/>
            <a:r>
              <a:rPr lang="en-US" sz="4400" b="1" dirty="0">
                <a:solidFill>
                  <a:schemeClr val="tx1"/>
                </a:solidFill>
                <a:latin typeface="Athelas" panose="02000503000000020003" pitchFamily="2" charset="77"/>
              </a:rPr>
              <a:t>Health of Banking in India Private and public banks</a:t>
            </a:r>
          </a:p>
          <a:p>
            <a:pPr algn="ctr"/>
            <a:endParaRPr lang="en-IN" sz="4400" b="1" dirty="0">
              <a:solidFill>
                <a:schemeClr val="tx1"/>
              </a:solidFill>
              <a:latin typeface="Athelas" panose="02000503000000020003" pitchFamily="2" charset="77"/>
              <a:cs typeface="Times New Roman" panose="02020603050405020304" pitchFamily="18" charset="0"/>
            </a:endParaRPr>
          </a:p>
          <a:p>
            <a:endParaRPr lang="en-US" dirty="0"/>
          </a:p>
        </p:txBody>
      </p:sp>
      <p:sp>
        <p:nvSpPr>
          <p:cNvPr id="6" name="TextBox 5">
            <a:extLst>
              <a:ext uri="{FF2B5EF4-FFF2-40B4-BE49-F238E27FC236}">
                <a16:creationId xmlns:a16="http://schemas.microsoft.com/office/drawing/2014/main" id="{F870AA4E-021F-AB55-4205-36D12D09D3E2}"/>
              </a:ext>
            </a:extLst>
          </p:cNvPr>
          <p:cNvSpPr txBox="1"/>
          <p:nvPr/>
        </p:nvSpPr>
        <p:spPr>
          <a:xfrm>
            <a:off x="4334435" y="3989755"/>
            <a:ext cx="3218329" cy="1701171"/>
          </a:xfrm>
          <a:prstGeom prst="rect">
            <a:avLst/>
          </a:prstGeom>
          <a:noFill/>
        </p:spPr>
        <p:txBody>
          <a:bodyPr wrap="square" rtlCol="0">
            <a:spAutoFit/>
          </a:bodyPr>
          <a:lstStyle/>
          <a:p>
            <a:pPr marL="0" lvl="0" indent="0" algn="ctr" rtl="0">
              <a:lnSpc>
                <a:spcPct val="120000"/>
              </a:lnSpc>
              <a:spcBef>
                <a:spcPts val="336"/>
              </a:spcBef>
              <a:spcAft>
                <a:spcPts val="0"/>
              </a:spcAft>
              <a:buClr>
                <a:schemeClr val="dk1"/>
              </a:buClr>
              <a:buSzPct val="100000"/>
              <a:buNone/>
            </a:pPr>
            <a:r>
              <a:rPr lang="en-IN" sz="1600" dirty="0">
                <a:solidFill>
                  <a:schemeClr val="tx1"/>
                </a:solidFill>
              </a:rPr>
              <a:t>Shivan Bhura - A001</a:t>
            </a:r>
          </a:p>
          <a:p>
            <a:pPr marL="0" lvl="0" indent="0" algn="ctr" rtl="0">
              <a:lnSpc>
                <a:spcPct val="120000"/>
              </a:lnSpc>
              <a:spcBef>
                <a:spcPts val="336"/>
              </a:spcBef>
              <a:spcAft>
                <a:spcPts val="0"/>
              </a:spcAft>
              <a:buClr>
                <a:schemeClr val="dk1"/>
              </a:buClr>
              <a:buSzPct val="100000"/>
              <a:buNone/>
            </a:pPr>
            <a:r>
              <a:rPr lang="en-US" sz="1600" dirty="0">
                <a:solidFill>
                  <a:schemeClr val="dk1"/>
                </a:solidFill>
                <a:sym typeface="Times New Roman"/>
              </a:rPr>
              <a:t>Taksh Mathur- A011</a:t>
            </a:r>
          </a:p>
          <a:p>
            <a:pPr marL="0" lvl="0" indent="0" algn="ctr" rtl="0">
              <a:lnSpc>
                <a:spcPct val="120000"/>
              </a:lnSpc>
              <a:spcBef>
                <a:spcPts val="336"/>
              </a:spcBef>
              <a:spcAft>
                <a:spcPts val="0"/>
              </a:spcAft>
              <a:buClr>
                <a:schemeClr val="dk1"/>
              </a:buClr>
              <a:buSzPct val="100000"/>
              <a:buNone/>
            </a:pPr>
            <a:r>
              <a:rPr lang="en-US" sz="1600" dirty="0">
                <a:solidFill>
                  <a:schemeClr val="dk1"/>
                </a:solidFill>
                <a:sym typeface="Times New Roman"/>
              </a:rPr>
              <a:t>Krishi Awasthi - A020</a:t>
            </a:r>
          </a:p>
          <a:p>
            <a:pPr marL="0" lvl="0" indent="0" algn="ctr" rtl="0">
              <a:lnSpc>
                <a:spcPct val="120000"/>
              </a:lnSpc>
              <a:spcBef>
                <a:spcPts val="336"/>
              </a:spcBef>
              <a:spcAft>
                <a:spcPts val="0"/>
              </a:spcAft>
              <a:buClr>
                <a:schemeClr val="dk1"/>
              </a:buClr>
              <a:buSzPct val="100000"/>
              <a:buNone/>
            </a:pPr>
            <a:r>
              <a:rPr lang="en-US" sz="1600" dirty="0">
                <a:solidFill>
                  <a:schemeClr val="dk1"/>
                </a:solidFill>
                <a:sym typeface="Times New Roman"/>
              </a:rPr>
              <a:t>Sanat Mishra- A041</a:t>
            </a:r>
            <a:endParaRPr lang="en-US" sz="1100" dirty="0"/>
          </a:p>
          <a:p>
            <a:pPr marL="0" lvl="0" indent="0" algn="ctr" rtl="0">
              <a:lnSpc>
                <a:spcPct val="120000"/>
              </a:lnSpc>
              <a:spcBef>
                <a:spcPts val="336"/>
              </a:spcBef>
              <a:spcAft>
                <a:spcPts val="0"/>
              </a:spcAft>
              <a:buClr>
                <a:schemeClr val="dk1"/>
              </a:buClr>
              <a:buSzPct val="100000"/>
              <a:buNone/>
            </a:pPr>
            <a:r>
              <a:rPr lang="en-US" sz="1600" dirty="0">
                <a:solidFill>
                  <a:schemeClr val="dk1"/>
                </a:solidFill>
                <a:sym typeface="Times New Roman"/>
              </a:rPr>
              <a:t>Smridhi Sachdev - A047</a:t>
            </a:r>
            <a:endParaRPr lang="en-US" sz="1000" dirty="0">
              <a:latin typeface="Athelas" panose="02000503000000020003" pitchFamily="2" charset="77"/>
            </a:endParaRPr>
          </a:p>
        </p:txBody>
      </p:sp>
    </p:spTree>
    <p:extLst>
      <p:ext uri="{BB962C8B-B14F-4D97-AF65-F5344CB8AC3E}">
        <p14:creationId xmlns:p14="http://schemas.microsoft.com/office/powerpoint/2010/main" val="104325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94BD00-F594-3ED5-F9A2-820B49AFDC55}"/>
              </a:ext>
            </a:extLst>
          </p:cNvPr>
          <p:cNvSpPr txBox="1"/>
          <p:nvPr/>
        </p:nvSpPr>
        <p:spPr>
          <a:xfrm>
            <a:off x="955416" y="1182762"/>
            <a:ext cx="3550023" cy="461665"/>
          </a:xfrm>
          <a:prstGeom prst="rect">
            <a:avLst/>
          </a:prstGeom>
          <a:noFill/>
        </p:spPr>
        <p:txBody>
          <a:bodyPr wrap="square" rtlCol="0">
            <a:spAutoFit/>
          </a:bodyPr>
          <a:lstStyle/>
          <a:p>
            <a:r>
              <a:rPr lang="en-US" sz="2400" b="1" dirty="0">
                <a:latin typeface="Athelas" panose="02000503000000020003" pitchFamily="2" charset="77"/>
              </a:rPr>
              <a:t>Index</a:t>
            </a:r>
          </a:p>
        </p:txBody>
      </p:sp>
      <p:graphicFrame>
        <p:nvGraphicFramePr>
          <p:cNvPr id="3" name="Table 2">
            <a:extLst>
              <a:ext uri="{FF2B5EF4-FFF2-40B4-BE49-F238E27FC236}">
                <a16:creationId xmlns:a16="http://schemas.microsoft.com/office/drawing/2014/main" id="{3C349B00-6DCF-C7A3-C8EA-BBD956915A1C}"/>
              </a:ext>
            </a:extLst>
          </p:cNvPr>
          <p:cNvGraphicFramePr>
            <a:graphicFrameLocks noGrp="1"/>
          </p:cNvGraphicFramePr>
          <p:nvPr>
            <p:extLst>
              <p:ext uri="{D42A27DB-BD31-4B8C-83A1-F6EECF244321}">
                <p14:modId xmlns:p14="http://schemas.microsoft.com/office/powerpoint/2010/main" val="461855720"/>
              </p:ext>
            </p:extLst>
          </p:nvPr>
        </p:nvGraphicFramePr>
        <p:xfrm>
          <a:off x="955416" y="1738556"/>
          <a:ext cx="10100236" cy="4284619"/>
        </p:xfrm>
        <a:graphic>
          <a:graphicData uri="http://schemas.openxmlformats.org/drawingml/2006/table">
            <a:tbl>
              <a:tblPr firstRow="1" bandRow="1">
                <a:tableStyleId>{5DA37D80-6434-44D0-A028-1B22A696006F}</a:tableStyleId>
              </a:tblPr>
              <a:tblGrid>
                <a:gridCol w="5050118">
                  <a:extLst>
                    <a:ext uri="{9D8B030D-6E8A-4147-A177-3AD203B41FA5}">
                      <a16:colId xmlns:a16="http://schemas.microsoft.com/office/drawing/2014/main" val="3386365618"/>
                    </a:ext>
                  </a:extLst>
                </a:gridCol>
                <a:gridCol w="5050118">
                  <a:extLst>
                    <a:ext uri="{9D8B030D-6E8A-4147-A177-3AD203B41FA5}">
                      <a16:colId xmlns:a16="http://schemas.microsoft.com/office/drawing/2014/main" val="1880676795"/>
                    </a:ext>
                  </a:extLst>
                </a:gridCol>
              </a:tblGrid>
              <a:tr h="602942">
                <a:tc>
                  <a:txBody>
                    <a:bodyPr/>
                    <a:lstStyle/>
                    <a:p>
                      <a:pPr algn="ctr">
                        <a:lnSpc>
                          <a:spcPct val="150000"/>
                        </a:lnSpc>
                      </a:pPr>
                      <a:r>
                        <a:rPr lang="en-US" sz="2400" b="0" dirty="0">
                          <a:latin typeface="+mn-lt"/>
                        </a:rPr>
                        <a:t>1. Introduction</a:t>
                      </a:r>
                      <a:endParaRPr lang="en-US" sz="2400" b="0" i="0" dirty="0">
                        <a:latin typeface="+mn-lt"/>
                      </a:endParaRPr>
                    </a:p>
                  </a:txBody>
                  <a:tcPr/>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400" b="0" i="0" dirty="0">
                          <a:latin typeface="+mn-lt"/>
                        </a:rPr>
                        <a:t>8. Comparative Analysis</a:t>
                      </a:r>
                    </a:p>
                  </a:txBody>
                  <a:tcPr/>
                </a:tc>
                <a:extLst>
                  <a:ext uri="{0D108BD9-81ED-4DB2-BD59-A6C34878D82A}">
                    <a16:rowId xmlns:a16="http://schemas.microsoft.com/office/drawing/2014/main" val="4261801745"/>
                  </a:ext>
                </a:extLst>
              </a:tr>
              <a:tr h="1085572">
                <a:tc>
                  <a:txBody>
                    <a:bodyPr/>
                    <a:lstStyle/>
                    <a:p>
                      <a:pPr algn="ctr">
                        <a:lnSpc>
                          <a:spcPct val="150000"/>
                        </a:lnSpc>
                      </a:pPr>
                      <a:r>
                        <a:rPr lang="en-US" sz="2400" b="0" dirty="0">
                          <a:latin typeface="+mn-lt"/>
                        </a:rPr>
                        <a:t>2. Role of hypothesis testing in Banking Industry</a:t>
                      </a:r>
                      <a:endParaRPr lang="en-US" sz="2400" b="0" i="0" dirty="0">
                        <a:latin typeface="+mn-lt"/>
                      </a:endParaRPr>
                    </a:p>
                  </a:txBody>
                  <a:tcPr/>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400" b="0" dirty="0">
                          <a:latin typeface="+mn-lt"/>
                        </a:rPr>
                        <a:t>9. Test and their formulas</a:t>
                      </a:r>
                    </a:p>
                  </a:txBody>
                  <a:tcPr anchor="ctr"/>
                </a:tc>
                <a:extLst>
                  <a:ext uri="{0D108BD9-81ED-4DB2-BD59-A6C34878D82A}">
                    <a16:rowId xmlns:a16="http://schemas.microsoft.com/office/drawing/2014/main" val="381688689"/>
                  </a:ext>
                </a:extLst>
              </a:tr>
              <a:tr h="751949">
                <a:tc>
                  <a:txBody>
                    <a:bodyPr/>
                    <a:lstStyle/>
                    <a:p>
                      <a:pPr algn="ctr">
                        <a:lnSpc>
                          <a:spcPct val="150000"/>
                        </a:lnSpc>
                      </a:pPr>
                      <a:r>
                        <a:rPr lang="en-US" sz="2400" b="0" dirty="0">
                          <a:latin typeface="+mn-lt"/>
                        </a:rPr>
                        <a:t>3. Literature Review</a:t>
                      </a:r>
                    </a:p>
                  </a:txBody>
                  <a:tcPr/>
                </a:tc>
                <a:tc>
                  <a:txBody>
                    <a:bodyPr/>
                    <a:lstStyle/>
                    <a:p>
                      <a:pPr algn="ctr">
                        <a:lnSpc>
                          <a:spcPct val="150000"/>
                        </a:lnSpc>
                      </a:pPr>
                      <a:r>
                        <a:rPr lang="en-US" sz="2400" b="0" dirty="0">
                          <a:latin typeface="+mn-lt"/>
                        </a:rPr>
                        <a:t>10. Hypothesis Testing</a:t>
                      </a:r>
                    </a:p>
                  </a:txBody>
                  <a:tcPr/>
                </a:tc>
                <a:extLst>
                  <a:ext uri="{0D108BD9-81ED-4DB2-BD59-A6C34878D82A}">
                    <a16:rowId xmlns:a16="http://schemas.microsoft.com/office/drawing/2014/main" val="722270367"/>
                  </a:ext>
                </a:extLst>
              </a:tr>
              <a:tr h="602942">
                <a:tc>
                  <a:txBody>
                    <a:bodyPr/>
                    <a:lstStyle/>
                    <a:p>
                      <a:pPr algn="ctr">
                        <a:lnSpc>
                          <a:spcPct val="150000"/>
                        </a:lnSpc>
                      </a:pPr>
                      <a:r>
                        <a:rPr lang="en-US" sz="2400" b="0" dirty="0">
                          <a:latin typeface="+mn-lt"/>
                        </a:rPr>
                        <a:t>4. Objectives</a:t>
                      </a:r>
                      <a:endParaRPr lang="en-US" sz="2400" b="0" i="0" dirty="0">
                        <a:latin typeface="+mn-lt"/>
                      </a:endParaRPr>
                    </a:p>
                  </a:txBody>
                  <a:tcPr/>
                </a:tc>
                <a:tc>
                  <a:txBody>
                    <a:bodyPr/>
                    <a:lstStyle/>
                    <a:p>
                      <a:pPr algn="ctr">
                        <a:lnSpc>
                          <a:spcPct val="150000"/>
                        </a:lnSpc>
                      </a:pPr>
                      <a:r>
                        <a:rPr lang="en-US" sz="2400" b="0" dirty="0">
                          <a:latin typeface="+mn-lt"/>
                        </a:rPr>
                        <a:t>11. Conclusion</a:t>
                      </a:r>
                      <a:endParaRPr lang="en-US" sz="2400" b="0" i="0" dirty="0">
                        <a:latin typeface="+mn-lt"/>
                      </a:endParaRPr>
                    </a:p>
                  </a:txBody>
                  <a:tcPr/>
                </a:tc>
                <a:extLst>
                  <a:ext uri="{0D108BD9-81ED-4DB2-BD59-A6C34878D82A}">
                    <a16:rowId xmlns:a16="http://schemas.microsoft.com/office/drawing/2014/main" val="2780375565"/>
                  </a:ext>
                </a:extLst>
              </a:tr>
              <a:tr h="602942">
                <a:tc>
                  <a:txBody>
                    <a:bodyPr/>
                    <a:lstStyle/>
                    <a:p>
                      <a:pPr algn="ctr">
                        <a:lnSpc>
                          <a:spcPct val="150000"/>
                        </a:lnSpc>
                      </a:pPr>
                      <a:r>
                        <a:rPr lang="en-US" sz="2400" b="0" dirty="0">
                          <a:latin typeface="+mn-lt"/>
                        </a:rPr>
                        <a:t>5. Ratios</a:t>
                      </a:r>
                      <a:endParaRPr lang="en-US" sz="2400" b="0" i="0" dirty="0">
                        <a:latin typeface="+mn-lt"/>
                      </a:endParaRPr>
                    </a:p>
                  </a:txBody>
                  <a:tcPr/>
                </a:tc>
                <a:tc>
                  <a:txBody>
                    <a:bodyPr/>
                    <a:lstStyle/>
                    <a:p>
                      <a:pPr algn="ctr">
                        <a:lnSpc>
                          <a:spcPct val="150000"/>
                        </a:lnSpc>
                      </a:pPr>
                      <a:r>
                        <a:rPr lang="en-US" sz="2400" b="0" dirty="0">
                          <a:latin typeface="+mn-lt"/>
                        </a:rPr>
                        <a:t>12. Limitation </a:t>
                      </a:r>
                      <a:endParaRPr lang="en-US" sz="2400" b="0" i="0" dirty="0">
                        <a:latin typeface="+mn-lt"/>
                      </a:endParaRPr>
                    </a:p>
                  </a:txBody>
                  <a:tcPr/>
                </a:tc>
                <a:extLst>
                  <a:ext uri="{0D108BD9-81ED-4DB2-BD59-A6C34878D82A}">
                    <a16:rowId xmlns:a16="http://schemas.microsoft.com/office/drawing/2014/main" val="149543815"/>
                  </a:ext>
                </a:extLst>
              </a:tr>
              <a:tr h="602942">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400" b="0" dirty="0">
                          <a:latin typeface="+mn-lt"/>
                        </a:rPr>
                        <a:t>6. Dataset</a:t>
                      </a:r>
                      <a:endParaRPr lang="en-US" sz="2400" b="0" i="0" dirty="0">
                        <a:latin typeface="+mn-lt"/>
                      </a:endParaRPr>
                    </a:p>
                  </a:txBody>
                  <a:tcPr/>
                </a:tc>
                <a:tc>
                  <a:txBody>
                    <a:bodyPr/>
                    <a:lstStyle/>
                    <a:p>
                      <a:pPr algn="ctr">
                        <a:lnSpc>
                          <a:spcPct val="150000"/>
                        </a:lnSpc>
                      </a:pPr>
                      <a:r>
                        <a:rPr lang="en-US" sz="2400" b="0" i="0" dirty="0">
                          <a:latin typeface="+mn-lt"/>
                        </a:rPr>
                        <a:t>13. Bibliography</a:t>
                      </a:r>
                    </a:p>
                  </a:txBody>
                  <a:tcPr/>
                </a:tc>
                <a:extLst>
                  <a:ext uri="{0D108BD9-81ED-4DB2-BD59-A6C34878D82A}">
                    <a16:rowId xmlns:a16="http://schemas.microsoft.com/office/drawing/2014/main" val="416411053"/>
                  </a:ext>
                </a:extLst>
              </a:tr>
            </a:tbl>
          </a:graphicData>
        </a:graphic>
      </p:graphicFrame>
      <p:graphicFrame>
        <p:nvGraphicFramePr>
          <p:cNvPr id="4" name="Table 3">
            <a:extLst>
              <a:ext uri="{FF2B5EF4-FFF2-40B4-BE49-F238E27FC236}">
                <a16:creationId xmlns:a16="http://schemas.microsoft.com/office/drawing/2014/main" id="{C2A2E0C2-03A6-4232-4233-80D953B6CD95}"/>
              </a:ext>
            </a:extLst>
          </p:cNvPr>
          <p:cNvGraphicFramePr>
            <a:graphicFrameLocks noGrp="1"/>
          </p:cNvGraphicFramePr>
          <p:nvPr>
            <p:extLst>
              <p:ext uri="{D42A27DB-BD31-4B8C-83A1-F6EECF244321}">
                <p14:modId xmlns:p14="http://schemas.microsoft.com/office/powerpoint/2010/main" val="841681039"/>
              </p:ext>
            </p:extLst>
          </p:nvPr>
        </p:nvGraphicFramePr>
        <p:xfrm>
          <a:off x="955416" y="6023175"/>
          <a:ext cx="10100236" cy="574270"/>
        </p:xfrm>
        <a:graphic>
          <a:graphicData uri="http://schemas.openxmlformats.org/drawingml/2006/table">
            <a:tbl>
              <a:tblPr firstRow="1" bandRow="1">
                <a:tableStyleId>{5DA37D80-6434-44D0-A028-1B22A696006F}</a:tableStyleId>
              </a:tblPr>
              <a:tblGrid>
                <a:gridCol w="5050118">
                  <a:extLst>
                    <a:ext uri="{9D8B030D-6E8A-4147-A177-3AD203B41FA5}">
                      <a16:colId xmlns:a16="http://schemas.microsoft.com/office/drawing/2014/main" val="280686524"/>
                    </a:ext>
                  </a:extLst>
                </a:gridCol>
                <a:gridCol w="5050118">
                  <a:extLst>
                    <a:ext uri="{9D8B030D-6E8A-4147-A177-3AD203B41FA5}">
                      <a16:colId xmlns:a16="http://schemas.microsoft.com/office/drawing/2014/main" val="2890721531"/>
                    </a:ext>
                  </a:extLst>
                </a:gridCol>
              </a:tblGrid>
              <a:tr h="574270">
                <a:tc>
                  <a:txBody>
                    <a:bodyPr/>
                    <a:lstStyle/>
                    <a:p>
                      <a:pPr algn="ctr"/>
                      <a:r>
                        <a:rPr lang="en-IN" sz="2400" b="0" dirty="0"/>
                        <a:t>7.</a:t>
                      </a:r>
                      <a:r>
                        <a:rPr lang="en-US" sz="2400" b="0" dirty="0">
                          <a:latin typeface="+mn-lt"/>
                        </a:rPr>
                        <a:t> Descriptive Analysis</a:t>
                      </a:r>
                      <a:endParaRPr lang="en-IN" sz="2400" b="0" dirty="0"/>
                    </a:p>
                  </a:txBody>
                  <a:tcPr/>
                </a:tc>
                <a:tc>
                  <a:txBody>
                    <a:bodyPr/>
                    <a:lstStyle/>
                    <a:p>
                      <a:endParaRPr lang="en-IN" dirty="0"/>
                    </a:p>
                  </a:txBody>
                  <a:tcPr/>
                </a:tc>
                <a:extLst>
                  <a:ext uri="{0D108BD9-81ED-4DB2-BD59-A6C34878D82A}">
                    <a16:rowId xmlns:a16="http://schemas.microsoft.com/office/drawing/2014/main" val="3510245134"/>
                  </a:ext>
                </a:extLst>
              </a:tr>
            </a:tbl>
          </a:graphicData>
        </a:graphic>
      </p:graphicFrame>
    </p:spTree>
    <p:extLst>
      <p:ext uri="{BB962C8B-B14F-4D97-AF65-F5344CB8AC3E}">
        <p14:creationId xmlns:p14="http://schemas.microsoft.com/office/powerpoint/2010/main" val="1522032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18A0B-9309-CBA2-0107-CA2773ACB1E9}"/>
              </a:ext>
            </a:extLst>
          </p:cNvPr>
          <p:cNvSpPr txBox="1"/>
          <p:nvPr/>
        </p:nvSpPr>
        <p:spPr>
          <a:xfrm>
            <a:off x="1250576" y="1519518"/>
            <a:ext cx="4424083" cy="400110"/>
          </a:xfrm>
          <a:prstGeom prst="rect">
            <a:avLst/>
          </a:prstGeom>
          <a:noFill/>
        </p:spPr>
        <p:txBody>
          <a:bodyPr wrap="square" rtlCol="0">
            <a:spAutoFit/>
          </a:bodyPr>
          <a:lstStyle/>
          <a:p>
            <a:r>
              <a:rPr lang="en-US" sz="2000" b="1" dirty="0">
                <a:latin typeface="+mn-lt"/>
              </a:rPr>
              <a:t>Introduction</a:t>
            </a:r>
          </a:p>
        </p:txBody>
      </p:sp>
      <p:sp>
        <p:nvSpPr>
          <p:cNvPr id="3" name="TextBox 2">
            <a:extLst>
              <a:ext uri="{FF2B5EF4-FFF2-40B4-BE49-F238E27FC236}">
                <a16:creationId xmlns:a16="http://schemas.microsoft.com/office/drawing/2014/main" id="{C3E36A10-DB67-7976-7194-D3A8C3BE66F1}"/>
              </a:ext>
            </a:extLst>
          </p:cNvPr>
          <p:cNvSpPr txBox="1"/>
          <p:nvPr/>
        </p:nvSpPr>
        <p:spPr>
          <a:xfrm>
            <a:off x="847165" y="2321534"/>
            <a:ext cx="10656577" cy="2554545"/>
          </a:xfrm>
          <a:prstGeom prst="rect">
            <a:avLst/>
          </a:prstGeom>
          <a:noFill/>
        </p:spPr>
        <p:txBody>
          <a:bodyPr wrap="square" rtlCol="0">
            <a:spAutoFit/>
          </a:bodyPr>
          <a:lstStyle/>
          <a:p>
            <a:pPr marL="285750" indent="-285750">
              <a:buFont typeface="Arial" panose="020B0604020202020204" pitchFamily="34" charset="0"/>
              <a:buChar char="•"/>
            </a:pPr>
            <a:r>
              <a:rPr lang="en-IN" sz="1600" dirty="0">
                <a:effectLst/>
                <a:latin typeface="+mn-lt"/>
              </a:rPr>
              <a:t>Health of banking in India remains a topic of scrutiny and reform amidst ongoing challenges and transformations.</a:t>
            </a:r>
          </a:p>
          <a:p>
            <a:pPr marL="285750" indent="-285750">
              <a:buFont typeface="Arial" panose="020B0604020202020204" pitchFamily="34" charset="0"/>
              <a:buChar char="•"/>
            </a:pPr>
            <a:endParaRPr lang="en-IN" sz="1600" dirty="0">
              <a:effectLst/>
              <a:latin typeface="+mn-lt"/>
            </a:endParaRPr>
          </a:p>
          <a:p>
            <a:pPr marL="285750" indent="-285750">
              <a:buFont typeface="Arial" panose="020B0604020202020204" pitchFamily="34" charset="0"/>
              <a:buChar char="•"/>
            </a:pPr>
            <a:r>
              <a:rPr lang="en-IN" sz="1600" dirty="0">
                <a:effectLst/>
                <a:latin typeface="+mn-lt"/>
              </a:rPr>
              <a:t>The sector has shown resilience in adapting to regulatory changes and technological advancements, yet it grapples with issues like non-performing assets (NPAs), governance concerns, and liquidity constraints.</a:t>
            </a:r>
          </a:p>
          <a:p>
            <a:pPr marL="285750" indent="-285750">
              <a:buFont typeface="Arial" panose="020B0604020202020204" pitchFamily="34" charset="0"/>
              <a:buChar char="•"/>
            </a:pPr>
            <a:endParaRPr lang="en-IN" sz="1600" dirty="0">
              <a:effectLst/>
              <a:latin typeface="+mn-lt"/>
            </a:endParaRPr>
          </a:p>
          <a:p>
            <a:pPr marL="285750" indent="-285750">
              <a:buFont typeface="Arial" panose="020B0604020202020204" pitchFamily="34" charset="0"/>
              <a:buChar char="•"/>
            </a:pPr>
            <a:r>
              <a:rPr lang="en-IN" sz="1600" dirty="0">
                <a:effectLst/>
                <a:latin typeface="+mn-lt"/>
              </a:rPr>
              <a:t>The Reserve Bank of India (RBI) continues to implement measures to strengthen the stability and efficiency of banks through initiatives like prompt corrective action (PCA) frameworks and capital adequacy norms.</a:t>
            </a:r>
          </a:p>
          <a:p>
            <a:pPr marL="285750" indent="-285750">
              <a:buFont typeface="Arial" panose="020B0604020202020204" pitchFamily="34" charset="0"/>
              <a:buChar char="•"/>
            </a:pPr>
            <a:endParaRPr lang="en-IN" sz="1600" dirty="0">
              <a:effectLst/>
              <a:latin typeface="+mn-lt"/>
            </a:endParaRPr>
          </a:p>
          <a:p>
            <a:pPr marL="285750" indent="-285750">
              <a:buFont typeface="Arial" panose="020B0604020202020204" pitchFamily="34" charset="0"/>
              <a:buChar char="•"/>
            </a:pPr>
            <a:r>
              <a:rPr lang="en-IN" sz="1600" dirty="0">
                <a:effectLst/>
                <a:latin typeface="+mn-lt"/>
              </a:rPr>
              <a:t>Additionally, the emergence of digital banking and fintech innovations presents both opportunities and challenges for traditional banking institutions.</a:t>
            </a:r>
            <a:endParaRPr lang="en-US" sz="1600" dirty="0">
              <a:latin typeface="+mn-lt"/>
            </a:endParaRPr>
          </a:p>
        </p:txBody>
      </p:sp>
    </p:spTree>
    <p:extLst>
      <p:ext uri="{BB962C8B-B14F-4D97-AF65-F5344CB8AC3E}">
        <p14:creationId xmlns:p14="http://schemas.microsoft.com/office/powerpoint/2010/main" val="1895800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781ADD-C37E-DF1A-C56C-2279305D97BB}"/>
              </a:ext>
            </a:extLst>
          </p:cNvPr>
          <p:cNvSpPr txBox="1"/>
          <p:nvPr/>
        </p:nvSpPr>
        <p:spPr>
          <a:xfrm>
            <a:off x="1210235" y="1573306"/>
            <a:ext cx="6857999" cy="615553"/>
          </a:xfrm>
          <a:prstGeom prst="rect">
            <a:avLst/>
          </a:prstGeom>
          <a:noFill/>
        </p:spPr>
        <p:txBody>
          <a:bodyPr wrap="square" rtlCol="0">
            <a:spAutoFit/>
          </a:bodyPr>
          <a:lstStyle/>
          <a:p>
            <a:r>
              <a:rPr lang="en-US" sz="2000" b="1" dirty="0">
                <a:latin typeface="Athelas" panose="02000503000000020003" pitchFamily="2" charset="77"/>
              </a:rPr>
              <a:t>Role of Hypothesis testing on Health of Banking:</a:t>
            </a:r>
          </a:p>
          <a:p>
            <a:endParaRPr lang="en-US" dirty="0"/>
          </a:p>
        </p:txBody>
      </p:sp>
      <p:sp>
        <p:nvSpPr>
          <p:cNvPr id="3" name="TextBox 2">
            <a:extLst>
              <a:ext uri="{FF2B5EF4-FFF2-40B4-BE49-F238E27FC236}">
                <a16:creationId xmlns:a16="http://schemas.microsoft.com/office/drawing/2014/main" id="{4E66E068-16DE-B6A0-D520-6CCF58491072}"/>
              </a:ext>
            </a:extLst>
          </p:cNvPr>
          <p:cNvSpPr txBox="1"/>
          <p:nvPr/>
        </p:nvSpPr>
        <p:spPr>
          <a:xfrm>
            <a:off x="968188" y="2188859"/>
            <a:ext cx="9130553" cy="4524315"/>
          </a:xfrm>
          <a:prstGeom prst="rect">
            <a:avLst/>
          </a:prstGeom>
          <a:noFill/>
        </p:spPr>
        <p:txBody>
          <a:bodyPr wrap="square" rtlCol="0">
            <a:spAutoFit/>
          </a:bodyPr>
          <a:lstStyle/>
          <a:p>
            <a:pPr marL="285750" indent="-285750">
              <a:buFont typeface="Arial" panose="020B0604020202020204" pitchFamily="34" charset="0"/>
              <a:buChar char="•"/>
            </a:pPr>
            <a:r>
              <a:rPr lang="en-US" sz="1800" dirty="0">
                <a:latin typeface="+mn-lt"/>
              </a:rPr>
              <a:t>Trend Identification: Hypothesis testing reveals trends in financial indicators like capital adequacy and asset quality over time, highlighting potential risks or opportunities.</a:t>
            </a:r>
          </a:p>
          <a:p>
            <a:endParaRPr lang="en-US" sz="1800" dirty="0">
              <a:latin typeface="+mn-lt"/>
            </a:endParaRPr>
          </a:p>
          <a:p>
            <a:pPr marL="285750" indent="-285750">
              <a:buFont typeface="Arial" panose="020B0604020202020204" pitchFamily="34" charset="0"/>
              <a:buChar char="•"/>
            </a:pPr>
            <a:r>
              <a:rPr lang="en-US" sz="1800" dirty="0">
                <a:latin typeface="+mn-lt"/>
              </a:rPr>
              <a:t>Performance Comparison: It facilitates comparisons of bank performance, assessing metrics like profitability and risk management across different banks or groups.</a:t>
            </a:r>
          </a:p>
          <a:p>
            <a:endParaRPr lang="en-US" sz="1800" dirty="0">
              <a:latin typeface="+mn-lt"/>
            </a:endParaRPr>
          </a:p>
          <a:p>
            <a:pPr marL="285750" indent="-285750">
              <a:buFont typeface="Arial" panose="020B0604020202020204" pitchFamily="34" charset="0"/>
              <a:buChar char="•"/>
            </a:pPr>
            <a:r>
              <a:rPr lang="en-US" sz="1800" dirty="0">
                <a:latin typeface="+mn-lt"/>
              </a:rPr>
              <a:t>Regulatory Compliance: Tests gauge compliance with banking regulations, ensuring adherence to standards on capital, liquidity, and risk management.</a:t>
            </a:r>
          </a:p>
          <a:p>
            <a:endParaRPr lang="en-US" sz="1800" dirty="0">
              <a:latin typeface="+mn-lt"/>
            </a:endParaRPr>
          </a:p>
          <a:p>
            <a:pPr marL="285750" indent="-285750">
              <a:buFont typeface="Arial" panose="020B0604020202020204" pitchFamily="34" charset="0"/>
              <a:buChar char="•"/>
            </a:pPr>
            <a:r>
              <a:rPr lang="en-US" sz="1800" dirty="0">
                <a:latin typeface="+mn-lt"/>
              </a:rPr>
              <a:t>Risk Factor Identification: By examining relationships between risk factors (e.g., economic indicators) and financial indicators, it identifies potential risks affecting banking health.</a:t>
            </a:r>
          </a:p>
          <a:p>
            <a:endParaRPr lang="en-US" sz="1800" dirty="0">
              <a:latin typeface="+mn-lt"/>
            </a:endParaRPr>
          </a:p>
          <a:p>
            <a:pPr marL="285750" indent="-285750">
              <a:buFont typeface="Arial" panose="020B0604020202020204" pitchFamily="34" charset="0"/>
              <a:buChar char="•"/>
            </a:pPr>
            <a:r>
              <a:rPr lang="en-US" sz="1800" dirty="0">
                <a:latin typeface="+mn-lt"/>
              </a:rPr>
              <a:t>Decision Support: Hypothesis testing guides strategic decisions, informing planning, risk management, and resource allocation within banks and the industry.</a:t>
            </a:r>
          </a:p>
        </p:txBody>
      </p:sp>
    </p:spTree>
    <p:extLst>
      <p:ext uri="{BB962C8B-B14F-4D97-AF65-F5344CB8AC3E}">
        <p14:creationId xmlns:p14="http://schemas.microsoft.com/office/powerpoint/2010/main" val="3463068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918C64D-EFB2-72B6-E9E5-611264184DC7}"/>
              </a:ext>
            </a:extLst>
          </p:cNvPr>
          <p:cNvGraphicFramePr>
            <a:graphicFrameLocks noGrp="1"/>
          </p:cNvGraphicFramePr>
          <p:nvPr>
            <p:extLst>
              <p:ext uri="{D42A27DB-BD31-4B8C-83A1-F6EECF244321}">
                <p14:modId xmlns:p14="http://schemas.microsoft.com/office/powerpoint/2010/main" val="3887275773"/>
              </p:ext>
            </p:extLst>
          </p:nvPr>
        </p:nvGraphicFramePr>
        <p:xfrm>
          <a:off x="457200" y="1787244"/>
          <a:ext cx="11201400" cy="4587368"/>
        </p:xfrm>
        <a:graphic>
          <a:graphicData uri="http://schemas.openxmlformats.org/drawingml/2006/table">
            <a:tbl>
              <a:tblPr firstRow="1" bandRow="1">
                <a:tableStyleId>{5DA37D80-6434-44D0-A028-1B22A696006F}</a:tableStyleId>
              </a:tblPr>
              <a:tblGrid>
                <a:gridCol w="5607711">
                  <a:extLst>
                    <a:ext uri="{9D8B030D-6E8A-4147-A177-3AD203B41FA5}">
                      <a16:colId xmlns:a16="http://schemas.microsoft.com/office/drawing/2014/main" val="30862712"/>
                    </a:ext>
                  </a:extLst>
                </a:gridCol>
                <a:gridCol w="5593689">
                  <a:extLst>
                    <a:ext uri="{9D8B030D-6E8A-4147-A177-3AD203B41FA5}">
                      <a16:colId xmlns:a16="http://schemas.microsoft.com/office/drawing/2014/main" val="368789097"/>
                    </a:ext>
                  </a:extLst>
                </a:gridCol>
              </a:tblGrid>
              <a:tr h="87430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b="0" i="0" u="none" strike="noStrike" cap="none" dirty="0">
                          <a:solidFill>
                            <a:schemeClr val="tx1"/>
                          </a:solidFill>
                          <a:effectLst/>
                          <a:latin typeface="+mn-lt"/>
                          <a:ea typeface="+mn-ea"/>
                          <a:cs typeface="+mn-cs"/>
                          <a:sym typeface="Arial"/>
                        </a:rPr>
                        <a:t>Every bank wants to showcase a healthy balance sheet at the end of every financial year. But unfortunately, combination of NPAs and restructured assets, that is, stressed assets, has ruined the situation.</a:t>
                      </a: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400" b="1" i="0" u="none" strike="noStrike" cap="none" dirty="0">
                        <a:solidFill>
                          <a:schemeClr val="tx1"/>
                        </a:solidFill>
                        <a:effectLst/>
                        <a:latin typeface="+mn-lt"/>
                        <a:ea typeface="+mn-ea"/>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1" i="0" u="none" strike="noStrike" cap="none" dirty="0">
                          <a:solidFill>
                            <a:schemeClr val="tx1"/>
                          </a:solidFill>
                          <a:effectLst/>
                          <a:latin typeface="+mn-lt"/>
                          <a:ea typeface="+mn-ea"/>
                          <a:cs typeface="+mn-cs"/>
                          <a:sym typeface="Arial"/>
                        </a:rPr>
                        <a:t>(Garg, 2019)</a:t>
                      </a:r>
                      <a:endParaRPr lang="en-IN" sz="1400" b="1" i="0" u="none" strike="noStrike" cap="none" dirty="0">
                        <a:solidFill>
                          <a:schemeClr val="tx1"/>
                        </a:solidFill>
                        <a:effectLst/>
                        <a:latin typeface="+mn-lt"/>
                        <a:ea typeface="+mn-ea"/>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400" b="1" i="0" u="none" strike="noStrike" cap="none" dirty="0">
                        <a:solidFill>
                          <a:schemeClr val="tx1"/>
                        </a:solidFill>
                        <a:effectLst/>
                        <a:latin typeface="+mn-lt"/>
                        <a:ea typeface="+mn-ea"/>
                        <a:cs typeface="+mn-cs"/>
                        <a:sym typeface="Arial"/>
                      </a:endParaRPr>
                    </a:p>
                  </a:txBody>
                  <a:tcPr/>
                </a:tc>
                <a:extLst>
                  <a:ext uri="{0D108BD9-81ED-4DB2-BD59-A6C34878D82A}">
                    <a16:rowId xmlns:a16="http://schemas.microsoft.com/office/drawing/2014/main" val="1545912308"/>
                  </a:ext>
                </a:extLst>
              </a:tr>
              <a:tr h="107172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b="0" i="0" u="none" strike="noStrike" cap="none" dirty="0">
                          <a:solidFill>
                            <a:schemeClr val="tx1"/>
                          </a:solidFill>
                          <a:effectLst/>
                          <a:latin typeface="+mn-lt"/>
                          <a:ea typeface="+mn-ea"/>
                          <a:cs typeface="+mn-cs"/>
                          <a:sym typeface="Arial"/>
                        </a:rPr>
                        <a:t>The de-branching of banks is currently one of the most fundamental changes in the industry, affecting all types of banks and branches. Branches are proxies for lending relationships, information asymmetries, loan portfolio distributions, and/or exposure to de- posit flows. </a:t>
                      </a:r>
                      <a:endParaRPr lang="en-IN" b="0"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400" b="1" i="0" u="none" strike="noStrike" cap="none" dirty="0">
                        <a:solidFill>
                          <a:schemeClr val="tx1"/>
                        </a:solidFill>
                        <a:effectLst/>
                        <a:latin typeface="+mn-lt"/>
                        <a:ea typeface="+mn-ea"/>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400" b="1" i="0" u="none" strike="noStrike" cap="none" dirty="0">
                        <a:solidFill>
                          <a:schemeClr val="tx1"/>
                        </a:solidFill>
                        <a:effectLst/>
                        <a:latin typeface="+mn-lt"/>
                        <a:ea typeface="+mn-ea"/>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1" i="0" u="none" strike="noStrike" cap="none" dirty="0">
                          <a:solidFill>
                            <a:schemeClr val="tx1"/>
                          </a:solidFill>
                          <a:effectLst/>
                          <a:latin typeface="+mn-lt"/>
                          <a:ea typeface="+mn-ea"/>
                          <a:cs typeface="+mn-cs"/>
                          <a:sym typeface="Arial"/>
                        </a:rPr>
                        <a:t>(Keil &amp; Ongena, 2024)</a:t>
                      </a:r>
                      <a:endParaRPr lang="en-IN" sz="1400" b="1" i="0" u="none" strike="noStrike" cap="none" dirty="0">
                        <a:solidFill>
                          <a:schemeClr val="tx1"/>
                        </a:solidFill>
                        <a:effectLst/>
                        <a:latin typeface="+mn-lt"/>
                        <a:ea typeface="+mn-ea"/>
                        <a:cs typeface="+mn-cs"/>
                        <a:sym typeface="Arial"/>
                      </a:endParaRPr>
                    </a:p>
                    <a:p>
                      <a:endParaRPr lang="en-US" dirty="0"/>
                    </a:p>
                  </a:txBody>
                  <a:tcPr/>
                </a:tc>
                <a:extLst>
                  <a:ext uri="{0D108BD9-81ED-4DB2-BD59-A6C34878D82A}">
                    <a16:rowId xmlns:a16="http://schemas.microsoft.com/office/drawing/2014/main" val="774733902"/>
                  </a:ext>
                </a:extLst>
              </a:tr>
              <a:tr h="126915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b="0" i="0" u="none" strike="noStrike" cap="none" dirty="0">
                          <a:solidFill>
                            <a:schemeClr val="tx1"/>
                          </a:solidFill>
                          <a:effectLst/>
                          <a:latin typeface="+mn-lt"/>
                          <a:ea typeface="+mn-ea"/>
                          <a:cs typeface="+mn-cs"/>
                          <a:sym typeface="Arial"/>
                        </a:rPr>
                        <a:t>Liberalization in Indian economy has brought competition among banks, at domestic level as well as foreign level. Due to intense competition both among domestic and foreign banks, rapid speed of innovations and introduction of new financial instruments, changing consumer’s demands have changed the way a bank does business and services its customers. </a:t>
                      </a:r>
                      <a:endParaRPr lang="en-IN" dirty="0"/>
                    </a:p>
                  </a:txBody>
                  <a:tcPr/>
                </a:tc>
                <a:tc>
                  <a:txBody>
                    <a:bodyPr/>
                    <a:lstStyle/>
                    <a:p>
                      <a:endParaRPr lang="en-US" dirty="0"/>
                    </a:p>
                    <a:p>
                      <a:endParaRPr lang="en-US" dirty="0"/>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1" i="0" u="none" strike="noStrike" cap="none" dirty="0">
                          <a:solidFill>
                            <a:schemeClr val="tx1"/>
                          </a:solidFill>
                          <a:effectLst/>
                          <a:latin typeface="+mn-lt"/>
                          <a:ea typeface="+mn-ea"/>
                          <a:cs typeface="+mn-cs"/>
                          <a:sym typeface="Arial"/>
                        </a:rPr>
                        <a:t>(Ordia &amp; Bhanawat, 2018)</a:t>
                      </a:r>
                      <a:endParaRPr lang="en-IN" sz="1400" b="1" i="0" u="none" strike="noStrike" cap="none" dirty="0">
                        <a:solidFill>
                          <a:schemeClr val="tx1"/>
                        </a:solidFill>
                        <a:effectLst/>
                        <a:latin typeface="+mn-lt"/>
                        <a:ea typeface="+mn-ea"/>
                        <a:cs typeface="+mn-cs"/>
                        <a:sym typeface="Arial"/>
                      </a:endParaRPr>
                    </a:p>
                    <a:p>
                      <a:endParaRPr lang="en-US" dirty="0"/>
                    </a:p>
                  </a:txBody>
                  <a:tcPr/>
                </a:tc>
                <a:extLst>
                  <a:ext uri="{0D108BD9-81ED-4DB2-BD59-A6C34878D82A}">
                    <a16:rowId xmlns:a16="http://schemas.microsoft.com/office/drawing/2014/main" val="3761555090"/>
                  </a:ext>
                </a:extLst>
              </a:tr>
              <a:tr h="118322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b="0" i="0" u="none" strike="noStrike" cap="none" dirty="0">
                          <a:solidFill>
                            <a:schemeClr val="tx1"/>
                          </a:solidFill>
                          <a:effectLst/>
                          <a:latin typeface="+mn-lt"/>
                          <a:ea typeface="+mn-ea"/>
                          <a:cs typeface="+mn-cs"/>
                          <a:sym typeface="Arial"/>
                        </a:rPr>
                        <a:t>Banking sector in India has the advantage of access to one of the largest and most stable global financial networks. The potential growth of the banking sector stems from the fact that only 15 percent of the population has ever borrowed from banks, and more than 40 percent do not even have bank accounts.</a:t>
                      </a:r>
                      <a:endParaRPr lang="en-IN" dirty="0"/>
                    </a:p>
                  </a:txBody>
                  <a:tcPr/>
                </a:tc>
                <a:tc>
                  <a:txBody>
                    <a:bodyPr/>
                    <a:lstStyle/>
                    <a:p>
                      <a:endParaRPr lang="en-US" dirty="0"/>
                    </a:p>
                    <a:p>
                      <a:endParaRPr lang="en-US" dirty="0"/>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1" i="0" u="none" strike="noStrike" cap="none" dirty="0">
                          <a:solidFill>
                            <a:schemeClr val="tx1"/>
                          </a:solidFill>
                          <a:effectLst/>
                          <a:latin typeface="+mn-lt"/>
                          <a:ea typeface="+mn-ea"/>
                          <a:cs typeface="+mn-cs"/>
                          <a:sym typeface="Arial"/>
                        </a:rPr>
                        <a:t>(N, 2022)</a:t>
                      </a:r>
                      <a:endParaRPr lang="en-IN" sz="1400" b="1" i="0" u="none" strike="noStrike" cap="none" dirty="0">
                        <a:solidFill>
                          <a:schemeClr val="tx1"/>
                        </a:solidFill>
                        <a:effectLst/>
                        <a:latin typeface="+mn-lt"/>
                        <a:ea typeface="+mn-ea"/>
                        <a:cs typeface="+mn-cs"/>
                        <a:sym typeface="Arial"/>
                      </a:endParaRPr>
                    </a:p>
                    <a:p>
                      <a:endParaRPr lang="en-US" dirty="0"/>
                    </a:p>
                  </a:txBody>
                  <a:tcPr/>
                </a:tc>
                <a:extLst>
                  <a:ext uri="{0D108BD9-81ED-4DB2-BD59-A6C34878D82A}">
                    <a16:rowId xmlns:a16="http://schemas.microsoft.com/office/drawing/2014/main" val="2786816806"/>
                  </a:ext>
                </a:extLst>
              </a:tr>
            </a:tbl>
          </a:graphicData>
        </a:graphic>
      </p:graphicFrame>
      <p:sp>
        <p:nvSpPr>
          <p:cNvPr id="3" name="TextBox 2">
            <a:extLst>
              <a:ext uri="{FF2B5EF4-FFF2-40B4-BE49-F238E27FC236}">
                <a16:creationId xmlns:a16="http://schemas.microsoft.com/office/drawing/2014/main" id="{9FB1A3ED-AB52-4C9C-7923-9E671448A736}"/>
              </a:ext>
            </a:extLst>
          </p:cNvPr>
          <p:cNvSpPr txBox="1"/>
          <p:nvPr/>
        </p:nvSpPr>
        <p:spPr>
          <a:xfrm>
            <a:off x="457200" y="1224302"/>
            <a:ext cx="7570694" cy="400110"/>
          </a:xfrm>
          <a:prstGeom prst="rect">
            <a:avLst/>
          </a:prstGeom>
          <a:noFill/>
        </p:spPr>
        <p:txBody>
          <a:bodyPr wrap="square" rtlCol="0">
            <a:spAutoFit/>
          </a:bodyPr>
          <a:lstStyle/>
          <a:p>
            <a:r>
              <a:rPr lang="en-US" sz="2000" b="1" dirty="0">
                <a:latin typeface="Athelas" panose="02000503000000020003" pitchFamily="2" charset="77"/>
              </a:rPr>
              <a:t>Literature Review</a:t>
            </a:r>
            <a:endParaRPr lang="en-US" sz="1100" b="1" dirty="0">
              <a:latin typeface="Athelas" panose="02000503000000020003" pitchFamily="2" charset="77"/>
            </a:endParaRPr>
          </a:p>
        </p:txBody>
      </p:sp>
    </p:spTree>
    <p:extLst>
      <p:ext uri="{BB962C8B-B14F-4D97-AF65-F5344CB8AC3E}">
        <p14:creationId xmlns:p14="http://schemas.microsoft.com/office/powerpoint/2010/main" val="2576428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514039-6295-AF58-D561-DD76E41471F9}"/>
              </a:ext>
            </a:extLst>
          </p:cNvPr>
          <p:cNvSpPr txBox="1"/>
          <p:nvPr/>
        </p:nvSpPr>
        <p:spPr>
          <a:xfrm>
            <a:off x="914400" y="1506071"/>
            <a:ext cx="3213847" cy="400110"/>
          </a:xfrm>
          <a:prstGeom prst="rect">
            <a:avLst/>
          </a:prstGeom>
          <a:noFill/>
        </p:spPr>
        <p:txBody>
          <a:bodyPr wrap="square" rtlCol="0">
            <a:spAutoFit/>
          </a:bodyPr>
          <a:lstStyle/>
          <a:p>
            <a:r>
              <a:rPr lang="en-US" sz="2000" b="1" dirty="0">
                <a:latin typeface="Athelas" panose="02000503000000020003" pitchFamily="2" charset="77"/>
              </a:rPr>
              <a:t>Objectives</a:t>
            </a:r>
            <a:endParaRPr lang="en-US" b="1" dirty="0">
              <a:latin typeface="Athelas" panose="02000503000000020003" pitchFamily="2" charset="77"/>
            </a:endParaRPr>
          </a:p>
        </p:txBody>
      </p:sp>
      <p:sp>
        <p:nvSpPr>
          <p:cNvPr id="3" name="TextBox 2">
            <a:extLst>
              <a:ext uri="{FF2B5EF4-FFF2-40B4-BE49-F238E27FC236}">
                <a16:creationId xmlns:a16="http://schemas.microsoft.com/office/drawing/2014/main" id="{98397D9C-4E03-CA5E-51EF-377DFF0099CE}"/>
              </a:ext>
            </a:extLst>
          </p:cNvPr>
          <p:cNvSpPr txBox="1"/>
          <p:nvPr/>
        </p:nvSpPr>
        <p:spPr>
          <a:xfrm>
            <a:off x="914400" y="2138083"/>
            <a:ext cx="10219765" cy="4247317"/>
          </a:xfrm>
          <a:prstGeom prst="rect">
            <a:avLst/>
          </a:prstGeom>
          <a:noFill/>
        </p:spPr>
        <p:txBody>
          <a:bodyPr wrap="square" rtlCol="0">
            <a:spAutoFit/>
          </a:bodyPr>
          <a:lstStyle/>
          <a:p>
            <a:pPr marL="285750" indent="-285750">
              <a:buFont typeface="Arial" panose="020B0604020202020204" pitchFamily="34" charset="0"/>
              <a:buChar char="•"/>
            </a:pPr>
            <a:r>
              <a:rPr lang="en-US" sz="1800" dirty="0">
                <a:latin typeface="+mn-lt"/>
              </a:rPr>
              <a:t>Descriptive analysis: Providing a comprehensive overview of key financial ratios (NIM, ICR, CAR, NPA, LTD) for both private and public sector banks over multiple years (2018-2023).</a:t>
            </a:r>
          </a:p>
          <a:p>
            <a:endParaRPr lang="en-US" sz="1800" dirty="0">
              <a:latin typeface="+mn-lt"/>
            </a:endParaRPr>
          </a:p>
          <a:p>
            <a:pPr marL="285750" indent="-285750">
              <a:buFont typeface="Arial" panose="020B0604020202020204" pitchFamily="34" charset="0"/>
              <a:buChar char="•"/>
            </a:pPr>
            <a:r>
              <a:rPr lang="en-US" sz="1800" dirty="0">
                <a:latin typeface="+mn-lt"/>
              </a:rPr>
              <a:t>Assessing Differences: Determining whether there are significant differences in key financial ratios between private and public sector banks. This involves comparing measures such as Net Interest Margin (NIM), Interest Coverage Ratio (ICR), Capital Adequacy Ratio (CAR), Non-Performing Assets Ratio (NPA), and Loan to Deposit Ratio (LTD) between the two sectors.</a:t>
            </a:r>
          </a:p>
          <a:p>
            <a:endParaRPr lang="en-US" sz="1800" dirty="0">
              <a:latin typeface="+mn-lt"/>
            </a:endParaRPr>
          </a:p>
          <a:p>
            <a:pPr marL="285750" indent="-285750">
              <a:buFont typeface="Arial" panose="020B0604020202020204" pitchFamily="34" charset="0"/>
              <a:buChar char="•"/>
            </a:pPr>
            <a:r>
              <a:rPr lang="en-US" sz="1800" dirty="0">
                <a:latin typeface="+mn-lt"/>
              </a:rPr>
              <a:t>Temporal Analysis: Examining whether there are significant changes in financial ratios over time within each sector and across sectors. This analysis helps in identifying trends and understanding how the financial health of banks evolves over the years.</a:t>
            </a:r>
          </a:p>
          <a:p>
            <a:endParaRPr lang="en-US" sz="1800" dirty="0">
              <a:latin typeface="+mn-lt"/>
            </a:endParaRPr>
          </a:p>
          <a:p>
            <a:pPr marL="285750" indent="-285750">
              <a:buFont typeface="Arial" panose="020B0604020202020204" pitchFamily="34" charset="0"/>
              <a:buChar char="•"/>
            </a:pPr>
            <a:r>
              <a:rPr lang="en-US" sz="1800" dirty="0">
                <a:latin typeface="+mn-lt"/>
              </a:rPr>
              <a:t>Non-parametric hypothesis testing: Analyzing the banking industry's health using statistical methods that do not rely on specific assumptions about the data distribution, allowing for robust comparisons and inferences.</a:t>
            </a:r>
          </a:p>
        </p:txBody>
      </p:sp>
    </p:spTree>
    <p:extLst>
      <p:ext uri="{BB962C8B-B14F-4D97-AF65-F5344CB8AC3E}">
        <p14:creationId xmlns:p14="http://schemas.microsoft.com/office/powerpoint/2010/main" val="2731921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9F063A-D647-C7D7-612F-CE02D429B4AB}"/>
              </a:ext>
            </a:extLst>
          </p:cNvPr>
          <p:cNvSpPr txBox="1"/>
          <p:nvPr/>
        </p:nvSpPr>
        <p:spPr>
          <a:xfrm>
            <a:off x="685800" y="1223682"/>
            <a:ext cx="5410200" cy="400110"/>
          </a:xfrm>
          <a:prstGeom prst="rect">
            <a:avLst/>
          </a:prstGeom>
          <a:noFill/>
        </p:spPr>
        <p:txBody>
          <a:bodyPr wrap="square" rtlCol="0">
            <a:spAutoFit/>
          </a:bodyPr>
          <a:lstStyle/>
          <a:p>
            <a:r>
              <a:rPr lang="en-US" sz="2000" b="1" dirty="0">
                <a:latin typeface="+mn-lt"/>
              </a:rPr>
              <a:t>Dataset</a:t>
            </a:r>
            <a:endParaRPr lang="en-US" b="1" dirty="0">
              <a:latin typeface="+mn-lt"/>
            </a:endParaRPr>
          </a:p>
        </p:txBody>
      </p:sp>
      <p:pic>
        <p:nvPicPr>
          <p:cNvPr id="4" name="Picture 3">
            <a:extLst>
              <a:ext uri="{FF2B5EF4-FFF2-40B4-BE49-F238E27FC236}">
                <a16:creationId xmlns:a16="http://schemas.microsoft.com/office/drawing/2014/main" id="{5E310D71-5D93-A3FE-9BE8-2872236F93F4}"/>
              </a:ext>
            </a:extLst>
          </p:cNvPr>
          <p:cNvPicPr>
            <a:picLocks noChangeAspect="1"/>
          </p:cNvPicPr>
          <p:nvPr/>
        </p:nvPicPr>
        <p:blipFill rotWithShape="1">
          <a:blip r:embed="rId2"/>
          <a:srcRect b="-5097"/>
          <a:stretch/>
        </p:blipFill>
        <p:spPr>
          <a:xfrm>
            <a:off x="685800" y="1531102"/>
            <a:ext cx="6566647" cy="3048018"/>
          </a:xfrm>
          <a:prstGeom prst="rect">
            <a:avLst/>
          </a:prstGeom>
        </p:spPr>
      </p:pic>
      <p:pic>
        <p:nvPicPr>
          <p:cNvPr id="3" name="Picture 2">
            <a:extLst>
              <a:ext uri="{FF2B5EF4-FFF2-40B4-BE49-F238E27FC236}">
                <a16:creationId xmlns:a16="http://schemas.microsoft.com/office/drawing/2014/main" id="{029DBDF0-AC84-7A98-0429-AA3D7182D4AF}"/>
              </a:ext>
            </a:extLst>
          </p:cNvPr>
          <p:cNvPicPr>
            <a:picLocks noChangeAspect="1"/>
          </p:cNvPicPr>
          <p:nvPr/>
        </p:nvPicPr>
        <p:blipFill>
          <a:blip r:embed="rId3"/>
          <a:stretch>
            <a:fillRect/>
          </a:stretch>
        </p:blipFill>
        <p:spPr>
          <a:xfrm>
            <a:off x="4814044" y="3493786"/>
            <a:ext cx="6952131" cy="2857624"/>
          </a:xfrm>
          <a:prstGeom prst="rect">
            <a:avLst/>
          </a:prstGeom>
        </p:spPr>
      </p:pic>
      <p:sp>
        <p:nvSpPr>
          <p:cNvPr id="6" name="TextBox 5">
            <a:extLst>
              <a:ext uri="{FF2B5EF4-FFF2-40B4-BE49-F238E27FC236}">
                <a16:creationId xmlns:a16="http://schemas.microsoft.com/office/drawing/2014/main" id="{0ED2D623-449F-B655-2841-BCAD8C4335A8}"/>
              </a:ext>
            </a:extLst>
          </p:cNvPr>
          <p:cNvSpPr txBox="1"/>
          <p:nvPr/>
        </p:nvSpPr>
        <p:spPr>
          <a:xfrm>
            <a:off x="425824" y="5243567"/>
            <a:ext cx="2810436" cy="369332"/>
          </a:xfrm>
          <a:prstGeom prst="rect">
            <a:avLst/>
          </a:prstGeom>
          <a:noFill/>
        </p:spPr>
        <p:txBody>
          <a:bodyPr wrap="square" rtlCol="0">
            <a:spAutoFit/>
          </a:bodyPr>
          <a:lstStyle/>
          <a:p>
            <a:r>
              <a:rPr lang="en-US" sz="1800" b="1" dirty="0">
                <a:latin typeface="+mn-lt"/>
              </a:rPr>
              <a:t>Public Banks</a:t>
            </a:r>
          </a:p>
        </p:txBody>
      </p:sp>
      <p:sp>
        <p:nvSpPr>
          <p:cNvPr id="7" name="TextBox 6">
            <a:extLst>
              <a:ext uri="{FF2B5EF4-FFF2-40B4-BE49-F238E27FC236}">
                <a16:creationId xmlns:a16="http://schemas.microsoft.com/office/drawing/2014/main" id="{4AFC1EB0-2EC5-F469-C9A8-8E1CA5AE5955}"/>
              </a:ext>
            </a:extLst>
          </p:cNvPr>
          <p:cNvSpPr txBox="1"/>
          <p:nvPr/>
        </p:nvSpPr>
        <p:spPr>
          <a:xfrm>
            <a:off x="8821270" y="2106080"/>
            <a:ext cx="2944906" cy="369332"/>
          </a:xfrm>
          <a:prstGeom prst="rect">
            <a:avLst/>
          </a:prstGeom>
          <a:noFill/>
        </p:spPr>
        <p:txBody>
          <a:bodyPr wrap="square" rtlCol="0">
            <a:spAutoFit/>
          </a:bodyPr>
          <a:lstStyle/>
          <a:p>
            <a:pPr algn="r"/>
            <a:r>
              <a:rPr lang="en-US" sz="1800" b="1" dirty="0">
                <a:latin typeface="+mn-lt"/>
              </a:rPr>
              <a:t>Private Banks</a:t>
            </a:r>
          </a:p>
        </p:txBody>
      </p:sp>
      <p:cxnSp>
        <p:nvCxnSpPr>
          <p:cNvPr id="9" name="Straight Arrow Connector 8">
            <a:extLst>
              <a:ext uri="{FF2B5EF4-FFF2-40B4-BE49-F238E27FC236}">
                <a16:creationId xmlns:a16="http://schemas.microsoft.com/office/drawing/2014/main" id="{A155EA5F-558C-AA30-417C-2A303538C03C}"/>
              </a:ext>
            </a:extLst>
          </p:cNvPr>
          <p:cNvCxnSpPr/>
          <p:nvPr/>
        </p:nvCxnSpPr>
        <p:spPr>
          <a:xfrm flipH="1">
            <a:off x="8290110" y="2290746"/>
            <a:ext cx="172794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EC06AFD1-9BD9-8767-6E46-F4D525823F1B}"/>
              </a:ext>
            </a:extLst>
          </p:cNvPr>
          <p:cNvCxnSpPr>
            <a:cxnSpLocks/>
          </p:cNvCxnSpPr>
          <p:nvPr/>
        </p:nvCxnSpPr>
        <p:spPr>
          <a:xfrm>
            <a:off x="2003612" y="5428233"/>
            <a:ext cx="181535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28030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79DE99-71CC-DB8D-2EEB-5140469CD46C}"/>
              </a:ext>
            </a:extLst>
          </p:cNvPr>
          <p:cNvSpPr txBox="1"/>
          <p:nvPr/>
        </p:nvSpPr>
        <p:spPr>
          <a:xfrm>
            <a:off x="1022555" y="1533832"/>
            <a:ext cx="10146890" cy="615553"/>
          </a:xfrm>
          <a:prstGeom prst="rect">
            <a:avLst/>
          </a:prstGeom>
          <a:noFill/>
        </p:spPr>
        <p:txBody>
          <a:bodyPr wrap="square" rtlCol="0">
            <a:spAutoFit/>
          </a:bodyPr>
          <a:lstStyle/>
          <a:p>
            <a:r>
              <a:rPr lang="en-US" sz="2000" b="1" kern="100" dirty="0">
                <a:effectLst/>
                <a:latin typeface="Athelas"/>
                <a:ea typeface="Aptos" panose="020B0004020202020204" pitchFamily="34" charset="0"/>
                <a:cs typeface="Times New Roman" panose="02020603050405020304" pitchFamily="18" charset="0"/>
              </a:rPr>
              <a:t>Ratios that are used in the analysis</a:t>
            </a:r>
            <a:r>
              <a:rPr lang="en-US" sz="1800" b="1" kern="100" dirty="0">
                <a:effectLst/>
                <a:latin typeface="Athelas"/>
                <a:ea typeface="Aptos" panose="020B0004020202020204" pitchFamily="34" charset="0"/>
                <a:cs typeface="Times New Roman" panose="02020603050405020304" pitchFamily="18" charset="0"/>
              </a:rPr>
              <a:t>:</a:t>
            </a:r>
            <a:endParaRPr lang="en-IN" sz="1800" kern="100" dirty="0">
              <a:effectLst/>
              <a:latin typeface="Athelas"/>
              <a:ea typeface="Aptos" panose="020B0004020202020204" pitchFamily="34" charset="0"/>
              <a:cs typeface="Times New Roman" panose="02020603050405020304" pitchFamily="18" charset="0"/>
            </a:endParaRPr>
          </a:p>
          <a:p>
            <a:endParaRPr lang="en-IN" dirty="0"/>
          </a:p>
        </p:txBody>
      </p:sp>
      <p:sp>
        <p:nvSpPr>
          <p:cNvPr id="4" name="TextBox 3">
            <a:extLst>
              <a:ext uri="{FF2B5EF4-FFF2-40B4-BE49-F238E27FC236}">
                <a16:creationId xmlns:a16="http://schemas.microsoft.com/office/drawing/2014/main" id="{F3B19489-9D93-69B6-8147-9967752D0F99}"/>
              </a:ext>
            </a:extLst>
          </p:cNvPr>
          <p:cNvSpPr txBox="1"/>
          <p:nvPr/>
        </p:nvSpPr>
        <p:spPr>
          <a:xfrm>
            <a:off x="1022555" y="2184835"/>
            <a:ext cx="10146890" cy="3784369"/>
          </a:xfrm>
          <a:prstGeom prst="rect">
            <a:avLst/>
          </a:prstGeom>
          <a:noFill/>
        </p:spPr>
        <p:txBody>
          <a:bodyPr wrap="square" rtlCol="0">
            <a:spAutoFit/>
          </a:bodyPr>
          <a:lstStyle/>
          <a:p>
            <a:pPr marL="342900" lvl="0" indent="-342900">
              <a:lnSpc>
                <a:spcPct val="107000"/>
              </a:lnSpc>
              <a:spcAft>
                <a:spcPts val="800"/>
              </a:spcAft>
              <a:buFont typeface="Arial" panose="020B0604020202020204" pitchFamily="34" charset="0"/>
              <a:buChar char="•"/>
              <a:tabLst>
                <a:tab pos="457200" algn="l"/>
              </a:tabLst>
            </a:pPr>
            <a:r>
              <a:rPr lang="en-US" sz="1800" kern="100" dirty="0">
                <a:effectLst/>
                <a:latin typeface="+mn-lt"/>
                <a:ea typeface="Aptos" panose="020B0004020202020204" pitchFamily="34" charset="0"/>
                <a:cs typeface="Times New Roman" panose="02020603050405020304" pitchFamily="18" charset="0"/>
              </a:rPr>
              <a:t>NIM (Net Interest Margin): Profitability measure showing the difference between interest income and interest expenses.</a:t>
            </a:r>
            <a:endParaRPr lang="en-IN" sz="1800" kern="100" dirty="0">
              <a:effectLst/>
              <a:latin typeface="+mn-lt"/>
              <a:ea typeface="Aptos" panose="020B0004020202020204" pitchFamily="34" charset="0"/>
              <a:cs typeface="Times New Roman" panose="02020603050405020304" pitchFamily="18" charset="0"/>
            </a:endParaRPr>
          </a:p>
          <a:p>
            <a:pPr marL="342900" lvl="0" indent="-342900">
              <a:lnSpc>
                <a:spcPct val="107000"/>
              </a:lnSpc>
              <a:spcAft>
                <a:spcPts val="800"/>
              </a:spcAft>
              <a:buFont typeface="Arial" panose="020B0604020202020204" pitchFamily="34" charset="0"/>
              <a:buChar char="•"/>
              <a:tabLst>
                <a:tab pos="457200" algn="l"/>
              </a:tabLst>
            </a:pPr>
            <a:r>
              <a:rPr lang="en-US" sz="1800" kern="100" dirty="0">
                <a:effectLst/>
                <a:latin typeface="+mn-lt"/>
                <a:ea typeface="Aptos" panose="020B0004020202020204" pitchFamily="34" charset="0"/>
                <a:cs typeface="Times New Roman" panose="02020603050405020304" pitchFamily="18" charset="0"/>
              </a:rPr>
              <a:t>ICR (Interest Coverage Ratio): Financial gauge of a company's ability to cover interest payments with earnings.</a:t>
            </a:r>
            <a:endParaRPr lang="en-IN" sz="1800" kern="100" dirty="0">
              <a:effectLst/>
              <a:latin typeface="+mn-lt"/>
              <a:ea typeface="Aptos" panose="020B0004020202020204" pitchFamily="34" charset="0"/>
              <a:cs typeface="Times New Roman" panose="02020603050405020304" pitchFamily="18" charset="0"/>
            </a:endParaRPr>
          </a:p>
          <a:p>
            <a:pPr marL="342900" lvl="0" indent="-342900">
              <a:lnSpc>
                <a:spcPct val="107000"/>
              </a:lnSpc>
              <a:spcAft>
                <a:spcPts val="800"/>
              </a:spcAft>
              <a:buFont typeface="Arial" panose="020B0604020202020204" pitchFamily="34" charset="0"/>
              <a:buChar char="•"/>
              <a:tabLst>
                <a:tab pos="457200" algn="l"/>
              </a:tabLst>
            </a:pPr>
            <a:r>
              <a:rPr lang="en-US" sz="1800" kern="100" dirty="0">
                <a:effectLst/>
                <a:latin typeface="+mn-lt"/>
                <a:ea typeface="Aptos" panose="020B0004020202020204" pitchFamily="34" charset="0"/>
                <a:cs typeface="Times New Roman" panose="02020603050405020304" pitchFamily="18" charset="0"/>
              </a:rPr>
              <a:t>CAR (Capital Adequacy Ratio): Regulatory indicator assessing a bank's capital relative to its risk-weighted assets.</a:t>
            </a:r>
            <a:endParaRPr lang="en-IN" sz="1800" kern="100" dirty="0">
              <a:effectLst/>
              <a:latin typeface="+mn-lt"/>
              <a:ea typeface="Aptos" panose="020B0004020202020204" pitchFamily="34" charset="0"/>
              <a:cs typeface="Times New Roman" panose="02020603050405020304" pitchFamily="18" charset="0"/>
            </a:endParaRPr>
          </a:p>
          <a:p>
            <a:pPr marL="342900" lvl="0" indent="-342900">
              <a:lnSpc>
                <a:spcPct val="107000"/>
              </a:lnSpc>
              <a:spcAft>
                <a:spcPts val="800"/>
              </a:spcAft>
              <a:buFont typeface="Arial" panose="020B0604020202020204" pitchFamily="34" charset="0"/>
              <a:buChar char="•"/>
              <a:tabLst>
                <a:tab pos="457200" algn="l"/>
              </a:tabLst>
            </a:pPr>
            <a:r>
              <a:rPr lang="en-US" sz="1800" kern="100" dirty="0">
                <a:effectLst/>
                <a:latin typeface="+mn-lt"/>
                <a:ea typeface="Aptos" panose="020B0004020202020204" pitchFamily="34" charset="0"/>
                <a:cs typeface="Times New Roman" panose="02020603050405020304" pitchFamily="18" charset="0"/>
              </a:rPr>
              <a:t>LTD (Loan to Deposit Ratio): Ratio indicating the proportion of a bank's loans to its deposits, reflecting its lending activities relative to its deposit base.</a:t>
            </a:r>
            <a:endParaRPr lang="en-IN" sz="1800" kern="100" dirty="0">
              <a:effectLst/>
              <a:latin typeface="+mn-lt"/>
              <a:ea typeface="Aptos" panose="020B0004020202020204" pitchFamily="34" charset="0"/>
              <a:cs typeface="Times New Roman" panose="02020603050405020304" pitchFamily="18" charset="0"/>
            </a:endParaRPr>
          </a:p>
          <a:p>
            <a:pPr marL="342900" lvl="0" indent="-342900">
              <a:lnSpc>
                <a:spcPct val="107000"/>
              </a:lnSpc>
              <a:spcAft>
                <a:spcPts val="800"/>
              </a:spcAft>
              <a:buFont typeface="Arial" panose="020B0604020202020204" pitchFamily="34" charset="0"/>
              <a:buChar char="•"/>
              <a:tabLst>
                <a:tab pos="457200" algn="l"/>
              </a:tabLst>
            </a:pPr>
            <a:r>
              <a:rPr lang="en-US" sz="1800" kern="100" dirty="0">
                <a:effectLst/>
                <a:latin typeface="+mn-lt"/>
                <a:ea typeface="Aptos" panose="020B0004020202020204" pitchFamily="34" charset="0"/>
                <a:cs typeface="Times New Roman" panose="02020603050405020304" pitchFamily="18" charset="0"/>
              </a:rPr>
              <a:t>NPA (Non-Performing Asset): Loans with overdue payments, usually 90 days or more, indicating potential default.</a:t>
            </a:r>
            <a:endParaRPr lang="en-IN" sz="1800" kern="100" dirty="0">
              <a:effectLst/>
              <a:latin typeface="+mn-lt"/>
              <a:ea typeface="Aptos" panose="020B000402020202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336979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1767AE-1BD2-42A1-8607-A7077F348F69}"/>
              </a:ext>
            </a:extLst>
          </p:cNvPr>
          <p:cNvSpPr txBox="1"/>
          <p:nvPr/>
        </p:nvSpPr>
        <p:spPr>
          <a:xfrm>
            <a:off x="927847" y="1216068"/>
            <a:ext cx="7516906" cy="400110"/>
          </a:xfrm>
          <a:prstGeom prst="rect">
            <a:avLst/>
          </a:prstGeom>
          <a:noFill/>
        </p:spPr>
        <p:txBody>
          <a:bodyPr wrap="square" rtlCol="0">
            <a:spAutoFit/>
          </a:bodyPr>
          <a:lstStyle/>
          <a:p>
            <a:r>
              <a:rPr lang="en-US" sz="2000" b="1" dirty="0">
                <a:latin typeface="Athelas"/>
              </a:rPr>
              <a:t>Private Sector Banks</a:t>
            </a:r>
          </a:p>
        </p:txBody>
      </p:sp>
      <p:sp>
        <p:nvSpPr>
          <p:cNvPr id="3" name="TextBox 2">
            <a:extLst>
              <a:ext uri="{FF2B5EF4-FFF2-40B4-BE49-F238E27FC236}">
                <a16:creationId xmlns:a16="http://schemas.microsoft.com/office/drawing/2014/main" id="{8BC9AF47-5A3B-505E-9A94-436B3094F2B5}"/>
              </a:ext>
            </a:extLst>
          </p:cNvPr>
          <p:cNvSpPr txBox="1"/>
          <p:nvPr/>
        </p:nvSpPr>
        <p:spPr>
          <a:xfrm>
            <a:off x="746013" y="1616178"/>
            <a:ext cx="5688106" cy="2584682"/>
          </a:xfrm>
          <a:prstGeom prst="rect">
            <a:avLst/>
          </a:prstGeom>
          <a:noFill/>
        </p:spPr>
        <p:txBody>
          <a:bodyPr wrap="square" rtlCol="0">
            <a:spAutoFit/>
          </a:bodyPr>
          <a:lstStyle/>
          <a:p>
            <a:pPr marL="342900" lvl="0" indent="-342900">
              <a:lnSpc>
                <a:spcPct val="107000"/>
              </a:lnSpc>
              <a:spcAft>
                <a:spcPts val="800"/>
              </a:spcAft>
              <a:buFont typeface="+mj-lt"/>
              <a:buAutoNum type="arabicPeriod"/>
              <a:tabLst>
                <a:tab pos="457200" algn="l"/>
              </a:tabLst>
            </a:pPr>
            <a:r>
              <a:rPr lang="en-IN" sz="1100" kern="0" dirty="0">
                <a:effectLst/>
                <a:latin typeface="+mn-lt"/>
                <a:ea typeface="Times New Roman" panose="02020603050405020304" pitchFamily="18" charset="0"/>
                <a:cs typeface="Times New Roman" panose="02020603050405020304" pitchFamily="18" charset="0"/>
              </a:rPr>
              <a:t>HDFC Bank consistently maintained low NPA ratios over the years.</a:t>
            </a:r>
            <a:endParaRPr lang="en-IN" sz="1100" kern="100" dirty="0">
              <a:effectLst/>
              <a:latin typeface="+mn-lt"/>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100" kern="0" dirty="0">
                <a:effectLst/>
                <a:latin typeface="+mn-lt"/>
                <a:ea typeface="Times New Roman" panose="02020603050405020304" pitchFamily="18" charset="0"/>
                <a:cs typeface="Times New Roman" panose="02020603050405020304" pitchFamily="18" charset="0"/>
              </a:rPr>
              <a:t>ICICI Bank experienced fluctuations in NPA, possibly indicating varying asset quality.</a:t>
            </a:r>
            <a:endParaRPr lang="en-IN" sz="1100" kern="100" dirty="0">
              <a:effectLst/>
              <a:latin typeface="+mn-lt"/>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100" kern="0" dirty="0">
                <a:effectLst/>
                <a:latin typeface="+mn-lt"/>
                <a:ea typeface="Times New Roman" panose="02020603050405020304" pitchFamily="18" charset="0"/>
                <a:cs typeface="Times New Roman" panose="02020603050405020304" pitchFamily="18" charset="0"/>
              </a:rPr>
              <a:t>AXIS Bank showed relatively low NPA ratios, suggesting effective risk management practices.</a:t>
            </a:r>
            <a:endParaRPr lang="en-IN" sz="1100" kern="100" dirty="0">
              <a:effectLst/>
              <a:latin typeface="+mn-lt"/>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100" kern="0" dirty="0">
                <a:effectLst/>
                <a:latin typeface="+mn-lt"/>
                <a:ea typeface="Times New Roman" panose="02020603050405020304" pitchFamily="18" charset="0"/>
                <a:cs typeface="Times New Roman" panose="02020603050405020304" pitchFamily="18" charset="0"/>
              </a:rPr>
              <a:t>INDUSLAND Bank maintained a stable or decreasing trend in NPA ratios, indicating robust asset quality.</a:t>
            </a:r>
            <a:endParaRPr lang="en-IN" sz="1100" kern="100" dirty="0">
              <a:effectLst/>
              <a:latin typeface="+mn-lt"/>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100" kern="0" dirty="0">
                <a:effectLst/>
                <a:latin typeface="+mn-lt"/>
                <a:ea typeface="Times New Roman" panose="02020603050405020304" pitchFamily="18" charset="0"/>
                <a:cs typeface="Times New Roman" panose="02020603050405020304" pitchFamily="18" charset="0"/>
              </a:rPr>
              <a:t>KOTAK Bank displayed moderate NPA ratios, with a slight increase over the years, suggesting potential challenges in managing non-performing assets.</a:t>
            </a:r>
            <a:endParaRPr lang="en-IN" sz="1100" kern="100" dirty="0">
              <a:effectLst/>
              <a:latin typeface="+mn-lt"/>
              <a:ea typeface="Calibri" panose="020F0502020204030204" pitchFamily="34" charset="0"/>
              <a:cs typeface="Times New Roman" panose="02020603050405020304" pitchFamily="18" charset="0"/>
            </a:endParaRPr>
          </a:p>
          <a:p>
            <a:pPr marL="342900" lvl="0" indent="-342900">
              <a:lnSpc>
                <a:spcPct val="107000"/>
              </a:lnSpc>
              <a:spcAft>
                <a:spcPts val="500"/>
              </a:spcAft>
              <a:buFont typeface="+mj-lt"/>
              <a:buAutoNum type="arabicPeriod"/>
              <a:tabLst>
                <a:tab pos="457200" algn="l"/>
              </a:tabLst>
            </a:pPr>
            <a:r>
              <a:rPr lang="en-IN" sz="1100" kern="0" dirty="0">
                <a:effectLst/>
                <a:latin typeface="+mn-lt"/>
                <a:ea typeface="Times New Roman" panose="02020603050405020304" pitchFamily="18" charset="0"/>
                <a:cs typeface="Times New Roman" panose="02020603050405020304" pitchFamily="18" charset="0"/>
              </a:rPr>
              <a:t>YES Bank had high NPA ratios, with fluctuations over the years, indicating significant challenges in asset quality management.</a:t>
            </a:r>
            <a:endParaRPr lang="en-IN" sz="1100" kern="100" dirty="0">
              <a:effectLst/>
              <a:latin typeface="+mn-lt"/>
              <a:ea typeface="Calibri" panose="020F0502020204030204" pitchFamily="34" charset="0"/>
              <a:cs typeface="Times New Roman" panose="02020603050405020304" pitchFamily="18" charset="0"/>
            </a:endParaRPr>
          </a:p>
        </p:txBody>
      </p:sp>
      <p:graphicFrame>
        <p:nvGraphicFramePr>
          <p:cNvPr id="4" name="Chart 3">
            <a:extLst>
              <a:ext uri="{FF2B5EF4-FFF2-40B4-BE49-F238E27FC236}">
                <a16:creationId xmlns:a16="http://schemas.microsoft.com/office/drawing/2014/main" id="{8103A59F-208F-4878-AC9E-84D598F319BD}"/>
              </a:ext>
            </a:extLst>
          </p:cNvPr>
          <p:cNvGraphicFramePr/>
          <p:nvPr>
            <p:extLst>
              <p:ext uri="{D42A27DB-BD31-4B8C-83A1-F6EECF244321}">
                <p14:modId xmlns:p14="http://schemas.microsoft.com/office/powerpoint/2010/main" val="692082782"/>
              </p:ext>
            </p:extLst>
          </p:nvPr>
        </p:nvGraphicFramePr>
        <p:xfrm>
          <a:off x="6940214" y="982501"/>
          <a:ext cx="4264734" cy="244649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3F5770D2-2738-4B6B-B3C1-64ECFBCD9B9B}"/>
              </a:ext>
            </a:extLst>
          </p:cNvPr>
          <p:cNvGraphicFramePr/>
          <p:nvPr>
            <p:extLst>
              <p:ext uri="{D42A27DB-BD31-4B8C-83A1-F6EECF244321}">
                <p14:modId xmlns:p14="http://schemas.microsoft.com/office/powerpoint/2010/main" val="2081675232"/>
              </p:ext>
            </p:extLst>
          </p:nvPr>
        </p:nvGraphicFramePr>
        <p:xfrm>
          <a:off x="1283073" y="4200860"/>
          <a:ext cx="3911227" cy="22036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69D45C8C-CF24-323D-E167-4DFC930C6C1C}"/>
              </a:ext>
            </a:extLst>
          </p:cNvPr>
          <p:cNvSpPr txBox="1"/>
          <p:nvPr/>
        </p:nvSpPr>
        <p:spPr>
          <a:xfrm>
            <a:off x="6699176" y="3484767"/>
            <a:ext cx="4746811" cy="3459280"/>
          </a:xfrm>
          <a:prstGeom prst="rect">
            <a:avLst/>
          </a:prstGeom>
          <a:noFill/>
        </p:spPr>
        <p:txBody>
          <a:bodyPr wrap="square" rtlCol="0">
            <a:spAutoFit/>
          </a:bodyPr>
          <a:lstStyle/>
          <a:p>
            <a:pPr marL="342900" lvl="0" indent="-342900">
              <a:lnSpc>
                <a:spcPct val="107000"/>
              </a:lnSpc>
              <a:spcAft>
                <a:spcPts val="800"/>
              </a:spcAft>
              <a:buFont typeface="+mj-lt"/>
              <a:buAutoNum type="arabicPeriod"/>
              <a:tabLst>
                <a:tab pos="457200" algn="l"/>
              </a:tabLst>
            </a:pPr>
            <a:r>
              <a:rPr lang="en-IN" sz="1100" kern="0" dirty="0">
                <a:solidFill>
                  <a:srgbClr val="0D0D0D"/>
                </a:solidFill>
                <a:effectLst/>
                <a:highlight>
                  <a:srgbClr val="FFFFFF"/>
                </a:highlight>
                <a:latin typeface="+mn-lt"/>
                <a:ea typeface="Times New Roman" panose="02020603050405020304" pitchFamily="18" charset="0"/>
                <a:cs typeface="Times New Roman" panose="02020603050405020304" pitchFamily="18" charset="0"/>
              </a:rPr>
              <a:t>HDFC Bank consistently maintained a high Loan to Deposit (LTD) ratio over the years, indicating efficient utilization of deposits for lending activities.</a:t>
            </a:r>
            <a:endParaRPr lang="en-IN" sz="1100" kern="100" dirty="0">
              <a:solidFill>
                <a:srgbClr val="0D0D0D"/>
              </a:solidFill>
              <a:effectLst/>
              <a:highlight>
                <a:srgbClr val="FFFFFF"/>
              </a:highlight>
              <a:latin typeface="+mn-lt"/>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100" kern="0" dirty="0">
                <a:solidFill>
                  <a:srgbClr val="0D0D0D"/>
                </a:solidFill>
                <a:effectLst/>
                <a:highlight>
                  <a:srgbClr val="FFFFFF"/>
                </a:highlight>
                <a:latin typeface="+mn-lt"/>
                <a:ea typeface="Times New Roman" panose="02020603050405020304" pitchFamily="18" charset="0"/>
                <a:cs typeface="Times New Roman" panose="02020603050405020304" pitchFamily="18" charset="0"/>
              </a:rPr>
              <a:t>ICICI Bank showed fluctuations in LTD, possibly reflecting variations in its loan portfolio relative to deposit levels.</a:t>
            </a:r>
            <a:endParaRPr lang="en-IN" sz="1100" kern="100" dirty="0">
              <a:solidFill>
                <a:srgbClr val="0D0D0D"/>
              </a:solidFill>
              <a:effectLst/>
              <a:highlight>
                <a:srgbClr val="FFFFFF"/>
              </a:highlight>
              <a:latin typeface="+mn-lt"/>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100" kern="0" dirty="0">
                <a:solidFill>
                  <a:srgbClr val="0D0D0D"/>
                </a:solidFill>
                <a:effectLst/>
                <a:highlight>
                  <a:srgbClr val="FFFFFF"/>
                </a:highlight>
                <a:latin typeface="+mn-lt"/>
                <a:ea typeface="Times New Roman" panose="02020603050405020304" pitchFamily="18" charset="0"/>
                <a:cs typeface="Times New Roman" panose="02020603050405020304" pitchFamily="18" charset="0"/>
              </a:rPr>
              <a:t>AXIS Bank demonstrated relatively stable LTD ratios, suggesting a consistent approach to managing loan and deposit balances.</a:t>
            </a:r>
            <a:endParaRPr lang="en-IN" sz="1100" kern="100" dirty="0">
              <a:solidFill>
                <a:srgbClr val="0D0D0D"/>
              </a:solidFill>
              <a:effectLst/>
              <a:highlight>
                <a:srgbClr val="FFFFFF"/>
              </a:highlight>
              <a:latin typeface="+mn-lt"/>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100" kern="0" dirty="0">
                <a:solidFill>
                  <a:srgbClr val="0D0D0D"/>
                </a:solidFill>
                <a:effectLst/>
                <a:highlight>
                  <a:srgbClr val="FFFFFF"/>
                </a:highlight>
                <a:latin typeface="+mn-lt"/>
                <a:ea typeface="Times New Roman" panose="02020603050405020304" pitchFamily="18" charset="0"/>
                <a:cs typeface="Times New Roman" panose="02020603050405020304" pitchFamily="18" charset="0"/>
              </a:rPr>
              <a:t>INDUSLAND Bank exhibited a decreasing trend in LTD ratios, indicating a conservative approach to lending relative to deposit levels.</a:t>
            </a:r>
            <a:endParaRPr lang="en-IN" sz="1100" kern="100" dirty="0">
              <a:solidFill>
                <a:srgbClr val="0D0D0D"/>
              </a:solidFill>
              <a:effectLst/>
              <a:highlight>
                <a:srgbClr val="FFFFFF"/>
              </a:highlight>
              <a:latin typeface="+mn-lt"/>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100" kern="0" dirty="0">
                <a:solidFill>
                  <a:srgbClr val="0D0D0D"/>
                </a:solidFill>
                <a:effectLst/>
                <a:highlight>
                  <a:srgbClr val="FFFFFF"/>
                </a:highlight>
                <a:latin typeface="+mn-lt"/>
                <a:ea typeface="Times New Roman" panose="02020603050405020304" pitchFamily="18" charset="0"/>
                <a:cs typeface="Times New Roman" panose="02020603050405020304" pitchFamily="18" charset="0"/>
              </a:rPr>
              <a:t>KOTAK Bank displayed a declining trend in LTD ratios, possibly indicating a shift towards a more conservative lending strategy.</a:t>
            </a:r>
            <a:endParaRPr lang="en-IN" sz="1100" kern="100" dirty="0">
              <a:solidFill>
                <a:srgbClr val="0D0D0D"/>
              </a:solidFill>
              <a:effectLst/>
              <a:highlight>
                <a:srgbClr val="FFFFFF"/>
              </a:highlight>
              <a:latin typeface="+mn-lt"/>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100" kern="0" dirty="0">
                <a:solidFill>
                  <a:srgbClr val="0D0D0D"/>
                </a:solidFill>
                <a:effectLst/>
                <a:highlight>
                  <a:srgbClr val="FFFFFF"/>
                </a:highlight>
                <a:latin typeface="+mn-lt"/>
                <a:ea typeface="Times New Roman" panose="02020603050405020304" pitchFamily="18" charset="0"/>
                <a:cs typeface="Times New Roman" panose="02020603050405020304" pitchFamily="18" charset="0"/>
              </a:rPr>
              <a:t>YES Bank showed fluctuating LTD ratios, suggesting potential challenges in managing loan and deposit balances efficiently.</a:t>
            </a:r>
            <a:endParaRPr lang="en-IN" sz="1100" kern="100" dirty="0">
              <a:solidFill>
                <a:srgbClr val="0D0D0D"/>
              </a:solidFill>
              <a:effectLst/>
              <a:highlight>
                <a:srgbClr val="FFFFFF"/>
              </a:highlight>
              <a:latin typeface="+mn-lt"/>
              <a:ea typeface="Calibri" panose="020F0502020204030204" pitchFamily="34" charset="0"/>
              <a:cs typeface="Times New Roman" panose="02020603050405020304" pitchFamily="18" charset="0"/>
            </a:endParaRPr>
          </a:p>
          <a:p>
            <a:endParaRPr lang="en-US" dirty="0">
              <a:latin typeface="+mn-lt"/>
            </a:endParaRPr>
          </a:p>
        </p:txBody>
      </p:sp>
    </p:spTree>
    <p:extLst>
      <p:ext uri="{BB962C8B-B14F-4D97-AF65-F5344CB8AC3E}">
        <p14:creationId xmlns:p14="http://schemas.microsoft.com/office/powerpoint/2010/main" val="3729114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E35BB5-A812-0452-CD70-CC6A783F96C3}"/>
              </a:ext>
            </a:extLst>
          </p:cNvPr>
          <p:cNvSpPr txBox="1"/>
          <p:nvPr/>
        </p:nvSpPr>
        <p:spPr>
          <a:xfrm>
            <a:off x="658905" y="1317811"/>
            <a:ext cx="4558553" cy="400110"/>
          </a:xfrm>
          <a:prstGeom prst="rect">
            <a:avLst/>
          </a:prstGeom>
          <a:noFill/>
        </p:spPr>
        <p:txBody>
          <a:bodyPr wrap="square" rtlCol="0">
            <a:spAutoFit/>
          </a:bodyPr>
          <a:lstStyle/>
          <a:p>
            <a:r>
              <a:rPr lang="en-US" sz="2000" b="1" dirty="0">
                <a:latin typeface="Athelas"/>
              </a:rPr>
              <a:t>Public Sector Banks</a:t>
            </a:r>
          </a:p>
        </p:txBody>
      </p:sp>
      <p:sp>
        <p:nvSpPr>
          <p:cNvPr id="3" name="TextBox 2">
            <a:extLst>
              <a:ext uri="{FF2B5EF4-FFF2-40B4-BE49-F238E27FC236}">
                <a16:creationId xmlns:a16="http://schemas.microsoft.com/office/drawing/2014/main" id="{25EC0145-861F-2D12-D69E-73348B8E90FA}"/>
              </a:ext>
            </a:extLst>
          </p:cNvPr>
          <p:cNvSpPr txBox="1"/>
          <p:nvPr/>
        </p:nvSpPr>
        <p:spPr>
          <a:xfrm>
            <a:off x="779929" y="1936377"/>
            <a:ext cx="4746812" cy="2813271"/>
          </a:xfrm>
          <a:prstGeom prst="rect">
            <a:avLst/>
          </a:prstGeom>
          <a:noFill/>
        </p:spPr>
        <p:txBody>
          <a:bodyPr wrap="square" rtlCol="0">
            <a:spAutoFit/>
          </a:bodyPr>
          <a:lstStyle/>
          <a:p>
            <a:pPr marL="342900" lvl="0" indent="-342900">
              <a:lnSpc>
                <a:spcPct val="107000"/>
              </a:lnSpc>
              <a:spcAft>
                <a:spcPts val="800"/>
              </a:spcAft>
              <a:buFont typeface="+mj-lt"/>
              <a:buAutoNum type="arabicPeriod"/>
              <a:tabLst>
                <a:tab pos="457200" algn="l"/>
              </a:tabLst>
            </a:pPr>
            <a:r>
              <a:rPr lang="en-IN" sz="1100" kern="0" dirty="0">
                <a:solidFill>
                  <a:srgbClr val="0D0D0D"/>
                </a:solidFill>
                <a:effectLst/>
                <a:highlight>
                  <a:srgbClr val="FFFFFF"/>
                </a:highlight>
                <a:latin typeface="+mn-lt"/>
                <a:ea typeface="Times New Roman" panose="02020603050405020304" pitchFamily="18" charset="0"/>
                <a:cs typeface="Times New Roman" panose="02020603050405020304" pitchFamily="18" charset="0"/>
              </a:rPr>
              <a:t>SBI displayed varying NPA ratios over the years, possibly reflecting challenges in managing asset quality across its extensive loan portfolio.</a:t>
            </a:r>
            <a:endParaRPr lang="en-IN" sz="1100" kern="100" dirty="0">
              <a:solidFill>
                <a:srgbClr val="0D0D0D"/>
              </a:solidFill>
              <a:effectLst/>
              <a:highlight>
                <a:srgbClr val="FFFFFF"/>
              </a:highlight>
              <a:latin typeface="+mn-lt"/>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100" kern="0" dirty="0">
                <a:solidFill>
                  <a:srgbClr val="0D0D0D"/>
                </a:solidFill>
                <a:effectLst/>
                <a:highlight>
                  <a:srgbClr val="FFFFFF"/>
                </a:highlight>
                <a:latin typeface="+mn-lt"/>
                <a:ea typeface="Times New Roman" panose="02020603050405020304" pitchFamily="18" charset="0"/>
                <a:cs typeface="Times New Roman" panose="02020603050405020304" pitchFamily="18" charset="0"/>
              </a:rPr>
              <a:t>UBOI demonstrated relatively low NPA ratios, indicating effective risk management practices despite being a public sector bank.</a:t>
            </a:r>
            <a:endParaRPr lang="en-IN" sz="1100" kern="100" dirty="0">
              <a:solidFill>
                <a:srgbClr val="0D0D0D"/>
              </a:solidFill>
              <a:effectLst/>
              <a:highlight>
                <a:srgbClr val="FFFFFF"/>
              </a:highlight>
              <a:latin typeface="+mn-lt"/>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100" kern="0" dirty="0">
                <a:solidFill>
                  <a:srgbClr val="0D0D0D"/>
                </a:solidFill>
                <a:effectLst/>
                <a:highlight>
                  <a:srgbClr val="FFFFFF"/>
                </a:highlight>
                <a:latin typeface="+mn-lt"/>
                <a:ea typeface="Times New Roman" panose="02020603050405020304" pitchFamily="18" charset="0"/>
                <a:cs typeface="Times New Roman" panose="02020603050405020304" pitchFamily="18" charset="0"/>
              </a:rPr>
              <a:t>PNB exhibited fluctuating NPA ratios, suggesting challenges in maintaining asset quality consistently over the years.</a:t>
            </a:r>
            <a:endParaRPr lang="en-IN" sz="1100" kern="100" dirty="0">
              <a:solidFill>
                <a:srgbClr val="0D0D0D"/>
              </a:solidFill>
              <a:effectLst/>
              <a:highlight>
                <a:srgbClr val="FFFFFF"/>
              </a:highlight>
              <a:latin typeface="+mn-lt"/>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100" kern="0" dirty="0">
                <a:solidFill>
                  <a:srgbClr val="0D0D0D"/>
                </a:solidFill>
                <a:effectLst/>
                <a:highlight>
                  <a:srgbClr val="FFFFFF"/>
                </a:highlight>
                <a:latin typeface="+mn-lt"/>
                <a:ea typeface="Times New Roman" panose="02020603050405020304" pitchFamily="18" charset="0"/>
                <a:cs typeface="Times New Roman" panose="02020603050405020304" pitchFamily="18" charset="0"/>
              </a:rPr>
              <a:t>BOI and BOB showed higher NPA ratios, indicating potential issues with loan quality and credit risk management within these public sector banks.</a:t>
            </a:r>
            <a:endParaRPr lang="en-IN" sz="1100" kern="100" dirty="0">
              <a:solidFill>
                <a:srgbClr val="0D0D0D"/>
              </a:solidFill>
              <a:effectLst/>
              <a:highlight>
                <a:srgbClr val="FFFFFF"/>
              </a:highlight>
              <a:latin typeface="+mn-lt"/>
              <a:ea typeface="Calibri" panose="020F0502020204030204" pitchFamily="34" charset="0"/>
              <a:cs typeface="Times New Roman" panose="02020603050405020304" pitchFamily="18" charset="0"/>
            </a:endParaRPr>
          </a:p>
          <a:p>
            <a:pPr>
              <a:lnSpc>
                <a:spcPct val="107000"/>
              </a:lnSpc>
              <a:spcAft>
                <a:spcPts val="800"/>
              </a:spcAft>
            </a:pPr>
            <a:r>
              <a:rPr lang="en-US" sz="1100" kern="100" dirty="0">
                <a:effectLst/>
                <a:latin typeface="+mn-lt"/>
                <a:ea typeface="Calibri" panose="020F0502020204030204" pitchFamily="34" charset="0"/>
                <a:cs typeface="Times New Roman" panose="02020603050405020304" pitchFamily="18" charset="0"/>
              </a:rPr>
              <a:t> </a:t>
            </a:r>
            <a:endParaRPr lang="en-IN" sz="1100" kern="100" dirty="0">
              <a:effectLst/>
              <a:latin typeface="+mn-lt"/>
              <a:ea typeface="Calibri" panose="020F0502020204030204" pitchFamily="34" charset="0"/>
              <a:cs typeface="Times New Roman" panose="02020603050405020304" pitchFamily="18" charset="0"/>
            </a:endParaRPr>
          </a:p>
          <a:p>
            <a:endParaRPr lang="en-US" dirty="0">
              <a:latin typeface="+mn-lt"/>
            </a:endParaRPr>
          </a:p>
        </p:txBody>
      </p:sp>
      <p:graphicFrame>
        <p:nvGraphicFramePr>
          <p:cNvPr id="4" name="Chart 3">
            <a:extLst>
              <a:ext uri="{FF2B5EF4-FFF2-40B4-BE49-F238E27FC236}">
                <a16:creationId xmlns:a16="http://schemas.microsoft.com/office/drawing/2014/main" id="{0242D1A5-DA56-46B2-B73E-2F801B3FCC7E}"/>
              </a:ext>
            </a:extLst>
          </p:cNvPr>
          <p:cNvGraphicFramePr/>
          <p:nvPr>
            <p:extLst>
              <p:ext uri="{D42A27DB-BD31-4B8C-83A1-F6EECF244321}">
                <p14:modId xmlns:p14="http://schemas.microsoft.com/office/powerpoint/2010/main" val="3583265220"/>
              </p:ext>
            </p:extLst>
          </p:nvPr>
        </p:nvGraphicFramePr>
        <p:xfrm>
          <a:off x="6853520" y="1317811"/>
          <a:ext cx="3917574" cy="255329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1D8345F1-4AA1-45D9-B484-658F3800288F}"/>
              </a:ext>
            </a:extLst>
          </p:cNvPr>
          <p:cNvGraphicFramePr/>
          <p:nvPr>
            <p:extLst>
              <p:ext uri="{D42A27DB-BD31-4B8C-83A1-F6EECF244321}">
                <p14:modId xmlns:p14="http://schemas.microsoft.com/office/powerpoint/2010/main" val="525667031"/>
              </p:ext>
            </p:extLst>
          </p:nvPr>
        </p:nvGraphicFramePr>
        <p:xfrm>
          <a:off x="1259801" y="4020671"/>
          <a:ext cx="3957657" cy="2465406"/>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FAA596E4-2794-AC91-D3EE-D4C3FF007B93}"/>
              </a:ext>
            </a:extLst>
          </p:cNvPr>
          <p:cNvSpPr txBox="1"/>
          <p:nvPr/>
        </p:nvSpPr>
        <p:spPr>
          <a:xfrm>
            <a:off x="6853520" y="4020671"/>
            <a:ext cx="4558551" cy="2741776"/>
          </a:xfrm>
          <a:prstGeom prst="rect">
            <a:avLst/>
          </a:prstGeom>
          <a:noFill/>
        </p:spPr>
        <p:txBody>
          <a:bodyPr wrap="square" rtlCol="0">
            <a:spAutoFit/>
          </a:bodyPr>
          <a:lstStyle/>
          <a:p>
            <a:pPr marL="342900" lvl="0" indent="-342900">
              <a:lnSpc>
                <a:spcPct val="107000"/>
              </a:lnSpc>
              <a:spcAft>
                <a:spcPts val="800"/>
              </a:spcAft>
              <a:buFont typeface="+mj-lt"/>
              <a:buAutoNum type="arabicPeriod"/>
              <a:tabLst>
                <a:tab pos="457200" algn="l"/>
              </a:tabLst>
            </a:pPr>
            <a:r>
              <a:rPr lang="en-IN" sz="1100" kern="0" dirty="0">
                <a:solidFill>
                  <a:srgbClr val="0D0D0D"/>
                </a:solidFill>
                <a:effectLst/>
                <a:highlight>
                  <a:srgbClr val="FFFFFF"/>
                </a:highlight>
                <a:latin typeface="+mn-lt"/>
                <a:ea typeface="Times New Roman" panose="02020603050405020304" pitchFamily="18" charset="0"/>
                <a:cs typeface="Times New Roman" panose="02020603050405020304" pitchFamily="18" charset="0"/>
              </a:rPr>
              <a:t>SBI consistently kept its LTD ratio at relatively low levels over the years, reflecting a cautious approach to lending in proportion to its deposit base.</a:t>
            </a:r>
            <a:endParaRPr lang="en-IN" sz="1100" kern="100" dirty="0">
              <a:solidFill>
                <a:srgbClr val="0D0D0D"/>
              </a:solidFill>
              <a:effectLst/>
              <a:highlight>
                <a:srgbClr val="FFFFFF"/>
              </a:highlight>
              <a:latin typeface="+mn-lt"/>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100" kern="0" dirty="0">
                <a:solidFill>
                  <a:srgbClr val="0D0D0D"/>
                </a:solidFill>
                <a:effectLst/>
                <a:highlight>
                  <a:srgbClr val="FFFFFF"/>
                </a:highlight>
                <a:latin typeface="+mn-lt"/>
                <a:ea typeface="Times New Roman" panose="02020603050405020304" pitchFamily="18" charset="0"/>
                <a:cs typeface="Times New Roman" panose="02020603050405020304" pitchFamily="18" charset="0"/>
              </a:rPr>
              <a:t>UBOI displayed LTD ratios that were generally lower than those of private sector banks, indicating a conservative stance in utilizing deposits for lending activities.</a:t>
            </a:r>
            <a:endParaRPr lang="en-IN" sz="1100" kern="100" dirty="0">
              <a:solidFill>
                <a:srgbClr val="0D0D0D"/>
              </a:solidFill>
              <a:effectLst/>
              <a:highlight>
                <a:srgbClr val="FFFFFF"/>
              </a:highlight>
              <a:latin typeface="+mn-lt"/>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100" kern="0" dirty="0">
                <a:solidFill>
                  <a:srgbClr val="0D0D0D"/>
                </a:solidFill>
                <a:effectLst/>
                <a:highlight>
                  <a:srgbClr val="FFFFFF"/>
                </a:highlight>
                <a:latin typeface="+mn-lt"/>
                <a:ea typeface="Times New Roman" panose="02020603050405020304" pitchFamily="18" charset="0"/>
                <a:cs typeface="Times New Roman" panose="02020603050405020304" pitchFamily="18" charset="0"/>
              </a:rPr>
              <a:t>PNB showed LTD ratios that remained relatively stable over the years, suggesting a balanced approach to managing loan and deposit levels.</a:t>
            </a:r>
            <a:endParaRPr lang="en-IN" sz="1100" kern="100" dirty="0">
              <a:solidFill>
                <a:srgbClr val="0D0D0D"/>
              </a:solidFill>
              <a:effectLst/>
              <a:highlight>
                <a:srgbClr val="FFFFFF"/>
              </a:highlight>
              <a:latin typeface="+mn-lt"/>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100" kern="0" dirty="0">
                <a:solidFill>
                  <a:srgbClr val="0D0D0D"/>
                </a:solidFill>
                <a:effectLst/>
                <a:highlight>
                  <a:srgbClr val="FFFFFF"/>
                </a:highlight>
                <a:latin typeface="+mn-lt"/>
                <a:ea typeface="Times New Roman" panose="02020603050405020304" pitchFamily="18" charset="0"/>
                <a:cs typeface="Times New Roman" panose="02020603050405020304" pitchFamily="18" charset="0"/>
              </a:rPr>
              <a:t>BOI and BOB exhibited LTD ratios that were conservative compared to private sector banks, possibly reflecting a risk-averse lending strategy and prudent deposit management practices.</a:t>
            </a:r>
            <a:endParaRPr lang="en-IN" sz="1100" kern="100" dirty="0">
              <a:solidFill>
                <a:srgbClr val="0D0D0D"/>
              </a:solidFill>
              <a:effectLst/>
              <a:highlight>
                <a:srgbClr val="FFFFFF"/>
              </a:highlight>
              <a:latin typeface="+mn-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57149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F689C9-4E31-70B3-9C1C-60A119905F53}"/>
              </a:ext>
            </a:extLst>
          </p:cNvPr>
          <p:cNvSpPr txBox="1"/>
          <p:nvPr/>
        </p:nvSpPr>
        <p:spPr>
          <a:xfrm>
            <a:off x="401171" y="1278048"/>
            <a:ext cx="4074459" cy="400110"/>
          </a:xfrm>
          <a:prstGeom prst="rect">
            <a:avLst/>
          </a:prstGeom>
          <a:noFill/>
        </p:spPr>
        <p:txBody>
          <a:bodyPr wrap="square" rtlCol="0">
            <a:spAutoFit/>
          </a:bodyPr>
          <a:lstStyle/>
          <a:p>
            <a:r>
              <a:rPr lang="en-US" sz="2000" b="1" dirty="0">
                <a:latin typeface="Athelas"/>
              </a:rPr>
              <a:t>Comparative Analysis</a:t>
            </a:r>
          </a:p>
        </p:txBody>
      </p:sp>
      <p:sp>
        <p:nvSpPr>
          <p:cNvPr id="3" name="TextBox 2">
            <a:extLst>
              <a:ext uri="{FF2B5EF4-FFF2-40B4-BE49-F238E27FC236}">
                <a16:creationId xmlns:a16="http://schemas.microsoft.com/office/drawing/2014/main" id="{78A909A3-0B5A-78E2-E6C7-3D1AFDA1947F}"/>
              </a:ext>
            </a:extLst>
          </p:cNvPr>
          <p:cNvSpPr txBox="1"/>
          <p:nvPr/>
        </p:nvSpPr>
        <p:spPr>
          <a:xfrm>
            <a:off x="401171" y="1796145"/>
            <a:ext cx="10611971" cy="4401205"/>
          </a:xfrm>
          <a:prstGeom prst="rect">
            <a:avLst/>
          </a:prstGeom>
          <a:noFill/>
        </p:spPr>
        <p:txBody>
          <a:bodyPr wrap="square" rtlCol="0">
            <a:spAutoFit/>
          </a:bodyPr>
          <a:lstStyle/>
          <a:p>
            <a:r>
              <a:rPr lang="en-US" dirty="0">
                <a:latin typeface="+mn-lt"/>
              </a:rPr>
              <a:t>1.  Net Interest Margin (NIM):</a:t>
            </a:r>
          </a:p>
          <a:p>
            <a:r>
              <a:rPr lang="en-US" dirty="0">
                <a:latin typeface="+mn-lt"/>
              </a:rPr>
              <a:t>Analysis: Private banks generally exhibit higher NIM compared to public banks, indicating better efficiency in generating income from interest-bearing assets.</a:t>
            </a:r>
          </a:p>
          <a:p>
            <a:endParaRPr lang="en-US" dirty="0">
              <a:latin typeface="+mn-lt"/>
            </a:endParaRPr>
          </a:p>
          <a:p>
            <a:r>
              <a:rPr lang="en-US" dirty="0">
                <a:latin typeface="+mn-lt"/>
              </a:rPr>
              <a:t>2.  Interest Coverage Ratio (ICR):</a:t>
            </a:r>
          </a:p>
          <a:p>
            <a:r>
              <a:rPr lang="en-US" dirty="0">
                <a:latin typeface="+mn-lt"/>
              </a:rPr>
              <a:t>Analysis: Private banks tend to have higher ICR, reflecting their better ability to cover interest payments with operating income compared to public banks.</a:t>
            </a:r>
          </a:p>
          <a:p>
            <a:endParaRPr lang="en-US" dirty="0">
              <a:latin typeface="+mn-lt"/>
            </a:endParaRPr>
          </a:p>
          <a:p>
            <a:r>
              <a:rPr lang="en-US" dirty="0">
                <a:latin typeface="+mn-lt"/>
              </a:rPr>
              <a:t>3.  Capital Adequacy Ratio (CAR):</a:t>
            </a:r>
          </a:p>
          <a:p>
            <a:r>
              <a:rPr lang="en-US" dirty="0">
                <a:latin typeface="+mn-lt"/>
              </a:rPr>
              <a:t>Analysis: Private banks generally maintain higher CAR, indicating stronger financial health and ability to absorb losses compared to public banks.</a:t>
            </a:r>
          </a:p>
          <a:p>
            <a:endParaRPr lang="en-US" dirty="0">
              <a:latin typeface="+mn-lt"/>
            </a:endParaRPr>
          </a:p>
          <a:p>
            <a:r>
              <a:rPr lang="en-US" dirty="0">
                <a:latin typeface="+mn-lt"/>
              </a:rPr>
              <a:t>4.  Non-Performing Assets Ratio (NPA):</a:t>
            </a:r>
          </a:p>
          <a:p>
            <a:r>
              <a:rPr lang="en-US" dirty="0">
                <a:latin typeface="+mn-lt"/>
              </a:rPr>
              <a:t>Analysis: Public banks tend to have slightly higher NPA compared to private banks, suggesting a relatively higher proportion of assets at risk of default.</a:t>
            </a:r>
          </a:p>
          <a:p>
            <a:endParaRPr lang="en-US" dirty="0">
              <a:latin typeface="+mn-lt"/>
            </a:endParaRPr>
          </a:p>
          <a:p>
            <a:r>
              <a:rPr lang="en-US" dirty="0">
                <a:latin typeface="+mn-lt"/>
              </a:rPr>
              <a:t>5.  Loan to Deposit Ratio (LTD):</a:t>
            </a:r>
          </a:p>
          <a:p>
            <a:r>
              <a:rPr lang="en-US" dirty="0">
                <a:latin typeface="+mn-lt"/>
              </a:rPr>
              <a:t>Analysis: Public banks generally have higher LTD, indicating a larger proportion of loans funded by deposits compared to private banks.</a:t>
            </a:r>
          </a:p>
          <a:p>
            <a:endParaRPr lang="en-US" dirty="0">
              <a:latin typeface="+mn-lt"/>
            </a:endParaRPr>
          </a:p>
        </p:txBody>
      </p:sp>
    </p:spTree>
    <p:extLst>
      <p:ext uri="{BB962C8B-B14F-4D97-AF65-F5344CB8AC3E}">
        <p14:creationId xmlns:p14="http://schemas.microsoft.com/office/powerpoint/2010/main" val="3657172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A8E522-45B8-235C-39A6-E26676B001B6}"/>
              </a:ext>
            </a:extLst>
          </p:cNvPr>
          <p:cNvSpPr txBox="1"/>
          <p:nvPr/>
        </p:nvSpPr>
        <p:spPr>
          <a:xfrm>
            <a:off x="927847" y="1331258"/>
            <a:ext cx="6710082" cy="707886"/>
          </a:xfrm>
          <a:prstGeom prst="rect">
            <a:avLst/>
          </a:prstGeom>
          <a:noFill/>
        </p:spPr>
        <p:txBody>
          <a:bodyPr wrap="square" rtlCol="0">
            <a:spAutoFit/>
          </a:bodyPr>
          <a:lstStyle/>
          <a:p>
            <a:r>
              <a:rPr lang="en-US" sz="2000" b="1" dirty="0">
                <a:latin typeface="Athelas" panose="02000503000000020003" pitchFamily="2" charset="77"/>
              </a:rPr>
              <a:t>Test and their respective formulas used:</a:t>
            </a:r>
          </a:p>
          <a:p>
            <a:r>
              <a:rPr lang="en-US" sz="2000" b="1" dirty="0">
                <a:latin typeface="Athelas" panose="02000503000000020003" pitchFamily="2" charset="77"/>
              </a:rPr>
              <a:t>(Mann-Whitney U-Test)</a:t>
            </a:r>
          </a:p>
        </p:txBody>
      </p:sp>
      <p:sp>
        <p:nvSpPr>
          <p:cNvPr id="6" name="TextBox 5">
            <a:extLst>
              <a:ext uri="{FF2B5EF4-FFF2-40B4-BE49-F238E27FC236}">
                <a16:creationId xmlns:a16="http://schemas.microsoft.com/office/drawing/2014/main" id="{8B4863B4-2DC0-9E5E-0556-9AF83863E055}"/>
              </a:ext>
            </a:extLst>
          </p:cNvPr>
          <p:cNvSpPr txBox="1"/>
          <p:nvPr/>
        </p:nvSpPr>
        <p:spPr>
          <a:xfrm>
            <a:off x="981635" y="2286000"/>
            <a:ext cx="4303059" cy="338554"/>
          </a:xfrm>
          <a:prstGeom prst="rect">
            <a:avLst/>
          </a:prstGeom>
          <a:noFill/>
        </p:spPr>
        <p:txBody>
          <a:bodyPr wrap="square" rtlCol="0">
            <a:spAutoFit/>
          </a:bodyPr>
          <a:lstStyle/>
          <a:p>
            <a:r>
              <a:rPr lang="en-US" sz="1600" dirty="0">
                <a:latin typeface="Athelas" panose="02000503000000020003" pitchFamily="2" charset="77"/>
              </a:rPr>
              <a:t>Statistical Test</a:t>
            </a:r>
          </a:p>
        </p:txBody>
      </p:sp>
      <p:sp>
        <p:nvSpPr>
          <p:cNvPr id="7" name="TextBox 6">
            <a:extLst>
              <a:ext uri="{FF2B5EF4-FFF2-40B4-BE49-F238E27FC236}">
                <a16:creationId xmlns:a16="http://schemas.microsoft.com/office/drawing/2014/main" id="{149A99B1-0C5B-B757-C18A-10E23FA610E7}"/>
              </a:ext>
            </a:extLst>
          </p:cNvPr>
          <p:cNvSpPr txBox="1"/>
          <p:nvPr/>
        </p:nvSpPr>
        <p:spPr>
          <a:xfrm>
            <a:off x="6629400" y="2286000"/>
            <a:ext cx="3953435" cy="338554"/>
          </a:xfrm>
          <a:prstGeom prst="rect">
            <a:avLst/>
          </a:prstGeom>
          <a:noFill/>
        </p:spPr>
        <p:txBody>
          <a:bodyPr wrap="square" rtlCol="0">
            <a:spAutoFit/>
          </a:bodyPr>
          <a:lstStyle/>
          <a:p>
            <a:r>
              <a:rPr lang="en-US" sz="1600" dirty="0">
                <a:latin typeface="Athelas" panose="02000503000000020003" pitchFamily="2" charset="77"/>
              </a:rPr>
              <a:t>Rejection Criteria</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26D1EDC-7D9B-7702-56EF-B6709C4A7C68}"/>
                  </a:ext>
                </a:extLst>
              </p:cNvPr>
              <p:cNvSpPr txBox="1"/>
              <p:nvPr/>
            </p:nvSpPr>
            <p:spPr>
              <a:xfrm>
                <a:off x="981635" y="2745972"/>
                <a:ext cx="4854389" cy="2715680"/>
              </a:xfrm>
              <a:prstGeom prst="rect">
                <a:avLst/>
              </a:prstGeom>
              <a:noFill/>
            </p:spPr>
            <p:txBody>
              <a:bodyPr wrap="square" rtlCol="0">
                <a:spAutoFit/>
              </a:bodyPr>
              <a:lstStyle/>
              <a:p>
                <a:r>
                  <a:rPr lang="en-US" sz="1800" dirty="0">
                    <a:latin typeface="Athelas" panose="02000503000000020003" pitchFamily="2" charset="77"/>
                  </a:rPr>
                  <a:t>S</a:t>
                </a:r>
                <a:r>
                  <a:rPr lang="en-US" sz="1800" baseline="-25000" dirty="0">
                    <a:latin typeface="Athelas" panose="02000503000000020003" pitchFamily="2" charset="77"/>
                  </a:rPr>
                  <a:t>x </a:t>
                </a:r>
                <a:r>
                  <a:rPr lang="en-US" sz="1800" dirty="0">
                    <a:latin typeface="Athelas" panose="02000503000000020003" pitchFamily="2" charset="77"/>
                  </a:rPr>
                  <a:t>= </a:t>
                </a:r>
                <a14:m>
                  <m:oMath xmlns:m="http://schemas.openxmlformats.org/officeDocument/2006/math">
                    <m:nary>
                      <m:naryPr>
                        <m:chr m:val="∑"/>
                        <m:ctrlPr>
                          <a:rPr lang="en-US" sz="1800" i="1" smtClean="0">
                            <a:latin typeface="Cambria Math" panose="02040503050406030204" pitchFamily="18" charset="0"/>
                          </a:rPr>
                        </m:ctrlPr>
                      </m:naryPr>
                      <m:sub>
                        <m:r>
                          <m:rPr>
                            <m:brk m:alnAt="23"/>
                          </m:rPr>
                          <a:rPr lang="en-US" sz="1800" b="0" i="1" smtClean="0">
                            <a:latin typeface="Cambria Math" panose="02040503050406030204" pitchFamily="18" charset="0"/>
                          </a:rPr>
                          <m:t>1</m:t>
                        </m:r>
                      </m:sub>
                      <m:sup>
                        <m:r>
                          <a:rPr lang="en-US" sz="1800" b="0" i="1" smtClean="0">
                            <a:latin typeface="Cambria Math" panose="02040503050406030204" pitchFamily="18" charset="0"/>
                          </a:rPr>
                          <m:t>𝑁</m:t>
                        </m:r>
                        <m:r>
                          <a:rPr lang="en-US" sz="1800" b="0" i="1" smtClean="0">
                            <a:latin typeface="Cambria Math" panose="02040503050406030204" pitchFamily="18" charset="0"/>
                          </a:rPr>
                          <m:t>1</m:t>
                        </m:r>
                      </m:sup>
                      <m:e>
                        <m:r>
                          <a:rPr lang="en-US" sz="1800" b="0" i="1" smtClean="0">
                            <a:latin typeface="Cambria Math" panose="02040503050406030204" pitchFamily="18" charset="0"/>
                          </a:rPr>
                          <m:t>𝑅𝑎𝑛𝑘𝑠</m:t>
                        </m:r>
                        <m:r>
                          <a:rPr lang="en-US" sz="1800" b="0" i="1" smtClean="0">
                            <a:latin typeface="Cambria Math" panose="02040503050406030204" pitchFamily="18" charset="0"/>
                          </a:rPr>
                          <m:t> </m:t>
                        </m:r>
                        <m:r>
                          <a:rPr lang="en-US" sz="1800" b="0" i="1" smtClean="0">
                            <a:latin typeface="Cambria Math" panose="02040503050406030204" pitchFamily="18" charset="0"/>
                          </a:rPr>
                          <m:t>𝑜𝑓</m:t>
                        </m:r>
                        <m:r>
                          <a:rPr lang="en-US" sz="1800" b="0" i="1" smtClean="0">
                            <a:latin typeface="Cambria Math" panose="02040503050406030204" pitchFamily="18" charset="0"/>
                          </a:rPr>
                          <m:t> </m:t>
                        </m:r>
                        <m:r>
                          <a:rPr lang="en-US" sz="1800" b="0" i="1" smtClean="0">
                            <a:latin typeface="Cambria Math" panose="02040503050406030204" pitchFamily="18" charset="0"/>
                          </a:rPr>
                          <m:t>𝑋</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𝑖</m:t>
                            </m:r>
                          </m:e>
                          <m:sup>
                            <m:r>
                              <a:rPr lang="en-US" sz="1800" b="0" i="1" smtClean="0">
                                <a:latin typeface="Cambria Math" panose="02040503050406030204" pitchFamily="18" charset="0"/>
                              </a:rPr>
                              <m:t>′</m:t>
                            </m:r>
                          </m:sup>
                        </m:sSup>
                        <m:r>
                          <a:rPr lang="en-US" sz="1800" b="0" i="1" smtClean="0">
                            <a:latin typeface="Cambria Math" panose="02040503050406030204" pitchFamily="18" charset="0"/>
                          </a:rPr>
                          <m:t>𝑠</m:t>
                        </m:r>
                      </m:e>
                    </m:nary>
                  </m:oMath>
                </a14:m>
                <a:endParaRPr lang="en-US" sz="1800" dirty="0">
                  <a:latin typeface="Athelas" panose="02000503000000020003" pitchFamily="2" charset="77"/>
                </a:endParaRPr>
              </a:p>
              <a:p>
                <a:endParaRPr lang="en-US" sz="1800" dirty="0">
                  <a:latin typeface="Athelas" panose="02000503000000020003" pitchFamily="2" charset="77"/>
                </a:endParaRPr>
              </a:p>
              <a:p>
                <a:r>
                  <a:rPr lang="en-US" sz="1800" dirty="0">
                    <a:latin typeface="Athelas" panose="02000503000000020003" pitchFamily="2" charset="77"/>
                  </a:rPr>
                  <a:t>U = S</a:t>
                </a:r>
                <a:r>
                  <a:rPr lang="en-US" sz="1800" baseline="-25000" dirty="0">
                    <a:latin typeface="Athelas" panose="02000503000000020003" pitchFamily="2" charset="77"/>
                  </a:rPr>
                  <a:t>x</a:t>
                </a:r>
                <a:r>
                  <a:rPr lang="en-US" sz="1800" dirty="0">
                    <a:latin typeface="Athelas" panose="02000503000000020003" pitchFamily="2" charset="77"/>
                  </a:rPr>
                  <a:t> - </a:t>
                </a:r>
                <a14:m>
                  <m:oMath xmlns:m="http://schemas.openxmlformats.org/officeDocument/2006/math">
                    <m:f>
                      <m:fPr>
                        <m:ctrlPr>
                          <a:rPr lang="en-US" sz="1800" i="1" smtClean="0">
                            <a:latin typeface="Cambria Math" panose="02040503050406030204" pitchFamily="18" charset="0"/>
                          </a:rPr>
                        </m:ctrlPr>
                      </m:fPr>
                      <m:num>
                        <m:r>
                          <a:rPr lang="en-US" sz="1800" b="0" i="1" smtClean="0">
                            <a:latin typeface="Cambria Math" panose="02040503050406030204" pitchFamily="18" charset="0"/>
                          </a:rPr>
                          <m:t>𝑁</m:t>
                        </m:r>
                        <m:r>
                          <a:rPr lang="en-US" sz="1800" b="0" i="1" baseline="-25000" smtClean="0">
                            <a:latin typeface="Cambria Math" panose="02040503050406030204" pitchFamily="18" charset="0"/>
                          </a:rPr>
                          <m:t>1</m:t>
                        </m:r>
                        <m:r>
                          <a:rPr lang="en-US" sz="1800" b="0" i="1" smtClean="0">
                            <a:latin typeface="Cambria Math" panose="02040503050406030204" pitchFamily="18" charset="0"/>
                          </a:rPr>
                          <m:t>(</m:t>
                        </m:r>
                        <m:r>
                          <a:rPr lang="en-US" sz="1800" b="0" i="1" smtClean="0">
                            <a:latin typeface="Cambria Math" panose="02040503050406030204" pitchFamily="18" charset="0"/>
                          </a:rPr>
                          <m:t>𝑁</m:t>
                        </m:r>
                        <m:r>
                          <a:rPr lang="en-US" sz="1800" b="0" i="1" baseline="-25000" smtClean="0">
                            <a:latin typeface="Cambria Math" panose="02040503050406030204" pitchFamily="18" charset="0"/>
                          </a:rPr>
                          <m:t>1</m:t>
                        </m:r>
                        <m:r>
                          <a:rPr lang="en-US" sz="1800" b="0" i="1" smtClean="0">
                            <a:latin typeface="Cambria Math" panose="02040503050406030204" pitchFamily="18" charset="0"/>
                          </a:rPr>
                          <m:t>+1)</m:t>
                        </m:r>
                      </m:num>
                      <m:den>
                        <m:r>
                          <a:rPr lang="en-US" sz="1800" b="0" i="1" smtClean="0">
                            <a:latin typeface="Cambria Math" panose="02040503050406030204" pitchFamily="18" charset="0"/>
                          </a:rPr>
                          <m:t>2</m:t>
                        </m:r>
                      </m:den>
                    </m:f>
                  </m:oMath>
                </a14:m>
                <a:endParaRPr lang="en-US" sz="1800" dirty="0">
                  <a:latin typeface="Athelas" panose="02000503000000020003" pitchFamily="2" charset="77"/>
                </a:endParaRPr>
              </a:p>
              <a:p>
                <a:r>
                  <a:rPr lang="en-US" sz="1800" dirty="0">
                    <a:latin typeface="Athelas" panose="02000503000000020003" pitchFamily="2" charset="77"/>
                  </a:rPr>
                  <a:t>N</a:t>
                </a:r>
                <a:r>
                  <a:rPr lang="en-US" sz="1800" baseline="-25000" dirty="0">
                    <a:latin typeface="Athelas" panose="02000503000000020003" pitchFamily="2" charset="77"/>
                  </a:rPr>
                  <a:t>1 </a:t>
                </a:r>
                <a:r>
                  <a:rPr lang="en-US" sz="1800" dirty="0">
                    <a:latin typeface="Athelas" panose="02000503000000020003" pitchFamily="2" charset="77"/>
                  </a:rPr>
                  <a:t>= Number of X</a:t>
                </a:r>
                <a:r>
                  <a:rPr lang="en-US" sz="1800" baseline="-25000" dirty="0">
                    <a:latin typeface="Athelas" panose="02000503000000020003" pitchFamily="2" charset="77"/>
                  </a:rPr>
                  <a:t>i</a:t>
                </a:r>
                <a:r>
                  <a:rPr lang="en-US" sz="1800" dirty="0">
                    <a:latin typeface="Athelas" panose="02000503000000020003" pitchFamily="2" charset="77"/>
                  </a:rPr>
                  <a:t>’s</a:t>
                </a:r>
              </a:p>
              <a:p>
                <a:r>
                  <a:rPr lang="en-US" sz="1800" dirty="0">
                    <a:latin typeface="Athelas" panose="02000503000000020003" pitchFamily="2" charset="77"/>
                  </a:rPr>
                  <a:t>N</a:t>
                </a:r>
                <a:r>
                  <a:rPr lang="en-US" sz="1800" baseline="-25000" dirty="0">
                    <a:latin typeface="Athelas" panose="02000503000000020003" pitchFamily="2" charset="77"/>
                  </a:rPr>
                  <a:t>2 </a:t>
                </a:r>
                <a:r>
                  <a:rPr lang="en-US" sz="1800" dirty="0">
                    <a:latin typeface="Athelas" panose="02000503000000020003" pitchFamily="2" charset="77"/>
                  </a:rPr>
                  <a:t>= Number of Y</a:t>
                </a:r>
                <a:r>
                  <a:rPr lang="en-US" sz="1800" baseline="-25000" dirty="0">
                    <a:latin typeface="Athelas" panose="02000503000000020003" pitchFamily="2" charset="77"/>
                  </a:rPr>
                  <a:t>i</a:t>
                </a:r>
                <a:r>
                  <a:rPr lang="en-US" sz="1800" dirty="0">
                    <a:latin typeface="Athelas" panose="02000503000000020003" pitchFamily="2" charset="77"/>
                  </a:rPr>
                  <a:t>’s</a:t>
                </a:r>
              </a:p>
              <a:p>
                <a:endParaRPr lang="en-US" sz="1800" dirty="0">
                  <a:latin typeface="Athelas" panose="02000503000000020003" pitchFamily="2" charset="77"/>
                </a:endParaRPr>
              </a:p>
              <a:p>
                <a:r>
                  <a:rPr lang="en-US" sz="1800" dirty="0">
                    <a:latin typeface="Athelas" panose="02000503000000020003" pitchFamily="2" charset="77"/>
                  </a:rPr>
                  <a:t>We obtained the tabulated value of W</a:t>
                </a:r>
                <a:r>
                  <a:rPr lang="el-GR" sz="1800" baseline="-25000" dirty="0">
                    <a:latin typeface="+mn-lt"/>
                  </a:rPr>
                  <a:t>α</a:t>
                </a:r>
                <a:r>
                  <a:rPr lang="en-US" sz="1800" dirty="0">
                    <a:latin typeface="Athelas" panose="02000503000000020003" pitchFamily="2" charset="77"/>
                  </a:rPr>
                  <a:t> from the table for the given values of N1, N2,  </a:t>
                </a:r>
                <a:r>
                  <a:rPr lang="el-GR" sz="1800" dirty="0">
                    <a:latin typeface="+mn-lt"/>
                  </a:rPr>
                  <a:t>α</a:t>
                </a:r>
                <a:endParaRPr lang="en-US" sz="1800" dirty="0">
                  <a:latin typeface="Athelas" panose="02000503000000020003" pitchFamily="2" charset="77"/>
                </a:endParaRPr>
              </a:p>
              <a:p>
                <a:endParaRPr lang="en-US" sz="1800" dirty="0">
                  <a:latin typeface="Athelas" panose="02000503000000020003" pitchFamily="2" charset="77"/>
                </a:endParaRPr>
              </a:p>
            </p:txBody>
          </p:sp>
        </mc:Choice>
        <mc:Fallback xmlns="">
          <p:sp>
            <p:nvSpPr>
              <p:cNvPr id="8" name="TextBox 7">
                <a:extLst>
                  <a:ext uri="{FF2B5EF4-FFF2-40B4-BE49-F238E27FC236}">
                    <a16:creationId xmlns:a16="http://schemas.microsoft.com/office/drawing/2014/main" id="{B26D1EDC-7D9B-7702-56EF-B6709C4A7C68}"/>
                  </a:ext>
                </a:extLst>
              </p:cNvPr>
              <p:cNvSpPr txBox="1">
                <a:spLocks noRot="1" noChangeAspect="1" noMove="1" noResize="1" noEditPoints="1" noAdjustHandles="1" noChangeArrowheads="1" noChangeShapeType="1" noTextEdit="1"/>
              </p:cNvSpPr>
              <p:nvPr/>
            </p:nvSpPr>
            <p:spPr>
              <a:xfrm>
                <a:off x="981635" y="2745972"/>
                <a:ext cx="4854389" cy="2715680"/>
              </a:xfrm>
              <a:prstGeom prst="rect">
                <a:avLst/>
              </a:prstGeom>
              <a:blipFill>
                <a:blip r:embed="rId2"/>
                <a:stretch>
                  <a:fillRect l="-1005" t="-16143"/>
                </a:stretch>
              </a:blipFill>
            </p:spPr>
            <p:txBody>
              <a:bodyPr/>
              <a:lstStyle/>
              <a:p>
                <a:r>
                  <a:rPr lang="en-IN">
                    <a:noFill/>
                  </a:rPr>
                  <a:t> </a:t>
                </a:r>
              </a:p>
            </p:txBody>
          </p:sp>
        </mc:Fallback>
      </mc:AlternateContent>
      <p:sp>
        <p:nvSpPr>
          <p:cNvPr id="10" name="TextBox 9">
            <a:extLst>
              <a:ext uri="{FF2B5EF4-FFF2-40B4-BE49-F238E27FC236}">
                <a16:creationId xmlns:a16="http://schemas.microsoft.com/office/drawing/2014/main" id="{73002F37-12DE-B449-B562-DF679AE5C284}"/>
              </a:ext>
            </a:extLst>
          </p:cNvPr>
          <p:cNvSpPr txBox="1"/>
          <p:nvPr/>
        </p:nvSpPr>
        <p:spPr>
          <a:xfrm>
            <a:off x="6629400" y="2745972"/>
            <a:ext cx="4935071" cy="3590727"/>
          </a:xfrm>
          <a:prstGeom prst="rect">
            <a:avLst/>
          </a:prstGeom>
          <a:noFill/>
        </p:spPr>
        <p:txBody>
          <a:bodyPr wrap="square" rtlCol="0">
            <a:spAutoFit/>
          </a:bodyPr>
          <a:lstStyle/>
          <a:p>
            <a:r>
              <a:rPr lang="en-US" sz="1600" dirty="0"/>
              <a:t>For</a:t>
            </a:r>
          </a:p>
          <a:p>
            <a:r>
              <a:rPr lang="en-US" sz="1600" dirty="0"/>
              <a:t>H</a:t>
            </a:r>
            <a:r>
              <a:rPr lang="en-US" sz="1600" baseline="-25000" dirty="0"/>
              <a:t>0</a:t>
            </a:r>
            <a:r>
              <a:rPr lang="en-US" sz="1600" dirty="0"/>
              <a:t> : F(X) = G(Y)</a:t>
            </a:r>
          </a:p>
          <a:p>
            <a:r>
              <a:rPr lang="en-US" sz="1600" dirty="0"/>
              <a:t>H</a:t>
            </a:r>
            <a:r>
              <a:rPr lang="en-US" sz="1600" baseline="-25000" dirty="0"/>
              <a:t>1</a:t>
            </a:r>
            <a:r>
              <a:rPr lang="en-US" sz="1600" dirty="0"/>
              <a:t> : F(X) &gt; G(Y) i.e. M</a:t>
            </a:r>
            <a:r>
              <a:rPr lang="en-US" sz="1600" baseline="-25000" dirty="0"/>
              <a:t>x </a:t>
            </a:r>
            <a:r>
              <a:rPr lang="en-US" sz="1600" dirty="0"/>
              <a:t>&lt; M</a:t>
            </a:r>
            <a:r>
              <a:rPr lang="en-US" sz="1600" baseline="-25000" dirty="0"/>
              <a:t>y</a:t>
            </a:r>
          </a:p>
          <a:p>
            <a:r>
              <a:rPr lang="en-US" sz="1600" dirty="0"/>
              <a:t>Reject H</a:t>
            </a:r>
            <a:r>
              <a:rPr lang="en-US" sz="1600" baseline="-25000" dirty="0"/>
              <a:t>0</a:t>
            </a:r>
            <a:r>
              <a:rPr lang="en-US" sz="1600" dirty="0"/>
              <a:t> if U &lt; W</a:t>
            </a:r>
            <a:r>
              <a:rPr lang="en-US" sz="1600" baseline="-25000" dirty="0"/>
              <a:t>⍺, N1, N2</a:t>
            </a:r>
          </a:p>
          <a:p>
            <a:endParaRPr lang="en-US" sz="1600" baseline="-25000" dirty="0"/>
          </a:p>
          <a:p>
            <a:r>
              <a:rPr lang="en-US" sz="1600" dirty="0"/>
              <a:t>For</a:t>
            </a:r>
          </a:p>
          <a:p>
            <a:r>
              <a:rPr lang="en-US" sz="1600" dirty="0"/>
              <a:t>H</a:t>
            </a:r>
            <a:r>
              <a:rPr lang="en-US" sz="1600" baseline="-25000" dirty="0"/>
              <a:t>0</a:t>
            </a:r>
            <a:r>
              <a:rPr lang="en-US" sz="1600" dirty="0"/>
              <a:t> : F(X) = G(Y)</a:t>
            </a:r>
          </a:p>
          <a:p>
            <a:r>
              <a:rPr lang="en-US" sz="1600" dirty="0"/>
              <a:t>H</a:t>
            </a:r>
            <a:r>
              <a:rPr lang="en-US" sz="1600" baseline="-25000" dirty="0"/>
              <a:t>1</a:t>
            </a:r>
            <a:r>
              <a:rPr lang="en-US" sz="1600" dirty="0"/>
              <a:t> : F(X) &lt; G(Y) i.e. Mx &gt; My</a:t>
            </a:r>
          </a:p>
          <a:p>
            <a:r>
              <a:rPr lang="en-US" sz="1600" dirty="0"/>
              <a:t>Reject H</a:t>
            </a:r>
            <a:r>
              <a:rPr lang="en-US" sz="1600" baseline="-25000" dirty="0"/>
              <a:t>0</a:t>
            </a:r>
            <a:r>
              <a:rPr lang="en-US" sz="1600" dirty="0"/>
              <a:t> if U &gt; W</a:t>
            </a:r>
            <a:r>
              <a:rPr lang="en-US" sz="1600" baseline="-25000" dirty="0"/>
              <a:t>1-⍺, N1, N2    </a:t>
            </a:r>
            <a:r>
              <a:rPr lang="en-US" sz="1600" dirty="0"/>
              <a:t>[W</a:t>
            </a:r>
            <a:r>
              <a:rPr lang="en-US" sz="1600" baseline="-25000" dirty="0"/>
              <a:t>1-⍺</a:t>
            </a:r>
            <a:r>
              <a:rPr lang="en-US" sz="1600" dirty="0"/>
              <a:t>=N1.N2 – W</a:t>
            </a:r>
            <a:r>
              <a:rPr lang="el-GR" sz="1600" baseline="-25000" dirty="0"/>
              <a:t>α</a:t>
            </a:r>
            <a:r>
              <a:rPr lang="en-US" sz="1600" dirty="0"/>
              <a:t>]</a:t>
            </a:r>
          </a:p>
          <a:p>
            <a:endParaRPr lang="en-US" sz="1600" baseline="-25000" dirty="0"/>
          </a:p>
          <a:p>
            <a:r>
              <a:rPr lang="en-US" sz="1600" dirty="0"/>
              <a:t>For</a:t>
            </a:r>
          </a:p>
          <a:p>
            <a:r>
              <a:rPr lang="en-US" sz="1600" dirty="0"/>
              <a:t>H</a:t>
            </a:r>
            <a:r>
              <a:rPr lang="en-US" sz="1600" baseline="-25000" dirty="0"/>
              <a:t>0</a:t>
            </a:r>
            <a:r>
              <a:rPr lang="en-US" sz="1600" dirty="0"/>
              <a:t> : F(X) = G(Y)</a:t>
            </a:r>
          </a:p>
          <a:p>
            <a:r>
              <a:rPr lang="en-US" sz="1600" dirty="0"/>
              <a:t>H</a:t>
            </a:r>
            <a:r>
              <a:rPr lang="en-US" sz="1600" baseline="-25000" dirty="0"/>
              <a:t>1</a:t>
            </a:r>
            <a:r>
              <a:rPr lang="en-US" sz="1600" dirty="0"/>
              <a:t> : F(X) ≠ G(Y) i.e. M</a:t>
            </a:r>
            <a:r>
              <a:rPr lang="en-US" sz="1600" baseline="-25000" dirty="0"/>
              <a:t>x</a:t>
            </a:r>
            <a:r>
              <a:rPr lang="en-US" sz="1600" dirty="0"/>
              <a:t> ≠ M</a:t>
            </a:r>
            <a:r>
              <a:rPr lang="en-US" sz="1600" baseline="-25000" dirty="0"/>
              <a:t>y</a:t>
            </a:r>
          </a:p>
          <a:p>
            <a:r>
              <a:rPr lang="en-US" sz="1600" dirty="0"/>
              <a:t>Reject H</a:t>
            </a:r>
            <a:r>
              <a:rPr lang="en-US" sz="1600" baseline="-25000" dirty="0"/>
              <a:t>0</a:t>
            </a:r>
            <a:r>
              <a:rPr lang="en-US" sz="1600" dirty="0"/>
              <a:t> if U &lt; W</a:t>
            </a:r>
            <a:r>
              <a:rPr lang="en-US" sz="1600" baseline="-25000" dirty="0"/>
              <a:t>⍺/2, N1, N2</a:t>
            </a:r>
            <a:r>
              <a:rPr lang="en-US" sz="1600" dirty="0"/>
              <a:t> or U &gt; W</a:t>
            </a:r>
            <a:r>
              <a:rPr lang="en-US" sz="1600" baseline="-25000" dirty="0"/>
              <a:t>1-⍺/2, N1, N2</a:t>
            </a:r>
            <a:r>
              <a:rPr lang="en-US" sz="1600" dirty="0"/>
              <a:t> </a:t>
            </a:r>
          </a:p>
          <a:p>
            <a:endParaRPr lang="en-US" dirty="0"/>
          </a:p>
        </p:txBody>
      </p:sp>
    </p:spTree>
    <p:extLst>
      <p:ext uri="{BB962C8B-B14F-4D97-AF65-F5344CB8AC3E}">
        <p14:creationId xmlns:p14="http://schemas.microsoft.com/office/powerpoint/2010/main" val="115821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EE1A97-4D37-B7F7-8E71-B163E0278B19}"/>
              </a:ext>
            </a:extLst>
          </p:cNvPr>
          <p:cNvSpPr txBox="1"/>
          <p:nvPr/>
        </p:nvSpPr>
        <p:spPr>
          <a:xfrm>
            <a:off x="927847" y="1331258"/>
            <a:ext cx="6710082" cy="707886"/>
          </a:xfrm>
          <a:prstGeom prst="rect">
            <a:avLst/>
          </a:prstGeom>
          <a:noFill/>
        </p:spPr>
        <p:txBody>
          <a:bodyPr wrap="square" rtlCol="0">
            <a:spAutoFit/>
          </a:bodyPr>
          <a:lstStyle/>
          <a:p>
            <a:r>
              <a:rPr lang="en-US" sz="2000" b="1" dirty="0">
                <a:latin typeface="Athelas" panose="02000503000000020003" pitchFamily="2" charset="77"/>
              </a:rPr>
              <a:t>Test and their respective formulas used:</a:t>
            </a:r>
          </a:p>
          <a:p>
            <a:r>
              <a:rPr lang="en-US" sz="2000" b="1" dirty="0">
                <a:latin typeface="Athelas" panose="02000503000000020003" pitchFamily="2" charset="77"/>
              </a:rPr>
              <a:t>(Freidman Two Way Analysis by Ranks)</a:t>
            </a:r>
          </a:p>
        </p:txBody>
      </p:sp>
      <p:sp>
        <p:nvSpPr>
          <p:cNvPr id="3" name="TextBox 2">
            <a:extLst>
              <a:ext uri="{FF2B5EF4-FFF2-40B4-BE49-F238E27FC236}">
                <a16:creationId xmlns:a16="http://schemas.microsoft.com/office/drawing/2014/main" id="{70D2A85A-2C0B-3FA3-EF5A-49076C6C8C70}"/>
              </a:ext>
            </a:extLst>
          </p:cNvPr>
          <p:cNvSpPr txBox="1"/>
          <p:nvPr/>
        </p:nvSpPr>
        <p:spPr>
          <a:xfrm>
            <a:off x="981635" y="2286000"/>
            <a:ext cx="4303059" cy="338554"/>
          </a:xfrm>
          <a:prstGeom prst="rect">
            <a:avLst/>
          </a:prstGeom>
          <a:noFill/>
        </p:spPr>
        <p:txBody>
          <a:bodyPr wrap="square" rtlCol="0">
            <a:spAutoFit/>
          </a:bodyPr>
          <a:lstStyle/>
          <a:p>
            <a:r>
              <a:rPr lang="en-US" sz="1600" dirty="0">
                <a:latin typeface="Athelas" panose="02000503000000020003" pitchFamily="2" charset="77"/>
              </a:rPr>
              <a:t>Statistical Test</a:t>
            </a:r>
          </a:p>
        </p:txBody>
      </p:sp>
      <p:sp>
        <p:nvSpPr>
          <p:cNvPr id="4" name="TextBox 3">
            <a:extLst>
              <a:ext uri="{FF2B5EF4-FFF2-40B4-BE49-F238E27FC236}">
                <a16:creationId xmlns:a16="http://schemas.microsoft.com/office/drawing/2014/main" id="{3F24D20C-EC4E-3485-B4CF-7EBF52719C0F}"/>
              </a:ext>
            </a:extLst>
          </p:cNvPr>
          <p:cNvSpPr txBox="1"/>
          <p:nvPr/>
        </p:nvSpPr>
        <p:spPr>
          <a:xfrm>
            <a:off x="6629400" y="2286000"/>
            <a:ext cx="3953435" cy="338554"/>
          </a:xfrm>
          <a:prstGeom prst="rect">
            <a:avLst/>
          </a:prstGeom>
          <a:noFill/>
        </p:spPr>
        <p:txBody>
          <a:bodyPr wrap="square" rtlCol="0">
            <a:spAutoFit/>
          </a:bodyPr>
          <a:lstStyle/>
          <a:p>
            <a:r>
              <a:rPr lang="en-US" sz="1600" dirty="0">
                <a:latin typeface="Athelas" panose="02000503000000020003" pitchFamily="2" charset="77"/>
              </a:rPr>
              <a:t>Rejection Criteria</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3BB17C5-ABF0-975B-754B-DEE9120CF5C3}"/>
                  </a:ext>
                </a:extLst>
              </p:cNvPr>
              <p:cNvSpPr txBox="1"/>
              <p:nvPr/>
            </p:nvSpPr>
            <p:spPr>
              <a:xfrm>
                <a:off x="995703" y="3003114"/>
                <a:ext cx="4007223" cy="2689582"/>
              </a:xfrm>
              <a:prstGeom prst="rect">
                <a:avLst/>
              </a:prstGeom>
              <a:noFill/>
            </p:spPr>
            <p:txBody>
              <a:bodyPr wrap="square" rtlCol="0">
                <a:spAutoFit/>
              </a:bodyPr>
              <a:lstStyle/>
              <a:p>
                <a:r>
                  <a:rPr lang="en-US" sz="1600" dirty="0">
                    <a:latin typeface="Athelas" panose="02000503000000020003" pitchFamily="2" charset="77"/>
                  </a:rPr>
                  <a:t>𝛘</a:t>
                </a:r>
                <a:r>
                  <a:rPr lang="en-US" sz="1600" baseline="30000" dirty="0">
                    <a:latin typeface="Athelas" panose="02000503000000020003" pitchFamily="2" charset="77"/>
                  </a:rPr>
                  <a:t>2</a:t>
                </a:r>
                <a:r>
                  <a:rPr lang="en-US" sz="1600" baseline="-25000" dirty="0">
                    <a:latin typeface="Athelas" panose="02000503000000020003" pitchFamily="2" charset="77"/>
                  </a:rPr>
                  <a:t>r </a:t>
                </a:r>
                <a:r>
                  <a:rPr lang="en-US" sz="1600" dirty="0">
                    <a:latin typeface="Athelas" panose="02000503000000020003" pitchFamily="2" charset="77"/>
                  </a:rPr>
                  <a:t>=</a:t>
                </a:r>
                <a14:m>
                  <m:oMath xmlns:m="http://schemas.openxmlformats.org/officeDocument/2006/math">
                    <m:f>
                      <m:fPr>
                        <m:ctrlPr>
                          <a:rPr lang="en-US" sz="1600" i="1" smtClean="0">
                            <a:latin typeface="Cambria Math" panose="02040503050406030204" pitchFamily="18" charset="0"/>
                          </a:rPr>
                        </m:ctrlPr>
                      </m:fPr>
                      <m:num>
                        <m:r>
                          <a:rPr lang="en-US" sz="1600" b="0" i="1" smtClean="0">
                            <a:latin typeface="Cambria Math" panose="02040503050406030204" pitchFamily="18" charset="0"/>
                          </a:rPr>
                          <m:t>12</m:t>
                        </m:r>
                      </m:num>
                      <m:den>
                        <m:r>
                          <a:rPr lang="en-US" sz="1600" b="0" i="1" smtClean="0">
                            <a:latin typeface="Cambria Math" panose="02040503050406030204" pitchFamily="18" charset="0"/>
                          </a:rPr>
                          <m:t>𝑏𝑘</m:t>
                        </m:r>
                        <m:r>
                          <a:rPr lang="en-US" sz="1600" b="0" i="1" smtClean="0">
                            <a:latin typeface="Cambria Math" panose="02040503050406030204" pitchFamily="18" charset="0"/>
                          </a:rPr>
                          <m:t>(</m:t>
                        </m:r>
                        <m:r>
                          <a:rPr lang="en-US" sz="1600" b="0" i="1" smtClean="0">
                            <a:latin typeface="Cambria Math" panose="02040503050406030204" pitchFamily="18" charset="0"/>
                          </a:rPr>
                          <m:t>𝑘</m:t>
                        </m:r>
                        <m:r>
                          <a:rPr lang="en-US" sz="1600" b="0" i="1" smtClean="0">
                            <a:latin typeface="Cambria Math" panose="02040503050406030204" pitchFamily="18" charset="0"/>
                          </a:rPr>
                          <m:t>+1)</m:t>
                        </m:r>
                      </m:den>
                    </m:f>
                    <m:nary>
                      <m:naryPr>
                        <m:chr m:val="∑"/>
                        <m:ctrlPr>
                          <a:rPr lang="en-US" sz="1600" i="1" smtClean="0">
                            <a:latin typeface="Cambria Math" panose="02040503050406030204" pitchFamily="18" charset="0"/>
                          </a:rPr>
                        </m:ctrlPr>
                      </m:naryPr>
                      <m:sub>
                        <m:r>
                          <m:rPr>
                            <m:brk m:alnAt="23"/>
                          </m:rPr>
                          <a:rPr lang="en-US" sz="1600" b="0" i="1" smtClean="0">
                            <a:latin typeface="Cambria Math" panose="02040503050406030204" pitchFamily="18" charset="0"/>
                          </a:rPr>
                          <m:t>𝑗</m:t>
                        </m:r>
                        <m:r>
                          <a:rPr lang="en-US" sz="1600" b="0" i="1" smtClean="0">
                            <a:latin typeface="Cambria Math" panose="02040503050406030204" pitchFamily="18" charset="0"/>
                          </a:rPr>
                          <m:t>=1</m:t>
                        </m:r>
                      </m:sub>
                      <m:sup>
                        <m:r>
                          <a:rPr lang="en-US" sz="1600" b="0" i="1" smtClean="0">
                            <a:latin typeface="Cambria Math" panose="02040503050406030204" pitchFamily="18" charset="0"/>
                          </a:rPr>
                          <m:t>𝑘</m:t>
                        </m:r>
                      </m:sup>
                      <m:e>
                        <m:r>
                          <a:rPr lang="en-US" sz="1600" b="0" i="1" smtClean="0">
                            <a:latin typeface="Cambria Math" panose="02040503050406030204" pitchFamily="18" charset="0"/>
                          </a:rPr>
                          <m:t>𝑅</m:t>
                        </m:r>
                        <m:r>
                          <a:rPr lang="en-US" sz="1600" b="0" i="1" baseline="-25000" smtClean="0">
                            <a:latin typeface="Cambria Math" panose="02040503050406030204" pitchFamily="18" charset="0"/>
                          </a:rPr>
                          <m:t>𝑗</m:t>
                        </m:r>
                      </m:e>
                    </m:nary>
                  </m:oMath>
                </a14:m>
                <a:r>
                  <a:rPr lang="en-US" sz="1600" baseline="30000" dirty="0">
                    <a:latin typeface="Athelas" panose="02000503000000020003" pitchFamily="2" charset="77"/>
                  </a:rPr>
                  <a:t>2</a:t>
                </a:r>
                <a:r>
                  <a:rPr lang="en-US" sz="1600" dirty="0">
                    <a:latin typeface="Athelas" panose="02000503000000020003" pitchFamily="2" charset="77"/>
                  </a:rPr>
                  <a:t> – 3b(k+1) </a:t>
                </a:r>
              </a:p>
              <a:p>
                <a:endParaRPr lang="en-US" sz="1600" dirty="0">
                  <a:latin typeface="Athelas" panose="02000503000000020003" pitchFamily="2" charset="77"/>
                </a:endParaRPr>
              </a:p>
              <a:p>
                <a:r>
                  <a:rPr lang="en-US" sz="1600" dirty="0">
                    <a:latin typeface="Athelas" panose="02000503000000020003" pitchFamily="2" charset="77"/>
                  </a:rPr>
                  <a:t>R</a:t>
                </a:r>
                <a:r>
                  <a:rPr lang="en-US" sz="1600" baseline="-25000" dirty="0">
                    <a:latin typeface="Athelas" panose="02000503000000020003" pitchFamily="2" charset="77"/>
                  </a:rPr>
                  <a:t>j </a:t>
                </a:r>
                <a:r>
                  <a:rPr lang="en-US" sz="1600" dirty="0">
                    <a:latin typeface="Athelas" panose="02000503000000020003" pitchFamily="2" charset="77"/>
                  </a:rPr>
                  <a:t>= Sum of ranks in each column</a:t>
                </a:r>
              </a:p>
              <a:p>
                <a:r>
                  <a:rPr lang="en-US" sz="1600" dirty="0">
                    <a:latin typeface="Athelas" panose="02000503000000020003" pitchFamily="2" charset="77"/>
                  </a:rPr>
                  <a:t>b = Number of blocks</a:t>
                </a:r>
              </a:p>
              <a:p>
                <a:r>
                  <a:rPr lang="en-US" sz="1600" dirty="0">
                    <a:latin typeface="Athelas" panose="02000503000000020003" pitchFamily="2" charset="77"/>
                  </a:rPr>
                  <a:t>k = Number of treatments</a:t>
                </a:r>
              </a:p>
              <a:p>
                <a:endParaRPr lang="en-US" sz="1600" dirty="0">
                  <a:latin typeface="Athelas" panose="02000503000000020003" pitchFamily="2" charset="77"/>
                </a:endParaRPr>
              </a:p>
              <a:p>
                <a:r>
                  <a:rPr lang="en-US" sz="1600" dirty="0">
                    <a:latin typeface="Athelas" panose="02000503000000020003" pitchFamily="2" charset="77"/>
                  </a:rPr>
                  <a:t>We obtained the tabulated value of 𝛘</a:t>
                </a:r>
                <a:r>
                  <a:rPr lang="en-US" sz="1600" baseline="30000" dirty="0">
                    <a:latin typeface="Athelas" panose="02000503000000020003" pitchFamily="2" charset="77"/>
                  </a:rPr>
                  <a:t>2</a:t>
                </a:r>
                <a:r>
                  <a:rPr lang="en-US" sz="1600" baseline="-25000" dirty="0">
                    <a:latin typeface="Athelas" panose="02000503000000020003" pitchFamily="2" charset="77"/>
                  </a:rPr>
                  <a:t>r </a:t>
                </a:r>
                <a:r>
                  <a:rPr lang="en-US" sz="1600" dirty="0">
                    <a:latin typeface="Athelas" panose="02000503000000020003" pitchFamily="2" charset="77"/>
                  </a:rPr>
                  <a:t>from the table for given value of r, </a:t>
                </a:r>
                <a:r>
                  <a:rPr lang="el-GR" sz="1600" dirty="0">
                    <a:latin typeface="+mn-lt"/>
                  </a:rPr>
                  <a:t>α</a:t>
                </a:r>
                <a:r>
                  <a:rPr lang="en-US" sz="1600" dirty="0">
                    <a:latin typeface="Athelas" panose="02000503000000020003" pitchFamily="2" charset="77"/>
                  </a:rPr>
                  <a:t> </a:t>
                </a:r>
              </a:p>
              <a:p>
                <a:endParaRPr lang="en-US" sz="1600" dirty="0">
                  <a:latin typeface="Athelas" panose="02000503000000020003" pitchFamily="2" charset="77"/>
                </a:endParaRPr>
              </a:p>
              <a:p>
                <a:r>
                  <a:rPr lang="en-US" sz="1600" dirty="0">
                    <a:latin typeface="Athelas" panose="02000503000000020003" pitchFamily="2" charset="77"/>
                  </a:rPr>
                  <a:t>r = (b-1).(k-1)</a:t>
                </a:r>
              </a:p>
            </p:txBody>
          </p:sp>
        </mc:Choice>
        <mc:Fallback xmlns="">
          <p:sp>
            <p:nvSpPr>
              <p:cNvPr id="5" name="TextBox 4">
                <a:extLst>
                  <a:ext uri="{FF2B5EF4-FFF2-40B4-BE49-F238E27FC236}">
                    <a16:creationId xmlns:a16="http://schemas.microsoft.com/office/drawing/2014/main" id="{43BB17C5-ABF0-975B-754B-DEE9120CF5C3}"/>
                  </a:ext>
                </a:extLst>
              </p:cNvPr>
              <p:cNvSpPr txBox="1">
                <a:spLocks noRot="1" noChangeAspect="1" noMove="1" noResize="1" noEditPoints="1" noAdjustHandles="1" noChangeArrowheads="1" noChangeShapeType="1" noTextEdit="1"/>
              </p:cNvSpPr>
              <p:nvPr/>
            </p:nvSpPr>
            <p:spPr>
              <a:xfrm>
                <a:off x="995703" y="3003114"/>
                <a:ext cx="4007223" cy="2689582"/>
              </a:xfrm>
              <a:prstGeom prst="rect">
                <a:avLst/>
              </a:prstGeom>
              <a:blipFill>
                <a:blip r:embed="rId2"/>
                <a:stretch>
                  <a:fillRect l="-760" t="-11791" b="-2041"/>
                </a:stretch>
              </a:blipFill>
            </p:spPr>
            <p:txBody>
              <a:bodyPr/>
              <a:lstStyle/>
              <a:p>
                <a:r>
                  <a:rPr lang="en-IN">
                    <a:noFill/>
                  </a:rPr>
                  <a:t> </a:t>
                </a:r>
              </a:p>
            </p:txBody>
          </p:sp>
        </mc:Fallback>
      </mc:AlternateContent>
      <p:sp>
        <p:nvSpPr>
          <p:cNvPr id="10" name="TextBox 9">
            <a:extLst>
              <a:ext uri="{FF2B5EF4-FFF2-40B4-BE49-F238E27FC236}">
                <a16:creationId xmlns:a16="http://schemas.microsoft.com/office/drawing/2014/main" id="{7AC32E28-91C5-30C5-9CFB-CF5E5393C150}"/>
              </a:ext>
            </a:extLst>
          </p:cNvPr>
          <p:cNvSpPr txBox="1"/>
          <p:nvPr/>
        </p:nvSpPr>
        <p:spPr>
          <a:xfrm>
            <a:off x="6629400" y="3003114"/>
            <a:ext cx="4693024" cy="3016210"/>
          </a:xfrm>
          <a:prstGeom prst="rect">
            <a:avLst/>
          </a:prstGeom>
          <a:noFill/>
        </p:spPr>
        <p:txBody>
          <a:bodyPr wrap="square" rtlCol="0">
            <a:spAutoFit/>
          </a:bodyPr>
          <a:lstStyle/>
          <a:p>
            <a:r>
              <a:rPr lang="en-US" sz="1600" dirty="0">
                <a:latin typeface="Athelas" panose="02000503000000020003" pitchFamily="2" charset="77"/>
              </a:rPr>
              <a:t>H</a:t>
            </a:r>
            <a:r>
              <a:rPr lang="en-US" sz="1600" baseline="-25000" dirty="0">
                <a:latin typeface="Athelas" panose="02000503000000020003" pitchFamily="2" charset="77"/>
              </a:rPr>
              <a:t>0 </a:t>
            </a:r>
            <a:r>
              <a:rPr lang="en-US" sz="1600" dirty="0">
                <a:latin typeface="Athelas" panose="02000503000000020003" pitchFamily="2" charset="77"/>
              </a:rPr>
              <a:t>: Population within a block are identical.</a:t>
            </a:r>
          </a:p>
          <a:p>
            <a:r>
              <a:rPr lang="en-US" sz="1600" dirty="0">
                <a:latin typeface="Athelas" panose="02000503000000020003" pitchFamily="2" charset="77"/>
              </a:rPr>
              <a:t>H</a:t>
            </a:r>
            <a:r>
              <a:rPr lang="en-US" sz="1600" baseline="-25000" dirty="0">
                <a:latin typeface="Athelas" panose="02000503000000020003" pitchFamily="2" charset="77"/>
              </a:rPr>
              <a:t>1</a:t>
            </a:r>
            <a:r>
              <a:rPr lang="en-US" sz="1600" dirty="0">
                <a:latin typeface="Athelas" panose="02000503000000020003" pitchFamily="2" charset="77"/>
              </a:rPr>
              <a:t> : Atleast one treatment tends to yield larger values than atleast one treatment.</a:t>
            </a:r>
          </a:p>
          <a:p>
            <a:endParaRPr lang="en-US" sz="1600" dirty="0">
              <a:latin typeface="Athelas" panose="02000503000000020003" pitchFamily="2" charset="77"/>
            </a:endParaRPr>
          </a:p>
          <a:p>
            <a:r>
              <a:rPr lang="en-US" sz="1600" dirty="0">
                <a:latin typeface="Athelas" panose="02000503000000020003" pitchFamily="2" charset="77"/>
              </a:rPr>
              <a:t>Case1: When b&amp;k are small we use Friedman table.</a:t>
            </a:r>
          </a:p>
          <a:p>
            <a:r>
              <a:rPr lang="en-US" sz="1600" dirty="0">
                <a:latin typeface="Athelas" panose="02000503000000020003" pitchFamily="2" charset="77"/>
              </a:rPr>
              <a:t>Reject H</a:t>
            </a:r>
            <a:r>
              <a:rPr lang="en-US" sz="1600" baseline="-25000" dirty="0">
                <a:latin typeface="Athelas" panose="02000503000000020003" pitchFamily="2" charset="77"/>
              </a:rPr>
              <a:t>0</a:t>
            </a:r>
            <a:r>
              <a:rPr lang="en-US" sz="1600" dirty="0">
                <a:latin typeface="Athelas" panose="02000503000000020003" pitchFamily="2" charset="77"/>
              </a:rPr>
              <a:t> if 𝛘</a:t>
            </a:r>
            <a:r>
              <a:rPr lang="en-US" sz="1600" baseline="30000" dirty="0">
                <a:latin typeface="Athelas" panose="02000503000000020003" pitchFamily="2" charset="77"/>
              </a:rPr>
              <a:t>2</a:t>
            </a:r>
            <a:r>
              <a:rPr lang="en-US" sz="1600" baseline="-25000" dirty="0">
                <a:latin typeface="Athelas" panose="02000503000000020003" pitchFamily="2" charset="77"/>
              </a:rPr>
              <a:t>r cal </a:t>
            </a:r>
            <a:r>
              <a:rPr lang="en-US" sz="1600" dirty="0">
                <a:latin typeface="Athelas" panose="02000503000000020003" pitchFamily="2" charset="77"/>
              </a:rPr>
              <a:t>&gt; 𝛘</a:t>
            </a:r>
            <a:r>
              <a:rPr lang="en-US" sz="1600" baseline="30000" dirty="0">
                <a:latin typeface="Athelas" panose="02000503000000020003" pitchFamily="2" charset="77"/>
              </a:rPr>
              <a:t>2</a:t>
            </a:r>
            <a:r>
              <a:rPr lang="en-US" sz="1600" baseline="-25000" dirty="0">
                <a:latin typeface="Athelas" panose="02000503000000020003" pitchFamily="2" charset="77"/>
              </a:rPr>
              <a:t>r(table)</a:t>
            </a:r>
          </a:p>
          <a:p>
            <a:r>
              <a:rPr lang="en-US" sz="1600" dirty="0">
                <a:latin typeface="Athelas" panose="02000503000000020003" pitchFamily="2" charset="77"/>
              </a:rPr>
              <a:t>Do not reject otherwise.</a:t>
            </a:r>
          </a:p>
          <a:p>
            <a:endParaRPr lang="en-US" sz="1600" dirty="0">
              <a:latin typeface="Athelas" panose="02000503000000020003" pitchFamily="2" charset="77"/>
            </a:endParaRPr>
          </a:p>
          <a:p>
            <a:r>
              <a:rPr lang="en-US" sz="1600" dirty="0">
                <a:latin typeface="Athelas" panose="02000503000000020003" pitchFamily="2" charset="77"/>
              </a:rPr>
              <a:t>Case 2: When tabulated values are not available.</a:t>
            </a:r>
          </a:p>
          <a:p>
            <a:r>
              <a:rPr lang="en-US" sz="1600" dirty="0">
                <a:latin typeface="Athelas" panose="02000503000000020003" pitchFamily="2" charset="77"/>
              </a:rPr>
              <a:t>Reject H</a:t>
            </a:r>
            <a:r>
              <a:rPr lang="en-US" sz="1600" baseline="-25000" dirty="0">
                <a:latin typeface="Athelas" panose="02000503000000020003" pitchFamily="2" charset="77"/>
              </a:rPr>
              <a:t>0</a:t>
            </a:r>
            <a:r>
              <a:rPr lang="en-US" sz="1600" dirty="0">
                <a:latin typeface="Athelas" panose="02000503000000020003" pitchFamily="2" charset="77"/>
              </a:rPr>
              <a:t> if 𝛘</a:t>
            </a:r>
            <a:r>
              <a:rPr lang="en-US" sz="1600" baseline="30000" dirty="0">
                <a:latin typeface="Athelas" panose="02000503000000020003" pitchFamily="2" charset="77"/>
              </a:rPr>
              <a:t>2</a:t>
            </a:r>
            <a:r>
              <a:rPr lang="en-US" sz="1600" baseline="-25000" dirty="0">
                <a:latin typeface="Athelas" panose="02000503000000020003" pitchFamily="2" charset="77"/>
              </a:rPr>
              <a:t>r cal</a:t>
            </a:r>
            <a:r>
              <a:rPr lang="en-US" sz="1600" dirty="0">
                <a:latin typeface="Athelas" panose="02000503000000020003" pitchFamily="2" charset="77"/>
              </a:rPr>
              <a:t>&gt; 𝛘</a:t>
            </a:r>
            <a:r>
              <a:rPr lang="en-US" sz="1600" baseline="30000" dirty="0">
                <a:latin typeface="Athelas" panose="02000503000000020003" pitchFamily="2" charset="77"/>
              </a:rPr>
              <a:t>2</a:t>
            </a:r>
            <a:r>
              <a:rPr lang="en-US" sz="1600" baseline="-25000" dirty="0">
                <a:latin typeface="Athelas" panose="02000503000000020003" pitchFamily="2" charset="77"/>
              </a:rPr>
              <a:t>k-1,1-𝝰</a:t>
            </a:r>
          </a:p>
          <a:p>
            <a:r>
              <a:rPr lang="en-US" sz="1600" dirty="0">
                <a:latin typeface="Athelas" panose="02000503000000020003" pitchFamily="2" charset="77"/>
              </a:rPr>
              <a:t>Do not reject otherwise.</a:t>
            </a:r>
          </a:p>
          <a:p>
            <a:endParaRPr lang="en-US" dirty="0"/>
          </a:p>
        </p:txBody>
      </p:sp>
    </p:spTree>
    <p:extLst>
      <p:ext uri="{BB962C8B-B14F-4D97-AF65-F5344CB8AC3E}">
        <p14:creationId xmlns:p14="http://schemas.microsoft.com/office/powerpoint/2010/main" val="1728225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FA52F8-B9DF-BE97-9A39-3FD7D1177436}"/>
              </a:ext>
            </a:extLst>
          </p:cNvPr>
          <p:cNvSpPr txBox="1"/>
          <p:nvPr/>
        </p:nvSpPr>
        <p:spPr>
          <a:xfrm>
            <a:off x="712694" y="1506071"/>
            <a:ext cx="6172200" cy="707886"/>
          </a:xfrm>
          <a:prstGeom prst="rect">
            <a:avLst/>
          </a:prstGeom>
          <a:noFill/>
        </p:spPr>
        <p:txBody>
          <a:bodyPr wrap="square" rtlCol="0">
            <a:spAutoFit/>
          </a:bodyPr>
          <a:lstStyle/>
          <a:p>
            <a:r>
              <a:rPr lang="en-US" sz="2000" b="1" dirty="0">
                <a:latin typeface="Athelas" panose="02000503000000020003" pitchFamily="2" charset="77"/>
              </a:rPr>
              <a:t>Test and their respective formulas used:</a:t>
            </a:r>
          </a:p>
          <a:p>
            <a:r>
              <a:rPr lang="en-US" sz="2000" b="1" dirty="0">
                <a:latin typeface="Athelas" panose="02000503000000020003" pitchFamily="2" charset="77"/>
              </a:rPr>
              <a:t>(Paired Sample Sign Test)</a:t>
            </a:r>
            <a:endParaRPr lang="en-US" sz="2000" dirty="0"/>
          </a:p>
        </p:txBody>
      </p:sp>
      <p:sp>
        <p:nvSpPr>
          <p:cNvPr id="3" name="TextBox 2">
            <a:extLst>
              <a:ext uri="{FF2B5EF4-FFF2-40B4-BE49-F238E27FC236}">
                <a16:creationId xmlns:a16="http://schemas.microsoft.com/office/drawing/2014/main" id="{A3B8F33F-FB64-AC36-AD06-AEE0B96202F4}"/>
              </a:ext>
            </a:extLst>
          </p:cNvPr>
          <p:cNvSpPr txBox="1"/>
          <p:nvPr/>
        </p:nvSpPr>
        <p:spPr>
          <a:xfrm>
            <a:off x="981635" y="2544625"/>
            <a:ext cx="4303059" cy="338554"/>
          </a:xfrm>
          <a:prstGeom prst="rect">
            <a:avLst/>
          </a:prstGeom>
          <a:noFill/>
        </p:spPr>
        <p:txBody>
          <a:bodyPr wrap="square" rtlCol="0">
            <a:spAutoFit/>
          </a:bodyPr>
          <a:lstStyle/>
          <a:p>
            <a:r>
              <a:rPr lang="en-US" sz="1600" dirty="0">
                <a:latin typeface="Athelas" panose="02000503000000020003" pitchFamily="2" charset="77"/>
              </a:rPr>
              <a:t>Statistical Test</a:t>
            </a:r>
          </a:p>
        </p:txBody>
      </p:sp>
      <p:sp>
        <p:nvSpPr>
          <p:cNvPr id="4" name="TextBox 3">
            <a:extLst>
              <a:ext uri="{FF2B5EF4-FFF2-40B4-BE49-F238E27FC236}">
                <a16:creationId xmlns:a16="http://schemas.microsoft.com/office/drawing/2014/main" id="{C26E9F8C-3024-605E-5FA5-AB103A7CB9D6}"/>
              </a:ext>
            </a:extLst>
          </p:cNvPr>
          <p:cNvSpPr txBox="1"/>
          <p:nvPr/>
        </p:nvSpPr>
        <p:spPr>
          <a:xfrm>
            <a:off x="6642847" y="2044680"/>
            <a:ext cx="3953435" cy="338554"/>
          </a:xfrm>
          <a:prstGeom prst="rect">
            <a:avLst/>
          </a:prstGeom>
          <a:noFill/>
        </p:spPr>
        <p:txBody>
          <a:bodyPr wrap="square" rtlCol="0">
            <a:spAutoFit/>
          </a:bodyPr>
          <a:lstStyle/>
          <a:p>
            <a:r>
              <a:rPr lang="en-US" sz="1600" dirty="0">
                <a:latin typeface="Athelas" panose="02000503000000020003" pitchFamily="2" charset="77"/>
              </a:rPr>
              <a:t>Rejection Criteria</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78875F9-A0ED-6F27-D7D0-577F7A009F6D}"/>
                  </a:ext>
                </a:extLst>
              </p:cNvPr>
              <p:cNvSpPr txBox="1"/>
              <p:nvPr/>
            </p:nvSpPr>
            <p:spPr>
              <a:xfrm>
                <a:off x="6642847" y="2502743"/>
                <a:ext cx="4935071" cy="3785652"/>
              </a:xfrm>
              <a:prstGeom prst="rect">
                <a:avLst/>
              </a:prstGeom>
              <a:noFill/>
            </p:spPr>
            <p:txBody>
              <a:bodyPr wrap="square" rtlCol="0">
                <a:spAutoFit/>
              </a:bodyPr>
              <a:lstStyle/>
              <a:p>
                <a:r>
                  <a:rPr lang="en-US" sz="1800" dirty="0">
                    <a:latin typeface="Athelas" panose="02000503000000020003" pitchFamily="2" charset="77"/>
                  </a:rPr>
                  <a:t>For</a:t>
                </a:r>
              </a:p>
              <a:p>
                <a:r>
                  <a:rPr lang="en-US" sz="1800" dirty="0">
                    <a:latin typeface="Athelas" panose="02000503000000020003" pitchFamily="2" charset="77"/>
                  </a:rPr>
                  <a:t>H</a:t>
                </a:r>
                <a:r>
                  <a:rPr lang="en-US" sz="1800" baseline="-25000" dirty="0">
                    <a:latin typeface="Athelas" panose="02000503000000020003" pitchFamily="2" charset="77"/>
                  </a:rPr>
                  <a:t>0</a:t>
                </a:r>
                <a:r>
                  <a:rPr lang="en-US" sz="1800" dirty="0">
                    <a:latin typeface="Athelas" panose="02000503000000020003" pitchFamily="2" charset="77"/>
                  </a:rPr>
                  <a:t> : Mx = My</a:t>
                </a:r>
              </a:p>
              <a:p>
                <a:r>
                  <a:rPr lang="en-US" sz="1800" dirty="0">
                    <a:latin typeface="Athelas" panose="02000503000000020003" pitchFamily="2" charset="77"/>
                  </a:rPr>
                  <a:t>H</a:t>
                </a:r>
                <a:r>
                  <a:rPr lang="en-US" sz="1800" baseline="-25000" dirty="0">
                    <a:latin typeface="Athelas" panose="02000503000000020003" pitchFamily="2" charset="77"/>
                  </a:rPr>
                  <a:t>1</a:t>
                </a:r>
                <a:r>
                  <a:rPr lang="en-US" sz="1800" dirty="0">
                    <a:latin typeface="Athelas" panose="02000503000000020003" pitchFamily="2" charset="77"/>
                  </a:rPr>
                  <a:t> : Mx &gt; My</a:t>
                </a:r>
              </a:p>
              <a:p>
                <a:r>
                  <a:rPr lang="en-US" sz="1800" dirty="0">
                    <a:latin typeface="Athelas" panose="02000503000000020003" pitchFamily="2" charset="77"/>
                  </a:rPr>
                  <a:t>Reject H</a:t>
                </a:r>
                <a:r>
                  <a:rPr lang="en-US" sz="1800" baseline="-25000" dirty="0">
                    <a:latin typeface="Athelas" panose="02000503000000020003" pitchFamily="2" charset="77"/>
                  </a:rPr>
                  <a:t>0</a:t>
                </a:r>
                <a:r>
                  <a:rPr lang="en-US" sz="1800" dirty="0">
                    <a:latin typeface="Athelas" panose="02000503000000020003" pitchFamily="2" charset="77"/>
                  </a:rPr>
                  <a:t> if T</a:t>
                </a:r>
                <a:r>
                  <a:rPr lang="en-US" sz="1800" baseline="30000" dirty="0">
                    <a:latin typeface="Athelas" panose="02000503000000020003" pitchFamily="2" charset="77"/>
                  </a:rPr>
                  <a:t>-</a:t>
                </a:r>
                <a14:m>
                  <m:oMath xmlns:m="http://schemas.openxmlformats.org/officeDocument/2006/math">
                    <m:r>
                      <a:rPr lang="en-US" sz="1800" i="1" smtClean="0">
                        <a:latin typeface="Cambria Math" panose="02040503050406030204" pitchFamily="18" charset="0"/>
                        <a:ea typeface="Cambria Math" panose="02040503050406030204" pitchFamily="18" charset="0"/>
                      </a:rPr>
                      <m:t>≤</m:t>
                    </m:r>
                  </m:oMath>
                </a14:m>
                <a:r>
                  <a:rPr lang="en-US" sz="1800" dirty="0">
                    <a:latin typeface="Athelas" panose="02000503000000020003" pitchFamily="2" charset="77"/>
                  </a:rPr>
                  <a:t> d</a:t>
                </a:r>
                <a:r>
                  <a:rPr lang="en-US" sz="1800" baseline="-25000" dirty="0">
                    <a:latin typeface="Athelas" panose="02000503000000020003" pitchFamily="2" charset="77"/>
                  </a:rPr>
                  <a:t>1</a:t>
                </a:r>
                <a:endParaRPr lang="en-US" sz="1800" dirty="0">
                  <a:latin typeface="Athelas" panose="02000503000000020003" pitchFamily="2" charset="77"/>
                </a:endParaRPr>
              </a:p>
              <a:p>
                <a:endParaRPr lang="en-US" sz="1800" baseline="-25000" dirty="0">
                  <a:latin typeface="Athelas" panose="02000503000000020003" pitchFamily="2" charset="77"/>
                </a:endParaRPr>
              </a:p>
              <a:p>
                <a:r>
                  <a:rPr lang="en-US" sz="1800" dirty="0">
                    <a:latin typeface="Athelas" panose="02000503000000020003" pitchFamily="2" charset="77"/>
                  </a:rPr>
                  <a:t>For</a:t>
                </a:r>
              </a:p>
              <a:p>
                <a:r>
                  <a:rPr lang="en-US" sz="1800" dirty="0">
                    <a:latin typeface="Athelas" panose="02000503000000020003" pitchFamily="2" charset="77"/>
                  </a:rPr>
                  <a:t>H</a:t>
                </a:r>
                <a:r>
                  <a:rPr lang="en-US" sz="1800" baseline="-25000" dirty="0">
                    <a:latin typeface="Athelas" panose="02000503000000020003" pitchFamily="2" charset="77"/>
                  </a:rPr>
                  <a:t>0</a:t>
                </a:r>
                <a:r>
                  <a:rPr lang="en-US" sz="1800" dirty="0">
                    <a:latin typeface="Athelas" panose="02000503000000020003" pitchFamily="2" charset="77"/>
                  </a:rPr>
                  <a:t> : Mx = My </a:t>
                </a:r>
              </a:p>
              <a:p>
                <a:r>
                  <a:rPr lang="en-US" sz="1800" dirty="0">
                    <a:latin typeface="Athelas" panose="02000503000000020003" pitchFamily="2" charset="77"/>
                  </a:rPr>
                  <a:t>H</a:t>
                </a:r>
                <a:r>
                  <a:rPr lang="en-US" sz="1800" baseline="-25000" dirty="0">
                    <a:latin typeface="Athelas" panose="02000503000000020003" pitchFamily="2" charset="77"/>
                  </a:rPr>
                  <a:t>1</a:t>
                </a:r>
                <a:r>
                  <a:rPr lang="en-US" sz="1800" dirty="0">
                    <a:latin typeface="Athelas" panose="02000503000000020003" pitchFamily="2" charset="77"/>
                  </a:rPr>
                  <a:t> : Mx &lt; My</a:t>
                </a:r>
              </a:p>
              <a:p>
                <a:r>
                  <a:rPr lang="en-US" sz="1800" dirty="0">
                    <a:latin typeface="Athelas" panose="02000503000000020003" pitchFamily="2" charset="77"/>
                  </a:rPr>
                  <a:t>Reject H</a:t>
                </a:r>
                <a:r>
                  <a:rPr lang="en-US" sz="1800" baseline="-25000" dirty="0">
                    <a:latin typeface="Athelas" panose="02000503000000020003" pitchFamily="2" charset="77"/>
                  </a:rPr>
                  <a:t>0</a:t>
                </a:r>
                <a:r>
                  <a:rPr lang="en-US" sz="1800" dirty="0">
                    <a:latin typeface="Athelas" panose="02000503000000020003" pitchFamily="2" charset="77"/>
                  </a:rPr>
                  <a:t> if T</a:t>
                </a:r>
                <a:r>
                  <a:rPr lang="en-US" sz="1800" baseline="30000" dirty="0">
                    <a:latin typeface="Athelas" panose="02000503000000020003" pitchFamily="2" charset="77"/>
                  </a:rPr>
                  <a:t>+</a:t>
                </a:r>
                <a:r>
                  <a:rPr lang="en-US" sz="1800" dirty="0">
                    <a:latin typeface="Athelas" panose="02000503000000020003" pitchFamily="2" charset="77"/>
                    <a:ea typeface="Cambria Math" panose="02040503050406030204" pitchFamily="18" charset="0"/>
                  </a:rPr>
                  <a:t> </a:t>
                </a:r>
                <a14:m>
                  <m:oMath xmlns:m="http://schemas.openxmlformats.org/officeDocument/2006/math">
                    <m:r>
                      <a:rPr lang="en-US" sz="1800" i="1" smtClean="0">
                        <a:latin typeface="Cambria Math" panose="02040503050406030204" pitchFamily="18" charset="0"/>
                        <a:ea typeface="Cambria Math" panose="02040503050406030204" pitchFamily="18" charset="0"/>
                      </a:rPr>
                      <m:t>≤</m:t>
                    </m:r>
                  </m:oMath>
                </a14:m>
                <a:r>
                  <a:rPr lang="en-US" sz="1800" dirty="0">
                    <a:latin typeface="Athelas" panose="02000503000000020003" pitchFamily="2" charset="77"/>
                  </a:rPr>
                  <a:t>d</a:t>
                </a:r>
                <a:r>
                  <a:rPr lang="en-US" sz="1800" baseline="-25000" dirty="0">
                    <a:latin typeface="Athelas" panose="02000503000000020003" pitchFamily="2" charset="77"/>
                  </a:rPr>
                  <a:t>2</a:t>
                </a:r>
                <a:endParaRPr lang="en-US" sz="1800" dirty="0">
                  <a:latin typeface="Athelas" panose="02000503000000020003" pitchFamily="2" charset="77"/>
                </a:endParaRPr>
              </a:p>
              <a:p>
                <a:endParaRPr lang="en-US" sz="1800" baseline="-25000" dirty="0">
                  <a:latin typeface="Athelas" panose="02000503000000020003" pitchFamily="2" charset="77"/>
                </a:endParaRPr>
              </a:p>
              <a:p>
                <a:r>
                  <a:rPr lang="en-US" sz="1800" dirty="0">
                    <a:latin typeface="Athelas" panose="02000503000000020003" pitchFamily="2" charset="77"/>
                  </a:rPr>
                  <a:t>For</a:t>
                </a:r>
              </a:p>
              <a:p>
                <a:r>
                  <a:rPr lang="en-US" sz="1800" dirty="0">
                    <a:latin typeface="Athelas" panose="02000503000000020003" pitchFamily="2" charset="77"/>
                  </a:rPr>
                  <a:t>H</a:t>
                </a:r>
                <a:r>
                  <a:rPr lang="en-US" sz="1800" baseline="-25000" dirty="0">
                    <a:latin typeface="Athelas" panose="02000503000000020003" pitchFamily="2" charset="77"/>
                  </a:rPr>
                  <a:t>0</a:t>
                </a:r>
                <a:r>
                  <a:rPr lang="en-US" sz="1800" dirty="0">
                    <a:latin typeface="Athelas" panose="02000503000000020003" pitchFamily="2" charset="77"/>
                  </a:rPr>
                  <a:t> : Mx = My </a:t>
                </a:r>
              </a:p>
              <a:p>
                <a:r>
                  <a:rPr lang="en-US" sz="1800" dirty="0">
                    <a:latin typeface="Athelas" panose="02000503000000020003" pitchFamily="2" charset="77"/>
                  </a:rPr>
                  <a:t>H</a:t>
                </a:r>
                <a:r>
                  <a:rPr lang="en-US" sz="1800" baseline="-25000" dirty="0">
                    <a:latin typeface="Athelas" panose="02000503000000020003" pitchFamily="2" charset="77"/>
                  </a:rPr>
                  <a:t>1</a:t>
                </a:r>
                <a:r>
                  <a:rPr lang="en-US" sz="1800" dirty="0">
                    <a:latin typeface="Athelas" panose="02000503000000020003" pitchFamily="2" charset="77"/>
                  </a:rPr>
                  <a:t> : Mx ≠ My</a:t>
                </a:r>
                <a:endParaRPr lang="en-US" sz="1800" baseline="-25000" dirty="0">
                  <a:latin typeface="Athelas" panose="02000503000000020003" pitchFamily="2" charset="77"/>
                </a:endParaRPr>
              </a:p>
              <a:p>
                <a:r>
                  <a:rPr lang="en-US" sz="1800" dirty="0">
                    <a:latin typeface="Athelas" panose="02000503000000020003" pitchFamily="2" charset="77"/>
                  </a:rPr>
                  <a:t>Reject H</a:t>
                </a:r>
                <a:r>
                  <a:rPr lang="en-US" sz="1800" baseline="-25000" dirty="0">
                    <a:latin typeface="Athelas" panose="02000503000000020003" pitchFamily="2" charset="77"/>
                  </a:rPr>
                  <a:t>0</a:t>
                </a:r>
                <a:r>
                  <a:rPr lang="en-US" sz="1800" dirty="0">
                    <a:latin typeface="Athelas" panose="02000503000000020003" pitchFamily="2" charset="77"/>
                  </a:rPr>
                  <a:t> if T</a:t>
                </a:r>
                <a:r>
                  <a:rPr lang="en-US" sz="1600" dirty="0">
                    <a:latin typeface="Athelas" panose="02000503000000020003" pitchFamily="2" charset="77"/>
                    <a:ea typeface="Cambria Math" panose="02040503050406030204" pitchFamily="18" charset="0"/>
                  </a:rPr>
                  <a:t> </a:t>
                </a:r>
                <a14:m>
                  <m:oMath xmlns:m="http://schemas.openxmlformats.org/officeDocument/2006/math">
                    <m:r>
                      <a:rPr lang="en-US" sz="1600" i="1" smtClean="0">
                        <a:latin typeface="Cambria Math" panose="02040503050406030204" pitchFamily="18" charset="0"/>
                        <a:ea typeface="Cambria Math" panose="02040503050406030204" pitchFamily="18" charset="0"/>
                      </a:rPr>
                      <m:t>≤</m:t>
                    </m:r>
                  </m:oMath>
                </a14:m>
                <a:r>
                  <a:rPr lang="en-US" sz="1600" dirty="0">
                    <a:latin typeface="Athelas" panose="02000503000000020003" pitchFamily="2" charset="77"/>
                  </a:rPr>
                  <a:t> d</a:t>
                </a:r>
              </a:p>
            </p:txBody>
          </p:sp>
        </mc:Choice>
        <mc:Fallback xmlns="">
          <p:sp>
            <p:nvSpPr>
              <p:cNvPr id="5" name="TextBox 4">
                <a:extLst>
                  <a:ext uri="{FF2B5EF4-FFF2-40B4-BE49-F238E27FC236}">
                    <a16:creationId xmlns:a16="http://schemas.microsoft.com/office/drawing/2014/main" id="{D78875F9-A0ED-6F27-D7D0-577F7A009F6D}"/>
                  </a:ext>
                </a:extLst>
              </p:cNvPr>
              <p:cNvSpPr txBox="1">
                <a:spLocks noRot="1" noChangeAspect="1" noMove="1" noResize="1" noEditPoints="1" noAdjustHandles="1" noChangeArrowheads="1" noChangeShapeType="1" noTextEdit="1"/>
              </p:cNvSpPr>
              <p:nvPr/>
            </p:nvSpPr>
            <p:spPr>
              <a:xfrm>
                <a:off x="6642847" y="2502743"/>
                <a:ext cx="4935071" cy="3785652"/>
              </a:xfrm>
              <a:prstGeom prst="rect">
                <a:avLst/>
              </a:prstGeom>
              <a:blipFill>
                <a:blip r:embed="rId2"/>
                <a:stretch>
                  <a:fillRect l="-1112" t="-966" b="-1610"/>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DD70F65A-E3BD-43A8-41B0-CD5150F2F4D3}"/>
              </a:ext>
            </a:extLst>
          </p:cNvPr>
          <p:cNvSpPr txBox="1"/>
          <p:nvPr/>
        </p:nvSpPr>
        <p:spPr>
          <a:xfrm>
            <a:off x="981635" y="3213847"/>
            <a:ext cx="4047565" cy="1538883"/>
          </a:xfrm>
          <a:prstGeom prst="rect">
            <a:avLst/>
          </a:prstGeom>
          <a:noFill/>
        </p:spPr>
        <p:txBody>
          <a:bodyPr wrap="square" rtlCol="0">
            <a:spAutoFit/>
          </a:bodyPr>
          <a:lstStyle/>
          <a:p>
            <a:r>
              <a:rPr lang="en-US" sz="1600" dirty="0">
                <a:latin typeface="Athelas" panose="02000503000000020003" pitchFamily="2" charset="77"/>
              </a:rPr>
              <a:t>T</a:t>
            </a:r>
            <a:r>
              <a:rPr lang="en-US" sz="1600" baseline="30000" dirty="0">
                <a:latin typeface="Athelas" panose="02000503000000020003" pitchFamily="2" charset="77"/>
              </a:rPr>
              <a:t>+</a:t>
            </a:r>
            <a:r>
              <a:rPr lang="en-US" sz="1600" dirty="0">
                <a:latin typeface="Athelas" panose="02000503000000020003" pitchFamily="2" charset="77"/>
              </a:rPr>
              <a:t>= No. of positive signs </a:t>
            </a:r>
          </a:p>
          <a:p>
            <a:r>
              <a:rPr lang="en-US" sz="1600" dirty="0">
                <a:latin typeface="Athelas" panose="02000503000000020003" pitchFamily="2" charset="77"/>
              </a:rPr>
              <a:t>T</a:t>
            </a:r>
            <a:r>
              <a:rPr lang="en-US" sz="1600" baseline="30000" dirty="0">
                <a:latin typeface="Athelas" panose="02000503000000020003" pitchFamily="2" charset="77"/>
              </a:rPr>
              <a:t>-</a:t>
            </a:r>
            <a:r>
              <a:rPr lang="en-US" sz="1600" dirty="0">
                <a:latin typeface="Athelas" panose="02000503000000020003" pitchFamily="2" charset="77"/>
              </a:rPr>
              <a:t>= No. of negative signs</a:t>
            </a:r>
          </a:p>
          <a:p>
            <a:endParaRPr lang="en-US" sz="1600" dirty="0">
              <a:latin typeface="Athelas" panose="02000503000000020003" pitchFamily="2" charset="77"/>
            </a:endParaRPr>
          </a:p>
          <a:p>
            <a:r>
              <a:rPr lang="en-US" sz="1600" dirty="0">
                <a:latin typeface="Athelas" panose="02000503000000020003" pitchFamily="2" charset="77"/>
              </a:rPr>
              <a:t>We obtained the tabulated value of d</a:t>
            </a:r>
            <a:r>
              <a:rPr lang="en-US" sz="1600" baseline="-25000" dirty="0">
                <a:latin typeface="Athelas" panose="02000503000000020003" pitchFamily="2" charset="77"/>
              </a:rPr>
              <a:t>1</a:t>
            </a:r>
            <a:r>
              <a:rPr lang="en-US" sz="1600" dirty="0">
                <a:latin typeface="Athelas" panose="02000503000000020003" pitchFamily="2" charset="77"/>
              </a:rPr>
              <a:t> from the table for the given value of </a:t>
            </a:r>
            <a:r>
              <a:rPr lang="el-GR" sz="1600" dirty="0">
                <a:latin typeface="+mn-lt"/>
              </a:rPr>
              <a:t>α</a:t>
            </a:r>
            <a:r>
              <a:rPr lang="en-US" sz="1600" dirty="0">
                <a:latin typeface="Athelas" panose="02000503000000020003" pitchFamily="2" charset="77"/>
              </a:rPr>
              <a:t> , n</a:t>
            </a:r>
          </a:p>
          <a:p>
            <a:endParaRPr lang="en-US" dirty="0"/>
          </a:p>
        </p:txBody>
      </p:sp>
    </p:spTree>
    <p:extLst>
      <p:ext uri="{BB962C8B-B14F-4D97-AF65-F5344CB8AC3E}">
        <p14:creationId xmlns:p14="http://schemas.microsoft.com/office/powerpoint/2010/main" val="260664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E43B51-D1AD-F04B-7EFA-11B5B08B371E}"/>
              </a:ext>
            </a:extLst>
          </p:cNvPr>
          <p:cNvSpPr txBox="1"/>
          <p:nvPr/>
        </p:nvSpPr>
        <p:spPr>
          <a:xfrm>
            <a:off x="712694" y="1506071"/>
            <a:ext cx="6172200" cy="1015663"/>
          </a:xfrm>
          <a:prstGeom prst="rect">
            <a:avLst/>
          </a:prstGeom>
          <a:noFill/>
        </p:spPr>
        <p:txBody>
          <a:bodyPr wrap="square" rtlCol="0">
            <a:spAutoFit/>
          </a:bodyPr>
          <a:lstStyle/>
          <a:p>
            <a:r>
              <a:rPr lang="en-US" sz="2000" b="1" dirty="0">
                <a:latin typeface="Athelas" panose="02000503000000020003" pitchFamily="2" charset="77"/>
              </a:rPr>
              <a:t>Test for mean of 	NIM (Net Interest Margin):</a:t>
            </a:r>
          </a:p>
          <a:p>
            <a:r>
              <a:rPr lang="en-US" sz="2000" b="1" dirty="0">
                <a:latin typeface="Athelas" panose="02000503000000020003" pitchFamily="2" charset="77"/>
              </a:rPr>
              <a:t>(Mann-Whitney U-Test)</a:t>
            </a:r>
          </a:p>
          <a:p>
            <a:r>
              <a:rPr lang="en-US" sz="2000" b="1" dirty="0">
                <a:latin typeface="Athelas" panose="02000503000000020003" pitchFamily="2" charset="77"/>
              </a:rPr>
              <a:t>Private vs Public</a:t>
            </a:r>
            <a:endParaRPr lang="en-US" sz="2000" dirty="0"/>
          </a:p>
        </p:txBody>
      </p:sp>
      <p:sp>
        <p:nvSpPr>
          <p:cNvPr id="3" name="TextBox 2">
            <a:extLst>
              <a:ext uri="{FF2B5EF4-FFF2-40B4-BE49-F238E27FC236}">
                <a16:creationId xmlns:a16="http://schemas.microsoft.com/office/drawing/2014/main" id="{D31361A1-B964-9561-FEBA-6B42DB73E083}"/>
              </a:ext>
            </a:extLst>
          </p:cNvPr>
          <p:cNvSpPr txBox="1"/>
          <p:nvPr/>
        </p:nvSpPr>
        <p:spPr>
          <a:xfrm>
            <a:off x="689317" y="2447778"/>
            <a:ext cx="3784209" cy="1323439"/>
          </a:xfrm>
          <a:prstGeom prst="rect">
            <a:avLst/>
          </a:prstGeom>
          <a:noFill/>
        </p:spPr>
        <p:txBody>
          <a:bodyPr wrap="square" rtlCol="0">
            <a:spAutoFit/>
          </a:bodyPr>
          <a:lstStyle/>
          <a:p>
            <a:r>
              <a:rPr lang="en-US" sz="1600" dirty="0">
                <a:latin typeface="Athelas" panose="02000503000000020003"/>
              </a:rPr>
              <a:t>H</a:t>
            </a:r>
            <a:r>
              <a:rPr lang="en-US" sz="1600" baseline="-25000" dirty="0">
                <a:latin typeface="Athelas" panose="02000503000000020003"/>
              </a:rPr>
              <a:t>0</a:t>
            </a:r>
            <a:r>
              <a:rPr lang="en-US" sz="1600" dirty="0">
                <a:latin typeface="Athelas" panose="02000503000000020003"/>
              </a:rPr>
              <a:t> : F(X) = G(Y)</a:t>
            </a:r>
          </a:p>
          <a:p>
            <a:r>
              <a:rPr lang="en-US" sz="1600" dirty="0">
                <a:latin typeface="Athelas" panose="02000503000000020003"/>
              </a:rPr>
              <a:t>H</a:t>
            </a:r>
            <a:r>
              <a:rPr lang="en-US" sz="1600" baseline="-25000" dirty="0">
                <a:latin typeface="Athelas" panose="02000503000000020003"/>
              </a:rPr>
              <a:t>1</a:t>
            </a:r>
            <a:r>
              <a:rPr lang="en-US" sz="1600" dirty="0">
                <a:latin typeface="Athelas" panose="02000503000000020003"/>
              </a:rPr>
              <a:t> : F(X) &lt; G(Y) i.e. Mx &gt; My</a:t>
            </a:r>
          </a:p>
          <a:p>
            <a:r>
              <a:rPr lang="en-US" sz="1600" dirty="0">
                <a:latin typeface="Athelas" panose="02000503000000020003"/>
              </a:rPr>
              <a:t>X :  Private Sector Sample</a:t>
            </a:r>
          </a:p>
          <a:p>
            <a:r>
              <a:rPr lang="en-US" sz="1600" dirty="0">
                <a:latin typeface="Athelas" panose="02000503000000020003"/>
              </a:rPr>
              <a:t>Y :  Public Sector Sample</a:t>
            </a:r>
          </a:p>
          <a:p>
            <a:r>
              <a:rPr lang="en-US" sz="1600" dirty="0">
                <a:latin typeface="Athelas" panose="02000503000000020003"/>
              </a:rPr>
              <a:t>Level of Significance = 0.05</a:t>
            </a:r>
            <a:endParaRPr lang="en-IN" sz="1600" dirty="0">
              <a:latin typeface="Athelas" panose="02000503000000020003"/>
            </a:endParaRPr>
          </a:p>
        </p:txBody>
      </p:sp>
      <p:graphicFrame>
        <p:nvGraphicFramePr>
          <p:cNvPr id="5" name="Table 4">
            <a:extLst>
              <a:ext uri="{FF2B5EF4-FFF2-40B4-BE49-F238E27FC236}">
                <a16:creationId xmlns:a16="http://schemas.microsoft.com/office/drawing/2014/main" id="{B064B0F9-8554-A047-BA1D-45454DC1029F}"/>
              </a:ext>
            </a:extLst>
          </p:cNvPr>
          <p:cNvGraphicFramePr>
            <a:graphicFrameLocks noGrp="1"/>
          </p:cNvGraphicFramePr>
          <p:nvPr>
            <p:extLst>
              <p:ext uri="{D42A27DB-BD31-4B8C-83A1-F6EECF244321}">
                <p14:modId xmlns:p14="http://schemas.microsoft.com/office/powerpoint/2010/main" val="916103148"/>
              </p:ext>
            </p:extLst>
          </p:nvPr>
        </p:nvGraphicFramePr>
        <p:xfrm>
          <a:off x="727278" y="3851150"/>
          <a:ext cx="3071516" cy="2473452"/>
        </p:xfrm>
        <a:graphic>
          <a:graphicData uri="http://schemas.openxmlformats.org/drawingml/2006/table">
            <a:tbl>
              <a:tblPr>
                <a:tableStyleId>{E83C75A5-541F-4068-BE22-2AE3A88C29BB}</a:tableStyleId>
              </a:tblPr>
              <a:tblGrid>
                <a:gridCol w="1535758">
                  <a:extLst>
                    <a:ext uri="{9D8B030D-6E8A-4147-A177-3AD203B41FA5}">
                      <a16:colId xmlns:a16="http://schemas.microsoft.com/office/drawing/2014/main" val="223936722"/>
                    </a:ext>
                  </a:extLst>
                </a:gridCol>
                <a:gridCol w="1535758">
                  <a:extLst>
                    <a:ext uri="{9D8B030D-6E8A-4147-A177-3AD203B41FA5}">
                      <a16:colId xmlns:a16="http://schemas.microsoft.com/office/drawing/2014/main" val="2279545708"/>
                    </a:ext>
                  </a:extLst>
                </a:gridCol>
              </a:tblGrid>
              <a:tr h="331828">
                <a:tc>
                  <a:txBody>
                    <a:bodyPr/>
                    <a:lstStyle/>
                    <a:p>
                      <a:pPr algn="ctr" fontAlgn="b">
                        <a:lnSpc>
                          <a:spcPct val="100000"/>
                        </a:lnSpc>
                      </a:pPr>
                      <a:r>
                        <a:rPr lang="en-IN" sz="1600" b="1" u="none" strike="noStrike" dirty="0">
                          <a:effectLst/>
                          <a:latin typeface="Athelas" panose="02000503000000020003"/>
                        </a:rPr>
                        <a:t>Mx</a:t>
                      </a:r>
                      <a:endParaRPr lang="en-IN" sz="16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lnSpc>
                          <a:spcPct val="100000"/>
                        </a:lnSpc>
                      </a:pPr>
                      <a:r>
                        <a:rPr lang="en-IN" sz="1600" b="1" u="none" strike="noStrike">
                          <a:effectLst/>
                          <a:latin typeface="Athelas" panose="02000503000000020003"/>
                        </a:rPr>
                        <a:t>3.998333</a:t>
                      </a:r>
                      <a:endParaRPr lang="en-IN" sz="1600" b="1" i="0" u="none" strike="noStrike">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9326722"/>
                  </a:ext>
                </a:extLst>
              </a:tr>
              <a:tr h="331828">
                <a:tc>
                  <a:txBody>
                    <a:bodyPr/>
                    <a:lstStyle/>
                    <a:p>
                      <a:pPr algn="ctr" fontAlgn="b">
                        <a:lnSpc>
                          <a:spcPct val="100000"/>
                        </a:lnSpc>
                      </a:pPr>
                      <a:r>
                        <a:rPr lang="en-IN" sz="1600" b="1" u="none" strike="noStrike" dirty="0">
                          <a:effectLst/>
                          <a:latin typeface="Athelas" panose="02000503000000020003"/>
                        </a:rPr>
                        <a:t>My</a:t>
                      </a:r>
                      <a:endParaRPr lang="en-IN" sz="16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lnSpc>
                          <a:spcPct val="100000"/>
                        </a:lnSpc>
                      </a:pPr>
                      <a:r>
                        <a:rPr lang="en-IN" sz="1600" b="1" u="none" strike="noStrike" dirty="0">
                          <a:effectLst/>
                          <a:latin typeface="Athelas" panose="02000503000000020003"/>
                        </a:rPr>
                        <a:t>2.086667</a:t>
                      </a:r>
                      <a:endParaRPr lang="en-IN" sz="16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4459855"/>
                  </a:ext>
                </a:extLst>
              </a:tr>
              <a:tr h="331828">
                <a:tc>
                  <a:txBody>
                    <a:bodyPr/>
                    <a:lstStyle/>
                    <a:p>
                      <a:pPr algn="ctr" fontAlgn="b">
                        <a:lnSpc>
                          <a:spcPct val="100000"/>
                        </a:lnSpc>
                      </a:pPr>
                      <a:r>
                        <a:rPr lang="en-IN" sz="1600" b="1" u="none" strike="noStrike" dirty="0">
                          <a:effectLst/>
                          <a:latin typeface="Athelas" panose="02000503000000020003"/>
                        </a:rPr>
                        <a:t>N1</a:t>
                      </a:r>
                      <a:endParaRPr lang="en-IN" sz="16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lnSpc>
                          <a:spcPct val="100000"/>
                        </a:lnSpc>
                      </a:pPr>
                      <a:r>
                        <a:rPr lang="en-IN" sz="1600" b="1" u="none" strike="noStrike" dirty="0">
                          <a:effectLst/>
                          <a:latin typeface="Athelas" panose="02000503000000020003"/>
                        </a:rPr>
                        <a:t>5</a:t>
                      </a:r>
                      <a:endParaRPr lang="en-IN" sz="16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1761025"/>
                  </a:ext>
                </a:extLst>
              </a:tr>
              <a:tr h="331828">
                <a:tc>
                  <a:txBody>
                    <a:bodyPr/>
                    <a:lstStyle/>
                    <a:p>
                      <a:pPr algn="ctr" fontAlgn="b">
                        <a:lnSpc>
                          <a:spcPct val="100000"/>
                        </a:lnSpc>
                      </a:pPr>
                      <a:r>
                        <a:rPr lang="en-IN" sz="1600" b="1" u="none" strike="noStrike" dirty="0">
                          <a:effectLst/>
                          <a:latin typeface="Athelas" panose="02000503000000020003"/>
                        </a:rPr>
                        <a:t>N2</a:t>
                      </a:r>
                      <a:endParaRPr lang="en-IN" sz="16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lnSpc>
                          <a:spcPct val="100000"/>
                        </a:lnSpc>
                      </a:pPr>
                      <a:r>
                        <a:rPr lang="en-IN" sz="1600" b="1" u="none" strike="noStrike" dirty="0">
                          <a:effectLst/>
                          <a:latin typeface="Athelas" panose="02000503000000020003"/>
                        </a:rPr>
                        <a:t>5</a:t>
                      </a:r>
                      <a:endParaRPr lang="en-IN" sz="16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9677044"/>
                  </a:ext>
                </a:extLst>
              </a:tr>
              <a:tr h="331828">
                <a:tc>
                  <a:txBody>
                    <a:bodyPr/>
                    <a:lstStyle/>
                    <a:p>
                      <a:pPr algn="ctr" fontAlgn="b">
                        <a:lnSpc>
                          <a:spcPct val="100000"/>
                        </a:lnSpc>
                      </a:pPr>
                      <a:r>
                        <a:rPr lang="en-IN" sz="1600" b="1" u="none" strike="noStrike">
                          <a:effectLst/>
                          <a:latin typeface="Athelas" panose="02000503000000020003"/>
                        </a:rPr>
                        <a:t>Sx</a:t>
                      </a:r>
                      <a:endParaRPr lang="en-IN" sz="1600" b="1" i="0" u="none" strike="noStrike">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lnSpc>
                          <a:spcPct val="100000"/>
                        </a:lnSpc>
                      </a:pPr>
                      <a:r>
                        <a:rPr lang="en-IN" sz="1600" b="1" u="none" strike="noStrike" dirty="0">
                          <a:effectLst/>
                          <a:latin typeface="Athelas" panose="02000503000000020003"/>
                        </a:rPr>
                        <a:t>40</a:t>
                      </a:r>
                      <a:endParaRPr lang="en-IN" sz="16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5752166"/>
                  </a:ext>
                </a:extLst>
              </a:tr>
              <a:tr h="348419">
                <a:tc>
                  <a:txBody>
                    <a:bodyPr/>
                    <a:lstStyle/>
                    <a:p>
                      <a:pPr algn="ctr" fontAlgn="b">
                        <a:lnSpc>
                          <a:spcPct val="100000"/>
                        </a:lnSpc>
                      </a:pPr>
                      <a:r>
                        <a:rPr lang="en-IN" sz="1600" b="1" u="none" strike="noStrike" dirty="0">
                          <a:effectLst/>
                          <a:latin typeface="Athelas" panose="02000503000000020003"/>
                        </a:rPr>
                        <a:t>U</a:t>
                      </a:r>
                      <a:endParaRPr lang="en-IN" sz="16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lnSpc>
                          <a:spcPct val="100000"/>
                        </a:lnSpc>
                      </a:pPr>
                      <a:r>
                        <a:rPr lang="en-IN" sz="1600" b="1" u="none" strike="noStrike" dirty="0">
                          <a:effectLst/>
                          <a:latin typeface="Athelas" panose="02000503000000020003"/>
                        </a:rPr>
                        <a:t>25</a:t>
                      </a:r>
                      <a:endParaRPr lang="en-IN" sz="16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9417477"/>
                  </a:ext>
                </a:extLst>
              </a:tr>
              <a:tr h="465893">
                <a:tc>
                  <a:txBody>
                    <a:bodyPr/>
                    <a:lstStyle/>
                    <a:p>
                      <a:pPr algn="ctr" fontAlgn="b">
                        <a:lnSpc>
                          <a:spcPct val="100000"/>
                        </a:lnSpc>
                      </a:pPr>
                      <a:r>
                        <a:rPr lang="en-US" sz="1600" b="1" i="0" u="none" strike="noStrike" dirty="0">
                          <a:solidFill>
                            <a:srgbClr val="000000"/>
                          </a:solidFill>
                          <a:effectLst/>
                          <a:latin typeface="Athelas" panose="02000503000000020003"/>
                        </a:rPr>
                        <a:t>W</a:t>
                      </a:r>
                      <a:r>
                        <a:rPr lang="en-US" sz="1600" b="1" i="0" u="none" strike="noStrike" baseline="-25000" dirty="0">
                          <a:solidFill>
                            <a:srgbClr val="000000"/>
                          </a:solidFill>
                          <a:effectLst/>
                          <a:latin typeface="Athelas" panose="02000503000000020003"/>
                        </a:rPr>
                        <a:t>1-</a:t>
                      </a:r>
                      <a:r>
                        <a:rPr lang="el-GR" sz="1600" b="1" i="0" u="none" strike="noStrike" baseline="-25000" dirty="0">
                          <a:solidFill>
                            <a:srgbClr val="000000"/>
                          </a:solidFill>
                          <a:effectLst/>
                          <a:latin typeface="Calibri" panose="020F0502020204030204" pitchFamily="34" charset="0"/>
                        </a:rPr>
                        <a:t>α</a:t>
                      </a:r>
                      <a:r>
                        <a:rPr lang="en-US" sz="1600" b="1" i="0" u="none" strike="noStrike" baseline="-25000" dirty="0">
                          <a:solidFill>
                            <a:srgbClr val="000000"/>
                          </a:solidFill>
                          <a:effectLst/>
                          <a:latin typeface="Athelas" panose="02000503000000020003"/>
                        </a:rPr>
                        <a:t>,</a:t>
                      </a:r>
                      <a:endParaRPr lang="en-IN" sz="1600" b="1" i="0" u="none" strike="noStrike" dirty="0">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lnSpc>
                          <a:spcPct val="100000"/>
                        </a:lnSpc>
                      </a:pPr>
                      <a:r>
                        <a:rPr lang="en-US" sz="1600" b="1" i="0" u="none" strike="noStrike" dirty="0">
                          <a:solidFill>
                            <a:srgbClr val="000000"/>
                          </a:solidFill>
                          <a:effectLst/>
                          <a:latin typeface="Athelas" panose="02000503000000020003"/>
                        </a:rPr>
                        <a:t>20</a:t>
                      </a:r>
                      <a:endParaRPr lang="en-IN" sz="16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5424178"/>
                  </a:ext>
                </a:extLst>
              </a:tr>
            </a:tbl>
          </a:graphicData>
        </a:graphic>
      </p:graphicFrame>
      <p:sp>
        <p:nvSpPr>
          <p:cNvPr id="6" name="TextBox 5">
            <a:extLst>
              <a:ext uri="{FF2B5EF4-FFF2-40B4-BE49-F238E27FC236}">
                <a16:creationId xmlns:a16="http://schemas.microsoft.com/office/drawing/2014/main" id="{3B1C9CC0-EB01-985F-CF57-8697F1CBD27E}"/>
              </a:ext>
            </a:extLst>
          </p:cNvPr>
          <p:cNvSpPr txBox="1"/>
          <p:nvPr/>
        </p:nvSpPr>
        <p:spPr>
          <a:xfrm>
            <a:off x="6096000" y="2620043"/>
            <a:ext cx="5050302" cy="3046988"/>
          </a:xfrm>
          <a:prstGeom prst="rect">
            <a:avLst/>
          </a:prstGeom>
          <a:noFill/>
        </p:spPr>
        <p:txBody>
          <a:bodyPr wrap="square" rtlCol="0">
            <a:spAutoFit/>
          </a:bodyPr>
          <a:lstStyle/>
          <a:p>
            <a:r>
              <a:rPr lang="en-US" sz="1600" dirty="0">
                <a:latin typeface="Athelas" panose="02000503000000020003"/>
              </a:rPr>
              <a:t>Since,</a:t>
            </a:r>
          </a:p>
          <a:p>
            <a:r>
              <a:rPr lang="en-US" sz="1600" dirty="0">
                <a:latin typeface="Athelas" panose="02000503000000020003"/>
              </a:rPr>
              <a:t>U &gt; W</a:t>
            </a:r>
            <a:r>
              <a:rPr lang="en-US" sz="1600" baseline="-25000" dirty="0">
                <a:latin typeface="Athelas" panose="02000503000000020003"/>
              </a:rPr>
              <a:t>1-</a:t>
            </a:r>
            <a:r>
              <a:rPr lang="el-GR" sz="1600" baseline="-25000" dirty="0"/>
              <a:t>α</a:t>
            </a:r>
            <a:r>
              <a:rPr lang="en-US" sz="1600" dirty="0">
                <a:latin typeface="Athelas" panose="02000503000000020003"/>
              </a:rPr>
              <a:t> </a:t>
            </a:r>
          </a:p>
          <a:p>
            <a:r>
              <a:rPr lang="en-US" sz="1600" dirty="0">
                <a:latin typeface="Athelas" panose="02000503000000020003"/>
              </a:rPr>
              <a:t>Therefore we reject null hypothesis</a:t>
            </a:r>
          </a:p>
          <a:p>
            <a:endParaRPr lang="en-US" sz="1600" dirty="0">
              <a:latin typeface="Athelas" panose="02000503000000020003"/>
            </a:endParaRPr>
          </a:p>
          <a:p>
            <a:r>
              <a:rPr lang="en-US" sz="1600" dirty="0">
                <a:latin typeface="Athelas" panose="02000503000000020003"/>
              </a:rPr>
              <a:t>Conclusion: Under H</a:t>
            </a:r>
            <a:r>
              <a:rPr lang="en-US" sz="1600" baseline="-25000" dirty="0">
                <a:latin typeface="Athelas" panose="02000503000000020003"/>
              </a:rPr>
              <a:t>0</a:t>
            </a:r>
            <a:r>
              <a:rPr lang="en-US" sz="1600" dirty="0">
                <a:latin typeface="Athelas" panose="02000503000000020003"/>
              </a:rPr>
              <a:t> we expect larger number of </a:t>
            </a:r>
            <a:r>
              <a:rPr lang="en-US" sz="1600" dirty="0" err="1">
                <a:latin typeface="Athelas" panose="02000503000000020003"/>
              </a:rPr>
              <a:t>Yj’s</a:t>
            </a:r>
            <a:r>
              <a:rPr lang="en-US" sz="1600" dirty="0">
                <a:latin typeface="Athelas" panose="02000503000000020003"/>
              </a:rPr>
              <a:t> which are less than Xi’s. Therefore, Private sector NIM is larger than the NIM of Public Sector banks. </a:t>
            </a:r>
          </a:p>
          <a:p>
            <a:endParaRPr lang="en-IN" sz="1600" dirty="0">
              <a:latin typeface="Athelas" panose="02000503000000020003"/>
            </a:endParaRPr>
          </a:p>
          <a:p>
            <a:r>
              <a:rPr lang="en-US" sz="1600" dirty="0">
                <a:latin typeface="Athelas" panose="02000503000000020003"/>
              </a:rPr>
              <a:t>This implies that private sector banks might be more efficient in managing their interest income and expenses, leading to a higher margin between the interest earned on assets and the interest paid on liabilities.</a:t>
            </a:r>
            <a:endParaRPr lang="en-IN" sz="1600" dirty="0">
              <a:latin typeface="Athelas" panose="02000503000000020003"/>
            </a:endParaRPr>
          </a:p>
        </p:txBody>
      </p:sp>
    </p:spTree>
    <p:extLst>
      <p:ext uri="{BB962C8B-B14F-4D97-AF65-F5344CB8AC3E}">
        <p14:creationId xmlns:p14="http://schemas.microsoft.com/office/powerpoint/2010/main" val="2273516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1F3E07-BA39-6BCF-C9B7-D95FC10CE326}"/>
              </a:ext>
            </a:extLst>
          </p:cNvPr>
          <p:cNvSpPr txBox="1"/>
          <p:nvPr/>
        </p:nvSpPr>
        <p:spPr>
          <a:xfrm>
            <a:off x="712694" y="1506071"/>
            <a:ext cx="6172200" cy="1015663"/>
          </a:xfrm>
          <a:prstGeom prst="rect">
            <a:avLst/>
          </a:prstGeom>
          <a:noFill/>
        </p:spPr>
        <p:txBody>
          <a:bodyPr wrap="square" rtlCol="0">
            <a:spAutoFit/>
          </a:bodyPr>
          <a:lstStyle/>
          <a:p>
            <a:r>
              <a:rPr lang="en-US" sz="2000" b="1" dirty="0">
                <a:latin typeface="Athelas" panose="02000503000000020003" pitchFamily="2" charset="77"/>
              </a:rPr>
              <a:t>Test for ICR (Interest Coverage Ratio):</a:t>
            </a:r>
          </a:p>
          <a:p>
            <a:r>
              <a:rPr lang="en-US" sz="2000" b="1" dirty="0">
                <a:latin typeface="Athelas" panose="02000503000000020003" pitchFamily="2" charset="77"/>
              </a:rPr>
              <a:t>(Freidman Two Way Analysis by Ranks)</a:t>
            </a:r>
          </a:p>
          <a:p>
            <a:r>
              <a:rPr lang="en-US" sz="2000" b="1" dirty="0">
                <a:latin typeface="Athelas" panose="02000503000000020003" pitchFamily="2" charset="77"/>
              </a:rPr>
              <a:t>Private Banks </a:t>
            </a:r>
            <a:endParaRPr lang="en-US" sz="2000" dirty="0"/>
          </a:p>
        </p:txBody>
      </p:sp>
      <p:sp>
        <p:nvSpPr>
          <p:cNvPr id="3" name="TextBox 2">
            <a:extLst>
              <a:ext uri="{FF2B5EF4-FFF2-40B4-BE49-F238E27FC236}">
                <a16:creationId xmlns:a16="http://schemas.microsoft.com/office/drawing/2014/main" id="{67221349-7984-4672-D56D-2F3F31BF746F}"/>
              </a:ext>
            </a:extLst>
          </p:cNvPr>
          <p:cNvSpPr txBox="1"/>
          <p:nvPr/>
        </p:nvSpPr>
        <p:spPr>
          <a:xfrm>
            <a:off x="689317" y="2447779"/>
            <a:ext cx="7526215" cy="830997"/>
          </a:xfrm>
          <a:prstGeom prst="rect">
            <a:avLst/>
          </a:prstGeom>
          <a:noFill/>
        </p:spPr>
        <p:txBody>
          <a:bodyPr wrap="square" rtlCol="0">
            <a:spAutoFit/>
          </a:bodyPr>
          <a:lstStyle/>
          <a:p>
            <a:r>
              <a:rPr lang="en-US" sz="1600" dirty="0">
                <a:latin typeface="Athelas" panose="02000503000000020003"/>
              </a:rPr>
              <a:t>H</a:t>
            </a:r>
            <a:r>
              <a:rPr lang="en-US" sz="1600" baseline="-25000" dirty="0">
                <a:latin typeface="Athelas" panose="02000503000000020003"/>
              </a:rPr>
              <a:t>0</a:t>
            </a:r>
            <a:r>
              <a:rPr lang="en-US" sz="1600" dirty="0">
                <a:latin typeface="Athelas" panose="02000503000000020003"/>
              </a:rPr>
              <a:t> : There is no significant difference in the ICR among the private banks across the years</a:t>
            </a:r>
          </a:p>
          <a:p>
            <a:r>
              <a:rPr lang="en-US" sz="1600" dirty="0">
                <a:latin typeface="Athelas" panose="02000503000000020003"/>
              </a:rPr>
              <a:t>H</a:t>
            </a:r>
            <a:r>
              <a:rPr lang="en-US" sz="1600" baseline="-25000" dirty="0">
                <a:latin typeface="Athelas" panose="02000503000000020003"/>
              </a:rPr>
              <a:t>1</a:t>
            </a:r>
            <a:r>
              <a:rPr lang="en-US" sz="1600" dirty="0">
                <a:latin typeface="Athelas" panose="02000503000000020003"/>
              </a:rPr>
              <a:t> : There is significant difference in the ICR among the private banks across the years</a:t>
            </a:r>
          </a:p>
          <a:p>
            <a:r>
              <a:rPr lang="en-US" sz="1600" dirty="0">
                <a:latin typeface="Athelas" panose="02000503000000020003"/>
              </a:rPr>
              <a:t>Level of Significance = 0.05</a:t>
            </a:r>
            <a:endParaRPr lang="en-IN" sz="1600" dirty="0">
              <a:latin typeface="Athelas" panose="02000503000000020003"/>
            </a:endParaRPr>
          </a:p>
        </p:txBody>
      </p:sp>
      <p:graphicFrame>
        <p:nvGraphicFramePr>
          <p:cNvPr id="4" name="Table 3">
            <a:extLst>
              <a:ext uri="{FF2B5EF4-FFF2-40B4-BE49-F238E27FC236}">
                <a16:creationId xmlns:a16="http://schemas.microsoft.com/office/drawing/2014/main" id="{62A4B3A3-E713-F062-2B79-BDC937D2F004}"/>
              </a:ext>
            </a:extLst>
          </p:cNvPr>
          <p:cNvGraphicFramePr>
            <a:graphicFrameLocks noGrp="1"/>
          </p:cNvGraphicFramePr>
          <p:nvPr>
            <p:extLst>
              <p:ext uri="{D42A27DB-BD31-4B8C-83A1-F6EECF244321}">
                <p14:modId xmlns:p14="http://schemas.microsoft.com/office/powerpoint/2010/main" val="752892726"/>
              </p:ext>
            </p:extLst>
          </p:nvPr>
        </p:nvGraphicFramePr>
        <p:xfrm>
          <a:off x="1071419" y="3429000"/>
          <a:ext cx="3381005" cy="2867175"/>
        </p:xfrm>
        <a:graphic>
          <a:graphicData uri="http://schemas.openxmlformats.org/drawingml/2006/table">
            <a:tbl>
              <a:tblPr>
                <a:tableStyleId>{E83C75A5-541F-4068-BE22-2AE3A88C29BB}</a:tableStyleId>
              </a:tblPr>
              <a:tblGrid>
                <a:gridCol w="2078487">
                  <a:extLst>
                    <a:ext uri="{9D8B030D-6E8A-4147-A177-3AD203B41FA5}">
                      <a16:colId xmlns:a16="http://schemas.microsoft.com/office/drawing/2014/main" val="3670123088"/>
                    </a:ext>
                  </a:extLst>
                </a:gridCol>
                <a:gridCol w="1302518">
                  <a:extLst>
                    <a:ext uri="{9D8B030D-6E8A-4147-A177-3AD203B41FA5}">
                      <a16:colId xmlns:a16="http://schemas.microsoft.com/office/drawing/2014/main" val="2023798321"/>
                    </a:ext>
                  </a:extLst>
                </a:gridCol>
              </a:tblGrid>
              <a:tr h="318575">
                <a:tc>
                  <a:txBody>
                    <a:bodyPr/>
                    <a:lstStyle/>
                    <a:p>
                      <a:pPr algn="ctr" fontAlgn="ctr"/>
                      <a:r>
                        <a:rPr lang="en-US" sz="1400" b="1" i="0" u="none" strike="noStrike" dirty="0">
                          <a:solidFill>
                            <a:srgbClr val="000000"/>
                          </a:solidFill>
                          <a:effectLst/>
                          <a:latin typeface="Athelas" panose="02000503000000020003"/>
                        </a:rPr>
                        <a:t>k</a:t>
                      </a:r>
                      <a:endParaRPr lang="en-IN" sz="1400" b="1" i="0" u="none" strike="noStrike" dirty="0">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Athelas" panose="02000503000000020003"/>
                        </a:rPr>
                        <a:t>5</a:t>
                      </a:r>
                      <a:endParaRPr lang="en-IN" sz="1400" b="1" i="0" u="none" strike="noStrike" dirty="0">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8469621"/>
                  </a:ext>
                </a:extLst>
              </a:tr>
              <a:tr h="318575">
                <a:tc>
                  <a:txBody>
                    <a:bodyPr/>
                    <a:lstStyle/>
                    <a:p>
                      <a:pPr algn="ctr" fontAlgn="ctr"/>
                      <a:r>
                        <a:rPr lang="en-US" sz="1400" b="1" i="0" u="none" strike="noStrike" dirty="0">
                          <a:solidFill>
                            <a:srgbClr val="000000"/>
                          </a:solidFill>
                          <a:effectLst/>
                          <a:latin typeface="Athelas" panose="02000503000000020003"/>
                        </a:rPr>
                        <a:t>b</a:t>
                      </a:r>
                      <a:endParaRPr lang="en-IN" sz="1400" b="1" i="0" u="none" strike="noStrike" dirty="0">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dirty="0">
                          <a:solidFill>
                            <a:srgbClr val="000000"/>
                          </a:solidFill>
                          <a:effectLst/>
                          <a:latin typeface="Athelas" panose="02000503000000020003"/>
                        </a:rPr>
                        <a:t>6</a:t>
                      </a:r>
                      <a:endParaRPr lang="en-IN" sz="1400" b="1" i="0" u="none" strike="noStrike" dirty="0">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3778695"/>
                  </a:ext>
                </a:extLst>
              </a:tr>
              <a:tr h="318575">
                <a:tc>
                  <a:txBody>
                    <a:bodyPr/>
                    <a:lstStyle/>
                    <a:p>
                      <a:pPr algn="ctr" fontAlgn="ctr"/>
                      <a:r>
                        <a:rPr lang="en-IN" sz="1400" b="1" u="none" strike="noStrike" dirty="0">
                          <a:effectLst/>
                          <a:latin typeface="Athelas" panose="02000503000000020003"/>
                        </a:rPr>
                        <a:t>R1</a:t>
                      </a:r>
                      <a:endParaRPr lang="en-IN" sz="1400" b="1" i="0" u="none" strike="noStrike" dirty="0">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400" b="1" u="none" strike="noStrike" dirty="0">
                          <a:effectLst/>
                          <a:latin typeface="Athelas" panose="02000503000000020003"/>
                        </a:rPr>
                        <a:t>15</a:t>
                      </a:r>
                      <a:endParaRPr lang="en-IN" sz="1400" b="1" i="0" u="none" strike="noStrike" dirty="0">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504385"/>
                  </a:ext>
                </a:extLst>
              </a:tr>
              <a:tr h="318575">
                <a:tc>
                  <a:txBody>
                    <a:bodyPr/>
                    <a:lstStyle/>
                    <a:p>
                      <a:pPr algn="ctr" fontAlgn="ctr"/>
                      <a:r>
                        <a:rPr lang="en-IN" sz="1400" b="1" u="none" strike="noStrike" dirty="0">
                          <a:effectLst/>
                          <a:latin typeface="Athelas" panose="02000503000000020003"/>
                        </a:rPr>
                        <a:t>R2</a:t>
                      </a:r>
                      <a:endParaRPr lang="en-IN" sz="1400" b="1" i="0" u="none" strike="noStrike" dirty="0">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400" b="1" u="none" strike="noStrike">
                          <a:effectLst/>
                          <a:latin typeface="Athelas" panose="02000503000000020003"/>
                        </a:rPr>
                        <a:t>15</a:t>
                      </a:r>
                      <a:endParaRPr lang="en-IN" sz="1400" b="1" i="0" u="none" strike="noStrike">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3396869"/>
                  </a:ext>
                </a:extLst>
              </a:tr>
              <a:tr h="318575">
                <a:tc>
                  <a:txBody>
                    <a:bodyPr/>
                    <a:lstStyle/>
                    <a:p>
                      <a:pPr algn="ctr" fontAlgn="ctr"/>
                      <a:r>
                        <a:rPr lang="en-IN" sz="1400" b="1" u="none" strike="noStrike" dirty="0">
                          <a:effectLst/>
                          <a:latin typeface="Athelas" panose="02000503000000020003"/>
                        </a:rPr>
                        <a:t>R3</a:t>
                      </a:r>
                      <a:endParaRPr lang="en-IN" sz="1400" b="1" i="0" u="none" strike="noStrike" dirty="0">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400" b="1" u="none" strike="noStrike" dirty="0">
                          <a:effectLst/>
                          <a:latin typeface="Athelas" panose="02000503000000020003"/>
                        </a:rPr>
                        <a:t>8</a:t>
                      </a:r>
                      <a:endParaRPr lang="en-IN" sz="1400" b="1" i="0" u="none" strike="noStrike" dirty="0">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1363653"/>
                  </a:ext>
                </a:extLst>
              </a:tr>
              <a:tr h="318575">
                <a:tc>
                  <a:txBody>
                    <a:bodyPr/>
                    <a:lstStyle/>
                    <a:p>
                      <a:pPr algn="ctr" fontAlgn="ctr"/>
                      <a:r>
                        <a:rPr lang="en-IN" sz="1400" b="1" u="none" strike="noStrike">
                          <a:effectLst/>
                          <a:latin typeface="Athelas" panose="02000503000000020003"/>
                        </a:rPr>
                        <a:t>R4</a:t>
                      </a:r>
                      <a:endParaRPr lang="en-IN" sz="1400" b="1" i="0" u="none" strike="noStrike">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400" b="1" u="none" strike="noStrike" dirty="0">
                          <a:effectLst/>
                          <a:latin typeface="Athelas" panose="02000503000000020003"/>
                        </a:rPr>
                        <a:t>30</a:t>
                      </a:r>
                      <a:endParaRPr lang="en-IN" sz="1400" b="1" i="0" u="none" strike="noStrike" dirty="0">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1853070"/>
                  </a:ext>
                </a:extLst>
              </a:tr>
              <a:tr h="318575">
                <a:tc>
                  <a:txBody>
                    <a:bodyPr/>
                    <a:lstStyle/>
                    <a:p>
                      <a:pPr algn="ctr" fontAlgn="ctr"/>
                      <a:r>
                        <a:rPr lang="en-IN" sz="1400" b="1" u="none" strike="noStrike">
                          <a:effectLst/>
                          <a:latin typeface="Athelas" panose="02000503000000020003"/>
                        </a:rPr>
                        <a:t>R5</a:t>
                      </a:r>
                      <a:endParaRPr lang="en-IN" sz="1400" b="1" i="0" u="none" strike="noStrike">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400" b="1" u="none" strike="noStrike" dirty="0">
                          <a:effectLst/>
                          <a:latin typeface="Athelas" panose="02000503000000020003"/>
                        </a:rPr>
                        <a:t>22</a:t>
                      </a:r>
                      <a:endParaRPr lang="en-IN" sz="1400" b="1" i="0" u="none" strike="noStrike" dirty="0">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8874232"/>
                  </a:ext>
                </a:extLst>
              </a:tr>
              <a:tr h="318575">
                <a:tc>
                  <a:txBody>
                    <a:bodyPr/>
                    <a:lstStyle/>
                    <a:p>
                      <a:pPr algn="ctr" fontAlgn="ctr"/>
                      <a:r>
                        <a:rPr lang="en-IN" sz="1400" b="1" u="none" strike="noStrike" dirty="0">
                          <a:effectLst/>
                          <a:latin typeface="Athelas" panose="02000503000000020003"/>
                        </a:rPr>
                        <a:t>Freidman test statistic</a:t>
                      </a:r>
                      <a:endParaRPr lang="en-IN" sz="1400" b="1" i="0" u="none" strike="noStrike" dirty="0">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400" b="1" u="none" strike="noStrike" dirty="0">
                          <a:effectLst/>
                          <a:latin typeface="Athelas" panose="02000503000000020003"/>
                        </a:rPr>
                        <a:t>18.5333</a:t>
                      </a:r>
                      <a:endParaRPr lang="en-IN" sz="1400" b="1" i="0" u="none" strike="noStrike" dirty="0">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8324053"/>
                  </a:ext>
                </a:extLst>
              </a:tr>
              <a:tr h="318575">
                <a:tc>
                  <a:txBody>
                    <a:bodyPr/>
                    <a:lstStyle/>
                    <a:p>
                      <a:pPr algn="ctr" fontAlgn="ctr"/>
                      <a:r>
                        <a:rPr lang="en-US" sz="1400" b="1" dirty="0">
                          <a:latin typeface="Athelas" panose="02000503000000020003"/>
                        </a:rPr>
                        <a:t>𝛘</a:t>
                      </a:r>
                      <a:r>
                        <a:rPr lang="en-US" sz="1400" b="1" baseline="30000" dirty="0">
                          <a:latin typeface="Athelas" panose="02000503000000020003"/>
                        </a:rPr>
                        <a:t>2</a:t>
                      </a:r>
                      <a:r>
                        <a:rPr lang="en-US" sz="1400" b="1" baseline="-25000" dirty="0">
                          <a:latin typeface="Athelas" panose="02000503000000020003"/>
                        </a:rPr>
                        <a:t>20</a:t>
                      </a:r>
                      <a:endParaRPr lang="en-IN" sz="1400" b="1" i="0" u="none" strike="noStrike" dirty="0">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400" b="1" i="0" u="none" strike="noStrike" dirty="0">
                          <a:solidFill>
                            <a:srgbClr val="000000"/>
                          </a:solidFill>
                          <a:effectLst/>
                          <a:latin typeface="Athelas" panose="02000503000000020003"/>
                        </a:rPr>
                        <a:t>10.85081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23990"/>
                  </a:ext>
                </a:extLst>
              </a:tr>
            </a:tbl>
          </a:graphicData>
        </a:graphic>
      </p:graphicFrame>
      <p:sp>
        <p:nvSpPr>
          <p:cNvPr id="5" name="TextBox 4">
            <a:extLst>
              <a:ext uri="{FF2B5EF4-FFF2-40B4-BE49-F238E27FC236}">
                <a16:creationId xmlns:a16="http://schemas.microsoft.com/office/drawing/2014/main" id="{5B516EB2-A357-E4A6-038C-7421BB97F3FB}"/>
              </a:ext>
            </a:extLst>
          </p:cNvPr>
          <p:cNvSpPr txBox="1"/>
          <p:nvPr/>
        </p:nvSpPr>
        <p:spPr>
          <a:xfrm>
            <a:off x="6485275" y="3318570"/>
            <a:ext cx="5050302" cy="3539430"/>
          </a:xfrm>
          <a:prstGeom prst="rect">
            <a:avLst/>
          </a:prstGeom>
          <a:noFill/>
        </p:spPr>
        <p:txBody>
          <a:bodyPr wrap="square" rtlCol="0">
            <a:spAutoFit/>
          </a:bodyPr>
          <a:lstStyle/>
          <a:p>
            <a:r>
              <a:rPr lang="en-US" sz="1600" dirty="0">
                <a:latin typeface="Athelas" panose="02000503000000020003"/>
              </a:rPr>
              <a:t>Since,</a:t>
            </a:r>
          </a:p>
          <a:p>
            <a:r>
              <a:rPr lang="en-US" sz="1600" dirty="0">
                <a:latin typeface="Athelas" panose="02000503000000020003" pitchFamily="2" charset="77"/>
              </a:rPr>
              <a:t> 𝛘</a:t>
            </a:r>
            <a:r>
              <a:rPr lang="en-US" sz="1600" baseline="30000" dirty="0">
                <a:latin typeface="Athelas" panose="02000503000000020003" pitchFamily="2" charset="77"/>
              </a:rPr>
              <a:t>2</a:t>
            </a:r>
            <a:r>
              <a:rPr lang="en-US" sz="1600" baseline="-25000" dirty="0">
                <a:latin typeface="Athelas" panose="02000503000000020003" pitchFamily="2" charset="77"/>
              </a:rPr>
              <a:t>r </a:t>
            </a:r>
            <a:r>
              <a:rPr lang="en-US" sz="1600" baseline="-25000" dirty="0" err="1">
                <a:latin typeface="Athelas" panose="02000503000000020003" pitchFamily="2" charset="77"/>
              </a:rPr>
              <a:t>cal</a:t>
            </a:r>
            <a:r>
              <a:rPr lang="en-US" sz="1600" baseline="-25000" dirty="0">
                <a:latin typeface="Athelas" panose="02000503000000020003" pitchFamily="2" charset="77"/>
              </a:rPr>
              <a:t> </a:t>
            </a:r>
            <a:r>
              <a:rPr lang="en-US" sz="1600" dirty="0">
                <a:latin typeface="Athelas" panose="02000503000000020003" pitchFamily="2" charset="77"/>
              </a:rPr>
              <a:t>&gt; 𝛘</a:t>
            </a:r>
            <a:r>
              <a:rPr lang="en-US" sz="1600" baseline="30000" dirty="0">
                <a:latin typeface="Athelas" panose="02000503000000020003" pitchFamily="2" charset="77"/>
              </a:rPr>
              <a:t>2</a:t>
            </a:r>
            <a:r>
              <a:rPr lang="en-US" sz="1600" baseline="-25000" dirty="0">
                <a:latin typeface="Athelas" panose="02000503000000020003" pitchFamily="2" charset="77"/>
              </a:rPr>
              <a:t>r(table) </a:t>
            </a:r>
          </a:p>
          <a:p>
            <a:r>
              <a:rPr lang="en-US" sz="1600" dirty="0">
                <a:latin typeface="Athelas" panose="02000503000000020003" pitchFamily="2" charset="77"/>
              </a:rPr>
              <a:t>Therefore, we will reject null hypothesis</a:t>
            </a:r>
            <a:endParaRPr lang="en-US" sz="1600" baseline="-25000" dirty="0">
              <a:latin typeface="Athelas" panose="02000503000000020003" pitchFamily="2" charset="77"/>
            </a:endParaRPr>
          </a:p>
          <a:p>
            <a:endParaRPr lang="en-US" sz="1600" dirty="0">
              <a:latin typeface="Athelas" panose="02000503000000020003"/>
            </a:endParaRPr>
          </a:p>
          <a:p>
            <a:r>
              <a:rPr lang="en-US" sz="1600" dirty="0">
                <a:latin typeface="Athelas" panose="02000503000000020003"/>
              </a:rPr>
              <a:t>Conclusion: There are significant variations in the ICR of different private sectors banks (HDFC, ICICI, AXIS, INDUSLAND, KOTAK) over the years 2018 to 2023.</a:t>
            </a:r>
          </a:p>
          <a:p>
            <a:endParaRPr lang="en-US" sz="1600" dirty="0">
              <a:latin typeface="Athelas" panose="02000503000000020003"/>
            </a:endParaRPr>
          </a:p>
          <a:p>
            <a:r>
              <a:rPr lang="en-US" sz="1600" dirty="0">
                <a:latin typeface="Athelas" panose="02000503000000020003"/>
              </a:rPr>
              <a:t>This suggests that the performance in terms of ICR varies significantly across these banks during this time period. Further analysis or investigation may be warranted to understand the specific factors contributing to these differences.</a:t>
            </a:r>
            <a:endParaRPr lang="en-IN" sz="1600" dirty="0">
              <a:latin typeface="Athelas" panose="02000503000000020003"/>
            </a:endParaRPr>
          </a:p>
          <a:p>
            <a:endParaRPr lang="en-US" sz="1600" dirty="0">
              <a:latin typeface="Athelas" panose="02000503000000020003"/>
            </a:endParaRPr>
          </a:p>
        </p:txBody>
      </p:sp>
    </p:spTree>
    <p:extLst>
      <p:ext uri="{BB962C8B-B14F-4D97-AF65-F5344CB8AC3E}">
        <p14:creationId xmlns:p14="http://schemas.microsoft.com/office/powerpoint/2010/main" val="617102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9BBC2B-7010-A941-0AB4-FF549D0CA79F}"/>
              </a:ext>
            </a:extLst>
          </p:cNvPr>
          <p:cNvSpPr txBox="1"/>
          <p:nvPr/>
        </p:nvSpPr>
        <p:spPr>
          <a:xfrm>
            <a:off x="712694" y="1506071"/>
            <a:ext cx="6172200" cy="1015663"/>
          </a:xfrm>
          <a:prstGeom prst="rect">
            <a:avLst/>
          </a:prstGeom>
          <a:noFill/>
        </p:spPr>
        <p:txBody>
          <a:bodyPr wrap="square" rtlCol="0">
            <a:spAutoFit/>
          </a:bodyPr>
          <a:lstStyle/>
          <a:p>
            <a:r>
              <a:rPr lang="en-US" sz="2000" b="1" dirty="0">
                <a:latin typeface="Athelas" panose="02000503000000020003" pitchFamily="2" charset="77"/>
              </a:rPr>
              <a:t>Test for ICR (Interest Coverage Ratio):</a:t>
            </a:r>
          </a:p>
          <a:p>
            <a:r>
              <a:rPr lang="en-US" sz="2000" b="1" dirty="0">
                <a:latin typeface="Athelas" panose="02000503000000020003" pitchFamily="2" charset="77"/>
              </a:rPr>
              <a:t>(Freidman Two Way Analysis by Ranks)</a:t>
            </a:r>
          </a:p>
          <a:p>
            <a:r>
              <a:rPr lang="en-US" sz="2000" b="1" dirty="0">
                <a:latin typeface="Athelas" panose="02000503000000020003" pitchFamily="2" charset="77"/>
              </a:rPr>
              <a:t>Public Banks</a:t>
            </a:r>
            <a:endParaRPr lang="en-US" sz="2000" dirty="0"/>
          </a:p>
        </p:txBody>
      </p:sp>
      <p:sp>
        <p:nvSpPr>
          <p:cNvPr id="3" name="TextBox 2">
            <a:extLst>
              <a:ext uri="{FF2B5EF4-FFF2-40B4-BE49-F238E27FC236}">
                <a16:creationId xmlns:a16="http://schemas.microsoft.com/office/drawing/2014/main" id="{343F38B5-0617-1401-90D6-8EF708F1B4A8}"/>
              </a:ext>
            </a:extLst>
          </p:cNvPr>
          <p:cNvSpPr txBox="1"/>
          <p:nvPr/>
        </p:nvSpPr>
        <p:spPr>
          <a:xfrm>
            <a:off x="689317" y="2447779"/>
            <a:ext cx="7526215" cy="830997"/>
          </a:xfrm>
          <a:prstGeom prst="rect">
            <a:avLst/>
          </a:prstGeom>
          <a:noFill/>
        </p:spPr>
        <p:txBody>
          <a:bodyPr wrap="square" rtlCol="0">
            <a:spAutoFit/>
          </a:bodyPr>
          <a:lstStyle/>
          <a:p>
            <a:r>
              <a:rPr lang="en-US" sz="1600" dirty="0">
                <a:latin typeface="Athelas" panose="02000503000000020003"/>
              </a:rPr>
              <a:t>H</a:t>
            </a:r>
            <a:r>
              <a:rPr lang="en-US" sz="1600" baseline="-25000" dirty="0">
                <a:latin typeface="Athelas" panose="02000503000000020003"/>
              </a:rPr>
              <a:t>0</a:t>
            </a:r>
            <a:r>
              <a:rPr lang="en-US" sz="1600" dirty="0">
                <a:latin typeface="Athelas" panose="02000503000000020003"/>
              </a:rPr>
              <a:t> : There is no significant difference in the ICR among the public banks across the years</a:t>
            </a:r>
          </a:p>
          <a:p>
            <a:r>
              <a:rPr lang="en-US" sz="1600" dirty="0">
                <a:latin typeface="Athelas" panose="02000503000000020003"/>
              </a:rPr>
              <a:t>H</a:t>
            </a:r>
            <a:r>
              <a:rPr lang="en-US" sz="1600" baseline="-25000" dirty="0">
                <a:latin typeface="Athelas" panose="02000503000000020003"/>
              </a:rPr>
              <a:t>1</a:t>
            </a:r>
            <a:r>
              <a:rPr lang="en-US" sz="1600" dirty="0">
                <a:latin typeface="Athelas" panose="02000503000000020003"/>
              </a:rPr>
              <a:t> : There is significant difference in the ICR among the public banks across the years</a:t>
            </a:r>
          </a:p>
          <a:p>
            <a:r>
              <a:rPr lang="en-US" sz="1600" dirty="0">
                <a:latin typeface="Athelas" panose="02000503000000020003"/>
              </a:rPr>
              <a:t>Level of Significance = 0.05</a:t>
            </a:r>
            <a:endParaRPr lang="en-IN" sz="1600" dirty="0">
              <a:latin typeface="Athelas" panose="02000503000000020003"/>
            </a:endParaRPr>
          </a:p>
        </p:txBody>
      </p:sp>
      <p:graphicFrame>
        <p:nvGraphicFramePr>
          <p:cNvPr id="4" name="Table 3">
            <a:extLst>
              <a:ext uri="{FF2B5EF4-FFF2-40B4-BE49-F238E27FC236}">
                <a16:creationId xmlns:a16="http://schemas.microsoft.com/office/drawing/2014/main" id="{7721D7B4-D507-C357-C768-E92041660CC7}"/>
              </a:ext>
            </a:extLst>
          </p:cNvPr>
          <p:cNvGraphicFramePr>
            <a:graphicFrameLocks noGrp="1"/>
          </p:cNvGraphicFramePr>
          <p:nvPr>
            <p:extLst>
              <p:ext uri="{D42A27DB-BD31-4B8C-83A1-F6EECF244321}">
                <p14:modId xmlns:p14="http://schemas.microsoft.com/office/powerpoint/2010/main" val="1949626982"/>
              </p:ext>
            </p:extLst>
          </p:nvPr>
        </p:nvGraphicFramePr>
        <p:xfrm>
          <a:off x="1071419" y="3429000"/>
          <a:ext cx="3381005" cy="2867175"/>
        </p:xfrm>
        <a:graphic>
          <a:graphicData uri="http://schemas.openxmlformats.org/drawingml/2006/table">
            <a:tbl>
              <a:tblPr>
                <a:tableStyleId>{E83C75A5-541F-4068-BE22-2AE3A88C29BB}</a:tableStyleId>
              </a:tblPr>
              <a:tblGrid>
                <a:gridCol w="2078487">
                  <a:extLst>
                    <a:ext uri="{9D8B030D-6E8A-4147-A177-3AD203B41FA5}">
                      <a16:colId xmlns:a16="http://schemas.microsoft.com/office/drawing/2014/main" val="3670123088"/>
                    </a:ext>
                  </a:extLst>
                </a:gridCol>
                <a:gridCol w="1302518">
                  <a:extLst>
                    <a:ext uri="{9D8B030D-6E8A-4147-A177-3AD203B41FA5}">
                      <a16:colId xmlns:a16="http://schemas.microsoft.com/office/drawing/2014/main" val="2023798321"/>
                    </a:ext>
                  </a:extLst>
                </a:gridCol>
              </a:tblGrid>
              <a:tr h="318575">
                <a:tc>
                  <a:txBody>
                    <a:bodyPr/>
                    <a:lstStyle/>
                    <a:p>
                      <a:pPr algn="ctr" fontAlgn="ctr"/>
                      <a:r>
                        <a:rPr lang="en-US" sz="1400" b="1" i="0" u="none" strike="noStrike" dirty="0">
                          <a:solidFill>
                            <a:srgbClr val="000000"/>
                          </a:solidFill>
                          <a:effectLst/>
                          <a:latin typeface="Athelas" panose="02000503000000020003"/>
                        </a:rPr>
                        <a:t>k</a:t>
                      </a:r>
                      <a:endParaRPr lang="en-IN" sz="1400" b="1" i="0" u="none" strike="noStrike" dirty="0">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400" b="1" i="0" u="none" strike="noStrike">
                          <a:solidFill>
                            <a:srgbClr val="000000"/>
                          </a:solidFill>
                          <a:effectLst/>
                          <a:latin typeface="Calibri" panose="020F0502020204030204" pitchFamily="34"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8469621"/>
                  </a:ext>
                </a:extLst>
              </a:tr>
              <a:tr h="318575">
                <a:tc>
                  <a:txBody>
                    <a:bodyPr/>
                    <a:lstStyle/>
                    <a:p>
                      <a:pPr algn="ctr" fontAlgn="ctr"/>
                      <a:r>
                        <a:rPr lang="en-US" sz="1400" b="1" i="0" u="none" strike="noStrike" dirty="0">
                          <a:solidFill>
                            <a:srgbClr val="000000"/>
                          </a:solidFill>
                          <a:effectLst/>
                          <a:latin typeface="Athelas" panose="02000503000000020003"/>
                        </a:rPr>
                        <a:t>b</a:t>
                      </a:r>
                      <a:endParaRPr lang="en-IN" sz="1400" b="1" i="0" u="none" strike="noStrike" dirty="0">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400" b="1" i="0" u="none" strike="noStrike">
                          <a:solidFill>
                            <a:srgbClr val="000000"/>
                          </a:solidFill>
                          <a:effectLst/>
                          <a:latin typeface="Calibri" panose="020F0502020204030204" pitchFamily="34"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3778695"/>
                  </a:ext>
                </a:extLst>
              </a:tr>
              <a:tr h="318575">
                <a:tc>
                  <a:txBody>
                    <a:bodyPr/>
                    <a:lstStyle/>
                    <a:p>
                      <a:pPr algn="ctr" fontAlgn="ctr"/>
                      <a:r>
                        <a:rPr lang="en-IN" sz="1400" b="1" u="none" strike="noStrike" dirty="0">
                          <a:effectLst/>
                          <a:latin typeface="Athelas" panose="02000503000000020003"/>
                        </a:rPr>
                        <a:t>R1</a:t>
                      </a:r>
                      <a:endParaRPr lang="en-IN" sz="1400" b="1" i="0" u="none" strike="noStrike" dirty="0">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400" b="1" i="0" u="none" strike="noStrike">
                          <a:solidFill>
                            <a:srgbClr val="000000"/>
                          </a:solidFill>
                          <a:effectLst/>
                          <a:latin typeface="Calibri" panose="020F0502020204030204" pitchFamily="34" charset="0"/>
                        </a:rPr>
                        <a:t>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504385"/>
                  </a:ext>
                </a:extLst>
              </a:tr>
              <a:tr h="318575">
                <a:tc>
                  <a:txBody>
                    <a:bodyPr/>
                    <a:lstStyle/>
                    <a:p>
                      <a:pPr algn="ctr" fontAlgn="ctr"/>
                      <a:r>
                        <a:rPr lang="en-IN" sz="1400" b="1" u="none" strike="noStrike" dirty="0">
                          <a:effectLst/>
                          <a:latin typeface="Athelas" panose="02000503000000020003"/>
                        </a:rPr>
                        <a:t>R2</a:t>
                      </a:r>
                      <a:endParaRPr lang="en-IN" sz="1400" b="1" i="0" u="none" strike="noStrike" dirty="0">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400" b="1" i="0" u="none" strike="noStrike">
                          <a:solidFill>
                            <a:srgbClr val="000000"/>
                          </a:solidFill>
                          <a:effectLst/>
                          <a:latin typeface="Calibri" panose="020F0502020204030204" pitchFamily="34" charset="0"/>
                        </a:rPr>
                        <a:t>20.5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3396869"/>
                  </a:ext>
                </a:extLst>
              </a:tr>
              <a:tr h="318575">
                <a:tc>
                  <a:txBody>
                    <a:bodyPr/>
                    <a:lstStyle/>
                    <a:p>
                      <a:pPr algn="ctr" fontAlgn="ctr"/>
                      <a:r>
                        <a:rPr lang="en-IN" sz="1400" b="1" u="none" strike="noStrike" dirty="0">
                          <a:effectLst/>
                          <a:latin typeface="Athelas" panose="02000503000000020003"/>
                        </a:rPr>
                        <a:t>R3</a:t>
                      </a:r>
                      <a:endParaRPr lang="en-IN" sz="1400" b="1" i="0" u="none" strike="noStrike" dirty="0">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400" b="1" i="0" u="none" strike="noStrike">
                          <a:solidFill>
                            <a:srgbClr val="000000"/>
                          </a:solidFill>
                          <a:effectLst/>
                          <a:latin typeface="Calibri" panose="020F0502020204030204" pitchFamily="34" charset="0"/>
                        </a:rPr>
                        <a:t>7.5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1363653"/>
                  </a:ext>
                </a:extLst>
              </a:tr>
              <a:tr h="318575">
                <a:tc>
                  <a:txBody>
                    <a:bodyPr/>
                    <a:lstStyle/>
                    <a:p>
                      <a:pPr algn="ctr" fontAlgn="ctr"/>
                      <a:r>
                        <a:rPr lang="en-IN" sz="1400" b="1" u="none" strike="noStrike">
                          <a:effectLst/>
                          <a:latin typeface="Athelas" panose="02000503000000020003"/>
                        </a:rPr>
                        <a:t>R4</a:t>
                      </a:r>
                      <a:endParaRPr lang="en-IN" sz="1400" b="1" i="0" u="none" strike="noStrike">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400" b="1" i="0" u="none" strike="noStrike">
                          <a:solidFill>
                            <a:srgbClr val="000000"/>
                          </a:solidFill>
                          <a:effectLst/>
                          <a:latin typeface="Calibri" panose="020F0502020204030204" pitchFamily="34" charset="0"/>
                        </a:rPr>
                        <a:t>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1853070"/>
                  </a:ext>
                </a:extLst>
              </a:tr>
              <a:tr h="318575">
                <a:tc>
                  <a:txBody>
                    <a:bodyPr/>
                    <a:lstStyle/>
                    <a:p>
                      <a:pPr algn="ctr" fontAlgn="ctr"/>
                      <a:r>
                        <a:rPr lang="en-IN" sz="1400" b="1" u="none" strike="noStrike">
                          <a:effectLst/>
                          <a:latin typeface="Athelas" panose="02000503000000020003"/>
                        </a:rPr>
                        <a:t>R5</a:t>
                      </a:r>
                      <a:endParaRPr lang="en-IN" sz="1400" b="1" i="0" u="none" strike="noStrike">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400" b="1" i="0" u="none" strike="noStrike">
                          <a:solidFill>
                            <a:srgbClr val="000000"/>
                          </a:solidFill>
                          <a:effectLst/>
                          <a:latin typeface="Calibri" panose="020F0502020204030204" pitchFamily="34" charset="0"/>
                        </a:rPr>
                        <a:t>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8874232"/>
                  </a:ext>
                </a:extLst>
              </a:tr>
              <a:tr h="318575">
                <a:tc>
                  <a:txBody>
                    <a:bodyPr/>
                    <a:lstStyle/>
                    <a:p>
                      <a:pPr algn="ctr" fontAlgn="ctr"/>
                      <a:r>
                        <a:rPr lang="en-IN" sz="1400" b="1" u="none" strike="noStrike" dirty="0">
                          <a:effectLst/>
                          <a:latin typeface="Athelas" panose="02000503000000020003"/>
                        </a:rPr>
                        <a:t>Freidman test statistic</a:t>
                      </a:r>
                      <a:endParaRPr lang="en-IN" sz="1400" b="1" i="0" u="none" strike="noStrike" dirty="0">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400" b="1" i="0" u="none" strike="noStrike">
                          <a:solidFill>
                            <a:srgbClr val="000000"/>
                          </a:solidFill>
                          <a:effectLst/>
                          <a:latin typeface="Calibri" panose="020F0502020204030204" pitchFamily="34" charset="0"/>
                        </a:rPr>
                        <a:t>18.152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8324053"/>
                  </a:ext>
                </a:extLst>
              </a:tr>
              <a:tr h="318575">
                <a:tc>
                  <a:txBody>
                    <a:bodyPr/>
                    <a:lstStyle/>
                    <a:p>
                      <a:pPr algn="ctr" fontAlgn="ctr"/>
                      <a:r>
                        <a:rPr lang="en-US" sz="1400" b="1" dirty="0">
                          <a:latin typeface="Athelas" panose="02000503000000020003"/>
                        </a:rPr>
                        <a:t>𝛘</a:t>
                      </a:r>
                      <a:r>
                        <a:rPr lang="en-US" sz="1400" b="1" baseline="30000" dirty="0">
                          <a:latin typeface="Athelas" panose="02000503000000020003"/>
                        </a:rPr>
                        <a:t>2</a:t>
                      </a:r>
                      <a:r>
                        <a:rPr lang="en-US" sz="1400" b="1" baseline="-25000" dirty="0">
                          <a:latin typeface="Athelas" panose="02000503000000020003"/>
                        </a:rPr>
                        <a:t>20</a:t>
                      </a:r>
                      <a:endParaRPr lang="en-IN" sz="1400" b="1" i="0" u="none" strike="noStrike" dirty="0">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400" b="1" i="0" u="none" strike="noStrike" dirty="0">
                          <a:solidFill>
                            <a:srgbClr val="000000"/>
                          </a:solidFill>
                          <a:effectLst/>
                          <a:latin typeface="Calibri" panose="020F0502020204030204" pitchFamily="34" charset="0"/>
                        </a:rPr>
                        <a:t>10.85081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23990"/>
                  </a:ext>
                </a:extLst>
              </a:tr>
            </a:tbl>
          </a:graphicData>
        </a:graphic>
      </p:graphicFrame>
      <p:sp>
        <p:nvSpPr>
          <p:cNvPr id="5" name="TextBox 4">
            <a:extLst>
              <a:ext uri="{FF2B5EF4-FFF2-40B4-BE49-F238E27FC236}">
                <a16:creationId xmlns:a16="http://schemas.microsoft.com/office/drawing/2014/main" id="{41ACA03B-3104-D413-21BA-BFAE3ADC2246}"/>
              </a:ext>
            </a:extLst>
          </p:cNvPr>
          <p:cNvSpPr txBox="1"/>
          <p:nvPr/>
        </p:nvSpPr>
        <p:spPr>
          <a:xfrm>
            <a:off x="6485275" y="3278776"/>
            <a:ext cx="5050302" cy="3293209"/>
          </a:xfrm>
          <a:prstGeom prst="rect">
            <a:avLst/>
          </a:prstGeom>
          <a:noFill/>
        </p:spPr>
        <p:txBody>
          <a:bodyPr wrap="square" rtlCol="0">
            <a:spAutoFit/>
          </a:bodyPr>
          <a:lstStyle/>
          <a:p>
            <a:r>
              <a:rPr lang="en-US" sz="1600" dirty="0">
                <a:latin typeface="Athelas" panose="02000503000000020003"/>
              </a:rPr>
              <a:t>Since,</a:t>
            </a:r>
          </a:p>
          <a:p>
            <a:r>
              <a:rPr lang="en-US" sz="1600" dirty="0">
                <a:latin typeface="Athelas" panose="02000503000000020003" pitchFamily="2" charset="77"/>
              </a:rPr>
              <a:t> 𝛘</a:t>
            </a:r>
            <a:r>
              <a:rPr lang="en-US" sz="1600" baseline="30000" dirty="0">
                <a:latin typeface="Athelas" panose="02000503000000020003" pitchFamily="2" charset="77"/>
              </a:rPr>
              <a:t>2</a:t>
            </a:r>
            <a:r>
              <a:rPr lang="en-US" sz="1600" baseline="-25000" dirty="0">
                <a:latin typeface="Athelas" panose="02000503000000020003" pitchFamily="2" charset="77"/>
              </a:rPr>
              <a:t>r </a:t>
            </a:r>
            <a:r>
              <a:rPr lang="en-US" sz="1600" baseline="-25000" dirty="0" err="1">
                <a:latin typeface="Athelas" panose="02000503000000020003" pitchFamily="2" charset="77"/>
              </a:rPr>
              <a:t>cal</a:t>
            </a:r>
            <a:r>
              <a:rPr lang="en-US" sz="1600" baseline="-25000" dirty="0">
                <a:latin typeface="Athelas" panose="02000503000000020003" pitchFamily="2" charset="77"/>
              </a:rPr>
              <a:t> </a:t>
            </a:r>
            <a:r>
              <a:rPr lang="en-US" sz="1600" dirty="0">
                <a:latin typeface="Athelas" panose="02000503000000020003" pitchFamily="2" charset="77"/>
              </a:rPr>
              <a:t>&gt; 𝛘</a:t>
            </a:r>
            <a:r>
              <a:rPr lang="en-US" sz="1600" baseline="30000" dirty="0">
                <a:latin typeface="Athelas" panose="02000503000000020003" pitchFamily="2" charset="77"/>
              </a:rPr>
              <a:t>2</a:t>
            </a:r>
            <a:r>
              <a:rPr lang="en-US" sz="1600" baseline="-25000" dirty="0">
                <a:latin typeface="Athelas" panose="02000503000000020003" pitchFamily="2" charset="77"/>
              </a:rPr>
              <a:t>r(table) </a:t>
            </a:r>
          </a:p>
          <a:p>
            <a:r>
              <a:rPr lang="en-US" sz="1600" dirty="0">
                <a:latin typeface="Athelas" panose="02000503000000020003" pitchFamily="2" charset="77"/>
              </a:rPr>
              <a:t>Therefore, we will reject null hypothesis</a:t>
            </a:r>
            <a:endParaRPr lang="en-US" sz="1600" baseline="-25000" dirty="0">
              <a:latin typeface="Athelas" panose="02000503000000020003" pitchFamily="2" charset="77"/>
            </a:endParaRPr>
          </a:p>
          <a:p>
            <a:endParaRPr lang="en-US" sz="1600" dirty="0">
              <a:latin typeface="Athelas" panose="02000503000000020003"/>
            </a:endParaRPr>
          </a:p>
          <a:p>
            <a:r>
              <a:rPr lang="en-US" sz="1600" dirty="0">
                <a:latin typeface="Athelas" panose="02000503000000020003"/>
              </a:rPr>
              <a:t>Conclusion: There are significant variations in the ICRs of different public sector banks (SBI, UBOI, PNB, BOI, BOB) over the years 2018 to 2023. </a:t>
            </a:r>
          </a:p>
          <a:p>
            <a:endParaRPr lang="en-US" sz="1600" dirty="0">
              <a:latin typeface="Athelas" panose="02000503000000020003"/>
            </a:endParaRPr>
          </a:p>
          <a:p>
            <a:r>
              <a:rPr lang="en-US" sz="1600" dirty="0">
                <a:latin typeface="Athelas" panose="02000503000000020003"/>
              </a:rPr>
              <a:t>This suggests that the financial health and ability to cover interest expenses differ significantly among these banks during this time period. Further investigation may be necessary to understand the underlying factors driving these differences.</a:t>
            </a:r>
          </a:p>
        </p:txBody>
      </p:sp>
    </p:spTree>
    <p:extLst>
      <p:ext uri="{BB962C8B-B14F-4D97-AF65-F5344CB8AC3E}">
        <p14:creationId xmlns:p14="http://schemas.microsoft.com/office/powerpoint/2010/main" val="36933715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E81D59-5511-180D-13C6-CCDD4444AC3A}"/>
              </a:ext>
            </a:extLst>
          </p:cNvPr>
          <p:cNvSpPr txBox="1"/>
          <p:nvPr/>
        </p:nvSpPr>
        <p:spPr>
          <a:xfrm>
            <a:off x="712694" y="1506071"/>
            <a:ext cx="6172200" cy="1015663"/>
          </a:xfrm>
          <a:prstGeom prst="rect">
            <a:avLst/>
          </a:prstGeom>
          <a:noFill/>
        </p:spPr>
        <p:txBody>
          <a:bodyPr wrap="square" rtlCol="0">
            <a:spAutoFit/>
          </a:bodyPr>
          <a:lstStyle/>
          <a:p>
            <a:r>
              <a:rPr lang="en-US" sz="2000" b="1" dirty="0">
                <a:latin typeface="Athelas" panose="02000503000000020003" pitchFamily="2" charset="77"/>
              </a:rPr>
              <a:t>Test for ICR (Interest Coverage Ratio):</a:t>
            </a:r>
          </a:p>
          <a:p>
            <a:r>
              <a:rPr lang="en-US" sz="2000" b="1" dirty="0">
                <a:latin typeface="Athelas" panose="02000503000000020003" pitchFamily="2" charset="77"/>
              </a:rPr>
              <a:t>(Mann-Whitney U-Test)</a:t>
            </a:r>
          </a:p>
          <a:p>
            <a:r>
              <a:rPr lang="en-US" sz="2000" b="1" dirty="0">
                <a:latin typeface="Athelas" panose="02000503000000020003" pitchFamily="2" charset="77"/>
              </a:rPr>
              <a:t>Private (Worst) vs Public (Best)</a:t>
            </a:r>
            <a:endParaRPr lang="en-US" sz="2000" dirty="0"/>
          </a:p>
        </p:txBody>
      </p:sp>
      <p:sp>
        <p:nvSpPr>
          <p:cNvPr id="3" name="TextBox 2">
            <a:extLst>
              <a:ext uri="{FF2B5EF4-FFF2-40B4-BE49-F238E27FC236}">
                <a16:creationId xmlns:a16="http://schemas.microsoft.com/office/drawing/2014/main" id="{D84C6D19-4AEE-459D-A468-2A6690A98668}"/>
              </a:ext>
            </a:extLst>
          </p:cNvPr>
          <p:cNvSpPr txBox="1"/>
          <p:nvPr/>
        </p:nvSpPr>
        <p:spPr>
          <a:xfrm>
            <a:off x="689317" y="2447778"/>
            <a:ext cx="3784209" cy="1323439"/>
          </a:xfrm>
          <a:prstGeom prst="rect">
            <a:avLst/>
          </a:prstGeom>
          <a:noFill/>
        </p:spPr>
        <p:txBody>
          <a:bodyPr wrap="square" rtlCol="0">
            <a:spAutoFit/>
          </a:bodyPr>
          <a:lstStyle/>
          <a:p>
            <a:r>
              <a:rPr lang="en-US" sz="1600" dirty="0">
                <a:latin typeface="Athelas" panose="02000503000000020003"/>
              </a:rPr>
              <a:t>H</a:t>
            </a:r>
            <a:r>
              <a:rPr lang="en-US" sz="1600" baseline="-25000" dirty="0">
                <a:latin typeface="Athelas" panose="02000503000000020003"/>
              </a:rPr>
              <a:t>0</a:t>
            </a:r>
            <a:r>
              <a:rPr lang="en-US" sz="1600" dirty="0">
                <a:latin typeface="Athelas" panose="02000503000000020003"/>
              </a:rPr>
              <a:t> : F(X) = G(Y)</a:t>
            </a:r>
          </a:p>
          <a:p>
            <a:r>
              <a:rPr lang="en-US" sz="1600" dirty="0">
                <a:latin typeface="Athelas" panose="02000503000000020003"/>
              </a:rPr>
              <a:t>H</a:t>
            </a:r>
            <a:r>
              <a:rPr lang="en-US" sz="1600" baseline="-25000" dirty="0">
                <a:latin typeface="Athelas" panose="02000503000000020003"/>
              </a:rPr>
              <a:t>1</a:t>
            </a:r>
            <a:r>
              <a:rPr lang="en-US" sz="1600" dirty="0">
                <a:latin typeface="Athelas" panose="02000503000000020003"/>
              </a:rPr>
              <a:t> : F(X) &lt; G(Y) i.e. Mx &gt; My</a:t>
            </a:r>
          </a:p>
          <a:p>
            <a:r>
              <a:rPr lang="en-US" sz="1600" dirty="0">
                <a:latin typeface="Athelas" panose="02000503000000020003"/>
              </a:rPr>
              <a:t>X :  Private worst bank in ICR Sample</a:t>
            </a:r>
          </a:p>
          <a:p>
            <a:r>
              <a:rPr lang="en-US" sz="1600" dirty="0">
                <a:latin typeface="Athelas" panose="02000503000000020003"/>
              </a:rPr>
              <a:t>Y :  Public best bank in ICR Sample</a:t>
            </a:r>
          </a:p>
          <a:p>
            <a:r>
              <a:rPr lang="en-US" sz="1600" dirty="0">
                <a:latin typeface="Athelas" panose="02000503000000020003"/>
              </a:rPr>
              <a:t>Level of Significance = 0.05</a:t>
            </a:r>
            <a:endParaRPr lang="en-IN" sz="1600" dirty="0">
              <a:latin typeface="Athelas" panose="02000503000000020003"/>
            </a:endParaRPr>
          </a:p>
        </p:txBody>
      </p:sp>
      <p:graphicFrame>
        <p:nvGraphicFramePr>
          <p:cNvPr id="7" name="Table 6">
            <a:extLst>
              <a:ext uri="{FF2B5EF4-FFF2-40B4-BE49-F238E27FC236}">
                <a16:creationId xmlns:a16="http://schemas.microsoft.com/office/drawing/2014/main" id="{A4FAB165-1096-2F89-DD93-97993E968A01}"/>
              </a:ext>
            </a:extLst>
          </p:cNvPr>
          <p:cNvGraphicFramePr>
            <a:graphicFrameLocks noGrp="1"/>
          </p:cNvGraphicFramePr>
          <p:nvPr>
            <p:extLst>
              <p:ext uri="{D42A27DB-BD31-4B8C-83A1-F6EECF244321}">
                <p14:modId xmlns:p14="http://schemas.microsoft.com/office/powerpoint/2010/main" val="3023219313"/>
              </p:ext>
            </p:extLst>
          </p:nvPr>
        </p:nvGraphicFramePr>
        <p:xfrm>
          <a:off x="727278" y="3851150"/>
          <a:ext cx="3071516" cy="2331782"/>
        </p:xfrm>
        <a:graphic>
          <a:graphicData uri="http://schemas.openxmlformats.org/drawingml/2006/table">
            <a:tbl>
              <a:tblPr>
                <a:tableStyleId>{E83C75A5-541F-4068-BE22-2AE3A88C29BB}</a:tableStyleId>
              </a:tblPr>
              <a:tblGrid>
                <a:gridCol w="1535758">
                  <a:extLst>
                    <a:ext uri="{9D8B030D-6E8A-4147-A177-3AD203B41FA5}">
                      <a16:colId xmlns:a16="http://schemas.microsoft.com/office/drawing/2014/main" val="223936722"/>
                    </a:ext>
                  </a:extLst>
                </a:gridCol>
                <a:gridCol w="1535758">
                  <a:extLst>
                    <a:ext uri="{9D8B030D-6E8A-4147-A177-3AD203B41FA5}">
                      <a16:colId xmlns:a16="http://schemas.microsoft.com/office/drawing/2014/main" val="2279545708"/>
                    </a:ext>
                  </a:extLst>
                </a:gridCol>
              </a:tblGrid>
              <a:tr h="328420">
                <a:tc>
                  <a:txBody>
                    <a:bodyPr/>
                    <a:lstStyle/>
                    <a:p>
                      <a:pPr algn="ctr" fontAlgn="b"/>
                      <a:r>
                        <a:rPr lang="en-IN" sz="1600" b="1" u="none" strike="noStrike" dirty="0">
                          <a:effectLst/>
                          <a:latin typeface="Athelas" panose="02000503000000020003"/>
                        </a:rPr>
                        <a:t>Mx</a:t>
                      </a:r>
                      <a:endParaRPr lang="en-IN" sz="16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400" b="1" i="0" u="none" strike="noStrike" dirty="0">
                          <a:solidFill>
                            <a:srgbClr val="000000"/>
                          </a:solidFill>
                          <a:effectLst/>
                          <a:latin typeface="Calibri" panose="020F0502020204030204" pitchFamily="34" charset="0"/>
                        </a:rPr>
                        <a:t>1.215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9326722"/>
                  </a:ext>
                </a:extLst>
              </a:tr>
              <a:tr h="328420">
                <a:tc>
                  <a:txBody>
                    <a:bodyPr/>
                    <a:lstStyle/>
                    <a:p>
                      <a:pPr algn="ctr" fontAlgn="b"/>
                      <a:r>
                        <a:rPr lang="en-IN" sz="1600" b="1" u="none" strike="noStrike" dirty="0">
                          <a:effectLst/>
                          <a:latin typeface="Athelas" panose="02000503000000020003"/>
                        </a:rPr>
                        <a:t>My</a:t>
                      </a:r>
                      <a:endParaRPr lang="en-IN" sz="16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400" b="1" i="0" u="none" strike="noStrike" dirty="0">
                          <a:solidFill>
                            <a:srgbClr val="000000"/>
                          </a:solidFill>
                          <a:effectLst/>
                          <a:latin typeface="Calibri" panose="020F0502020204030204" pitchFamily="34" charset="0"/>
                        </a:rPr>
                        <a:t>0.355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4459855"/>
                  </a:ext>
                </a:extLst>
              </a:tr>
              <a:tr h="328420">
                <a:tc>
                  <a:txBody>
                    <a:bodyPr/>
                    <a:lstStyle/>
                    <a:p>
                      <a:pPr algn="ctr" fontAlgn="b"/>
                      <a:r>
                        <a:rPr lang="en-IN" sz="1600" b="1" u="none" strike="noStrike" dirty="0">
                          <a:effectLst/>
                          <a:latin typeface="Athelas" panose="02000503000000020003"/>
                        </a:rPr>
                        <a:t>N1</a:t>
                      </a:r>
                      <a:endParaRPr lang="en-IN" sz="16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i="0" u="none" strike="noStrike" dirty="0">
                          <a:solidFill>
                            <a:srgbClr val="000000"/>
                          </a:solidFill>
                          <a:effectLst/>
                          <a:latin typeface="Athelas" panose="02000503000000020003"/>
                        </a:rPr>
                        <a:t>6</a:t>
                      </a:r>
                      <a:endParaRPr lang="en-IN" sz="16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1761025"/>
                  </a:ext>
                </a:extLst>
              </a:tr>
              <a:tr h="328420">
                <a:tc>
                  <a:txBody>
                    <a:bodyPr/>
                    <a:lstStyle/>
                    <a:p>
                      <a:pPr algn="ctr" fontAlgn="b"/>
                      <a:r>
                        <a:rPr lang="en-IN" sz="1600" b="1" u="none" strike="noStrike" dirty="0">
                          <a:effectLst/>
                          <a:latin typeface="Athelas" panose="02000503000000020003"/>
                        </a:rPr>
                        <a:t>N2</a:t>
                      </a:r>
                      <a:endParaRPr lang="en-IN" sz="16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i="0" u="none" strike="noStrike" dirty="0">
                          <a:solidFill>
                            <a:srgbClr val="000000"/>
                          </a:solidFill>
                          <a:effectLst/>
                          <a:latin typeface="Athelas" panose="02000503000000020003"/>
                        </a:rPr>
                        <a:t>6</a:t>
                      </a:r>
                      <a:endParaRPr lang="en-IN" sz="16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9677044"/>
                  </a:ext>
                </a:extLst>
              </a:tr>
              <a:tr h="328420">
                <a:tc>
                  <a:txBody>
                    <a:bodyPr/>
                    <a:lstStyle/>
                    <a:p>
                      <a:pPr algn="ctr" fontAlgn="b"/>
                      <a:r>
                        <a:rPr lang="en-IN" sz="1600" b="1" u="none" strike="noStrike">
                          <a:effectLst/>
                          <a:latin typeface="Athelas" panose="02000503000000020003"/>
                        </a:rPr>
                        <a:t>Sx</a:t>
                      </a:r>
                      <a:endParaRPr lang="en-IN" sz="1600" b="1" i="0" u="none" strike="noStrike">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i="0" u="none" strike="noStrike" dirty="0">
                          <a:solidFill>
                            <a:srgbClr val="000000"/>
                          </a:solidFill>
                          <a:effectLst/>
                          <a:latin typeface="Athelas" panose="02000503000000020003"/>
                        </a:rPr>
                        <a:t>5</a:t>
                      </a:r>
                      <a:r>
                        <a:rPr lang="en-IN" sz="1600" b="1" i="0" u="none" strike="noStrike" dirty="0">
                          <a:solidFill>
                            <a:srgbClr val="000000"/>
                          </a:solidFill>
                          <a:effectLst/>
                          <a:latin typeface="Athelas" panose="02000503000000020003"/>
                        </a:rPr>
                        <a:t>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5752166"/>
                  </a:ext>
                </a:extLst>
              </a:tr>
              <a:tr h="344841">
                <a:tc>
                  <a:txBody>
                    <a:bodyPr/>
                    <a:lstStyle/>
                    <a:p>
                      <a:pPr algn="ctr" fontAlgn="b"/>
                      <a:r>
                        <a:rPr lang="en-IN" sz="1600" b="1" u="none" strike="noStrike" dirty="0">
                          <a:effectLst/>
                          <a:latin typeface="Athelas" panose="02000503000000020003"/>
                        </a:rPr>
                        <a:t>U</a:t>
                      </a:r>
                      <a:endParaRPr lang="en-IN" sz="16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i="0" u="none" strike="noStrike" dirty="0">
                          <a:solidFill>
                            <a:srgbClr val="000000"/>
                          </a:solidFill>
                          <a:effectLst/>
                          <a:latin typeface="Athelas" panose="02000503000000020003"/>
                        </a:rPr>
                        <a:t>3</a:t>
                      </a:r>
                      <a:r>
                        <a:rPr lang="en-IN" sz="1600" b="1" i="0" u="none" strike="noStrike" dirty="0">
                          <a:solidFill>
                            <a:srgbClr val="000000"/>
                          </a:solidFill>
                          <a:effectLst/>
                          <a:latin typeface="Athelas" panose="02000503000000020003"/>
                        </a:rPr>
                        <a:t>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9417477"/>
                  </a:ext>
                </a:extLst>
              </a:tr>
              <a:tr h="344841">
                <a:tc>
                  <a:txBody>
                    <a:bodyPr/>
                    <a:lstStyle/>
                    <a:p>
                      <a:pPr algn="ctr" fontAlgn="b"/>
                      <a:r>
                        <a:rPr lang="en-US" sz="1600" b="1" i="0" u="none" strike="noStrike" dirty="0">
                          <a:solidFill>
                            <a:srgbClr val="000000"/>
                          </a:solidFill>
                          <a:effectLst/>
                          <a:latin typeface="Athelas" panose="02000503000000020003"/>
                        </a:rPr>
                        <a:t>W</a:t>
                      </a:r>
                      <a:r>
                        <a:rPr lang="en-US" sz="1600" b="1" i="0" u="none" strike="noStrike" baseline="-25000" dirty="0">
                          <a:solidFill>
                            <a:srgbClr val="000000"/>
                          </a:solidFill>
                          <a:effectLst/>
                          <a:latin typeface="Athelas" panose="02000503000000020003"/>
                        </a:rPr>
                        <a:t>1-</a:t>
                      </a:r>
                      <a:r>
                        <a:rPr lang="el-GR" sz="1600" b="1" i="0" u="none" strike="noStrike" baseline="-25000" dirty="0">
                          <a:solidFill>
                            <a:srgbClr val="000000"/>
                          </a:solidFill>
                          <a:effectLst/>
                          <a:latin typeface="Calibri" panose="020F0502020204030204" pitchFamily="34" charset="0"/>
                        </a:rPr>
                        <a:t>α</a:t>
                      </a:r>
                      <a:r>
                        <a:rPr lang="en-US" sz="1600" b="1" i="0" u="none" strike="noStrike" baseline="-25000" dirty="0">
                          <a:solidFill>
                            <a:srgbClr val="000000"/>
                          </a:solidFill>
                          <a:effectLst/>
                          <a:latin typeface="Athelas" panose="02000503000000020003"/>
                        </a:rPr>
                        <a:t>,</a:t>
                      </a:r>
                      <a:endParaRPr lang="en-IN" sz="1600" b="1" i="0" u="none" strike="noStrike" dirty="0">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i="0" u="none" strike="noStrike" dirty="0">
                          <a:solidFill>
                            <a:srgbClr val="000000"/>
                          </a:solidFill>
                          <a:effectLst/>
                          <a:latin typeface="Athelas" panose="02000503000000020003"/>
                        </a:rPr>
                        <a:t>28</a:t>
                      </a:r>
                      <a:endParaRPr lang="en-IN" sz="16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5424178"/>
                  </a:ext>
                </a:extLst>
              </a:tr>
            </a:tbl>
          </a:graphicData>
        </a:graphic>
      </p:graphicFrame>
      <p:sp>
        <p:nvSpPr>
          <p:cNvPr id="8" name="TextBox 7">
            <a:extLst>
              <a:ext uri="{FF2B5EF4-FFF2-40B4-BE49-F238E27FC236}">
                <a16:creationId xmlns:a16="http://schemas.microsoft.com/office/drawing/2014/main" id="{BE4D115E-9357-D563-47AB-03AEA106FF75}"/>
              </a:ext>
            </a:extLst>
          </p:cNvPr>
          <p:cNvSpPr txBox="1"/>
          <p:nvPr/>
        </p:nvSpPr>
        <p:spPr>
          <a:xfrm>
            <a:off x="6096000" y="2213643"/>
            <a:ext cx="5050302" cy="4647426"/>
          </a:xfrm>
          <a:prstGeom prst="rect">
            <a:avLst/>
          </a:prstGeom>
          <a:noFill/>
        </p:spPr>
        <p:txBody>
          <a:bodyPr wrap="square" rtlCol="0">
            <a:spAutoFit/>
          </a:bodyPr>
          <a:lstStyle/>
          <a:p>
            <a:r>
              <a:rPr lang="en-US" sz="1600" dirty="0">
                <a:latin typeface="Athelas" panose="02000503000000020003"/>
              </a:rPr>
              <a:t>Since,</a:t>
            </a:r>
          </a:p>
          <a:p>
            <a:r>
              <a:rPr lang="en-US" sz="1600" dirty="0">
                <a:latin typeface="Athelas" panose="02000503000000020003"/>
              </a:rPr>
              <a:t>U &gt; W</a:t>
            </a:r>
            <a:r>
              <a:rPr lang="en-US" sz="1600" baseline="-25000" dirty="0">
                <a:latin typeface="Athelas" panose="02000503000000020003"/>
              </a:rPr>
              <a:t>1-</a:t>
            </a:r>
            <a:r>
              <a:rPr lang="el-GR" sz="1600" baseline="-25000" dirty="0"/>
              <a:t>α</a:t>
            </a:r>
            <a:r>
              <a:rPr lang="en-US" sz="1600" dirty="0">
                <a:latin typeface="Athelas" panose="02000503000000020003"/>
              </a:rPr>
              <a:t> </a:t>
            </a:r>
          </a:p>
          <a:p>
            <a:r>
              <a:rPr lang="en-US" sz="1600" dirty="0">
                <a:latin typeface="Athelas" panose="02000503000000020003"/>
              </a:rPr>
              <a:t>Therefore, we reject null hypothesis</a:t>
            </a:r>
          </a:p>
          <a:p>
            <a:endParaRPr lang="en-US" sz="1600" dirty="0">
              <a:latin typeface="Athelas" panose="02000503000000020003"/>
            </a:endParaRPr>
          </a:p>
          <a:p>
            <a:r>
              <a:rPr lang="en-US" sz="1600" dirty="0">
                <a:latin typeface="Athelas" panose="02000503000000020003"/>
              </a:rPr>
              <a:t>Conclusion: Under H</a:t>
            </a:r>
            <a:r>
              <a:rPr lang="en-US" sz="1600" baseline="-25000" dirty="0">
                <a:latin typeface="Athelas" panose="02000503000000020003"/>
              </a:rPr>
              <a:t>0</a:t>
            </a:r>
            <a:r>
              <a:rPr lang="en-US" sz="1600" dirty="0">
                <a:latin typeface="Athelas" panose="02000503000000020003"/>
              </a:rPr>
              <a:t> we expect larger number of </a:t>
            </a:r>
            <a:r>
              <a:rPr lang="en-US" sz="1600" dirty="0" err="1">
                <a:latin typeface="Athelas" panose="02000503000000020003"/>
              </a:rPr>
              <a:t>Yj’s</a:t>
            </a:r>
            <a:r>
              <a:rPr lang="en-US" sz="1600" dirty="0">
                <a:latin typeface="Athelas" panose="02000503000000020003"/>
              </a:rPr>
              <a:t> which are less than Xi’s. </a:t>
            </a:r>
            <a:r>
              <a:rPr lang="en-US" b="0" i="0" dirty="0">
                <a:solidFill>
                  <a:srgbClr val="0D0D0D"/>
                </a:solidFill>
                <a:effectLst/>
                <a:latin typeface="Athelas" panose="02000503000000020003"/>
              </a:rPr>
              <a:t>This implies that there is a statistically significant difference in the Interest Coverage Ratio (ICR) between private sector bank (AXIS) and public sector bank (SBI).</a:t>
            </a:r>
          </a:p>
          <a:p>
            <a:endParaRPr lang="en-US" dirty="0">
              <a:solidFill>
                <a:srgbClr val="0D0D0D"/>
              </a:solidFill>
              <a:latin typeface="Athelas" panose="02000503000000020003"/>
            </a:endParaRPr>
          </a:p>
          <a:p>
            <a:r>
              <a:rPr lang="en-US" b="0" i="0" dirty="0">
                <a:solidFill>
                  <a:srgbClr val="0D0D0D"/>
                </a:solidFill>
                <a:effectLst/>
                <a:latin typeface="Söhne"/>
              </a:rPr>
              <a:t>Further analysis suggests that AXIS which is the worst private sector bank for ICR, consistently demonstrates higher ICR values compared to SBI which is the best public sector bank for ICR across the years 2018 to 2023. </a:t>
            </a:r>
          </a:p>
          <a:p>
            <a:endParaRPr lang="en-US" dirty="0">
              <a:solidFill>
                <a:srgbClr val="0D0D0D"/>
              </a:solidFill>
              <a:latin typeface="Söhne"/>
            </a:endParaRPr>
          </a:p>
          <a:p>
            <a:r>
              <a:rPr lang="en-US" b="0" i="0" dirty="0">
                <a:solidFill>
                  <a:srgbClr val="0D0D0D"/>
                </a:solidFill>
                <a:effectLst/>
                <a:latin typeface="Söhne"/>
              </a:rPr>
              <a:t>This indicates that AXIS bank which has the lowest values of ICR ,a private sector bank, has a better ability to cover its interest expenses compared to SBI which has the highest values of ICR, a public sector bank, during the time period 2018-2023.</a:t>
            </a:r>
            <a:endParaRPr lang="en-US" b="0" i="0" dirty="0">
              <a:solidFill>
                <a:srgbClr val="0D0D0D"/>
              </a:solidFill>
              <a:effectLst/>
              <a:latin typeface="Athelas" panose="02000503000000020003"/>
            </a:endParaRPr>
          </a:p>
          <a:p>
            <a:endParaRPr lang="en-US" sz="1600" dirty="0">
              <a:solidFill>
                <a:srgbClr val="0D0D0D"/>
              </a:solidFill>
              <a:latin typeface="Athelas" panose="02000503000000020003"/>
            </a:endParaRPr>
          </a:p>
          <a:p>
            <a:endParaRPr lang="en-US" sz="1600" dirty="0">
              <a:latin typeface="Athelas" panose="02000503000000020003"/>
            </a:endParaRPr>
          </a:p>
        </p:txBody>
      </p:sp>
    </p:spTree>
    <p:extLst>
      <p:ext uri="{BB962C8B-B14F-4D97-AF65-F5344CB8AC3E}">
        <p14:creationId xmlns:p14="http://schemas.microsoft.com/office/powerpoint/2010/main" val="1942515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DA4118-E2EF-F031-CD61-C1029BC61C4D}"/>
              </a:ext>
            </a:extLst>
          </p:cNvPr>
          <p:cNvSpPr txBox="1"/>
          <p:nvPr/>
        </p:nvSpPr>
        <p:spPr>
          <a:xfrm>
            <a:off x="712694" y="1506071"/>
            <a:ext cx="6172200" cy="1015663"/>
          </a:xfrm>
          <a:prstGeom prst="rect">
            <a:avLst/>
          </a:prstGeom>
          <a:noFill/>
        </p:spPr>
        <p:txBody>
          <a:bodyPr wrap="square" rtlCol="0">
            <a:spAutoFit/>
          </a:bodyPr>
          <a:lstStyle/>
          <a:p>
            <a:r>
              <a:rPr lang="en-US" sz="2000" b="1" dirty="0">
                <a:latin typeface="Athelas" panose="02000503000000020003" pitchFamily="2" charset="77"/>
              </a:rPr>
              <a:t>Test for CAR (Capital Adequacy Ratio):</a:t>
            </a:r>
          </a:p>
          <a:p>
            <a:r>
              <a:rPr lang="en-US" sz="2000" b="1" dirty="0">
                <a:latin typeface="Athelas" panose="02000503000000020003" pitchFamily="2" charset="77"/>
              </a:rPr>
              <a:t>(Mann-Whitney U-Test)</a:t>
            </a:r>
          </a:p>
          <a:p>
            <a:r>
              <a:rPr lang="en-US" sz="2000" b="1" dirty="0">
                <a:latin typeface="Athelas" panose="02000503000000020003" pitchFamily="2" charset="77"/>
              </a:rPr>
              <a:t>Private vs Public </a:t>
            </a:r>
            <a:endParaRPr lang="en-US" sz="2000" dirty="0"/>
          </a:p>
        </p:txBody>
      </p:sp>
      <p:sp>
        <p:nvSpPr>
          <p:cNvPr id="3" name="TextBox 2">
            <a:extLst>
              <a:ext uri="{FF2B5EF4-FFF2-40B4-BE49-F238E27FC236}">
                <a16:creationId xmlns:a16="http://schemas.microsoft.com/office/drawing/2014/main" id="{157EF717-4B73-EA8D-EEE7-13E50DD63C87}"/>
              </a:ext>
            </a:extLst>
          </p:cNvPr>
          <p:cNvSpPr txBox="1"/>
          <p:nvPr/>
        </p:nvSpPr>
        <p:spPr>
          <a:xfrm>
            <a:off x="689317" y="2447778"/>
            <a:ext cx="3784209" cy="1323439"/>
          </a:xfrm>
          <a:prstGeom prst="rect">
            <a:avLst/>
          </a:prstGeom>
          <a:noFill/>
        </p:spPr>
        <p:txBody>
          <a:bodyPr wrap="square" rtlCol="0">
            <a:spAutoFit/>
          </a:bodyPr>
          <a:lstStyle/>
          <a:p>
            <a:r>
              <a:rPr lang="en-US" sz="1600" dirty="0">
                <a:latin typeface="Athelas" panose="02000503000000020003"/>
              </a:rPr>
              <a:t>H</a:t>
            </a:r>
            <a:r>
              <a:rPr lang="en-US" sz="1600" baseline="-25000" dirty="0">
                <a:latin typeface="Athelas" panose="02000503000000020003"/>
              </a:rPr>
              <a:t>0</a:t>
            </a:r>
            <a:r>
              <a:rPr lang="en-US" sz="1600" dirty="0">
                <a:latin typeface="Athelas" panose="02000503000000020003"/>
              </a:rPr>
              <a:t> : F(X) = G(Y)</a:t>
            </a:r>
          </a:p>
          <a:p>
            <a:r>
              <a:rPr lang="en-US" sz="1600" dirty="0">
                <a:latin typeface="Athelas" panose="02000503000000020003"/>
              </a:rPr>
              <a:t>H</a:t>
            </a:r>
            <a:r>
              <a:rPr lang="en-US" sz="1600" baseline="-25000" dirty="0">
                <a:latin typeface="Athelas" panose="02000503000000020003"/>
              </a:rPr>
              <a:t>1</a:t>
            </a:r>
            <a:r>
              <a:rPr lang="en-US" sz="1600" dirty="0">
                <a:latin typeface="Athelas" panose="02000503000000020003"/>
              </a:rPr>
              <a:t> : F(X) &lt; G(Y) i.e. Mx &gt; My</a:t>
            </a:r>
          </a:p>
          <a:p>
            <a:r>
              <a:rPr lang="en-US" sz="1600" dirty="0">
                <a:latin typeface="Athelas" panose="02000503000000020003"/>
              </a:rPr>
              <a:t>X :  Private Sector sample</a:t>
            </a:r>
          </a:p>
          <a:p>
            <a:r>
              <a:rPr lang="en-US" sz="1600" dirty="0">
                <a:latin typeface="Athelas" panose="02000503000000020003"/>
              </a:rPr>
              <a:t>Y :  Public Sector sample</a:t>
            </a:r>
          </a:p>
          <a:p>
            <a:r>
              <a:rPr lang="en-US" sz="1600" dirty="0">
                <a:latin typeface="Athelas" panose="02000503000000020003"/>
              </a:rPr>
              <a:t>Level of Significance = 0.05</a:t>
            </a:r>
            <a:endParaRPr lang="en-IN" sz="1600" dirty="0">
              <a:latin typeface="Athelas" panose="02000503000000020003"/>
            </a:endParaRPr>
          </a:p>
        </p:txBody>
      </p:sp>
      <p:graphicFrame>
        <p:nvGraphicFramePr>
          <p:cNvPr id="4" name="Table 3">
            <a:extLst>
              <a:ext uri="{FF2B5EF4-FFF2-40B4-BE49-F238E27FC236}">
                <a16:creationId xmlns:a16="http://schemas.microsoft.com/office/drawing/2014/main" id="{3152E00B-264A-2381-9A5D-711B1727000E}"/>
              </a:ext>
            </a:extLst>
          </p:cNvPr>
          <p:cNvGraphicFramePr>
            <a:graphicFrameLocks noGrp="1"/>
          </p:cNvGraphicFramePr>
          <p:nvPr>
            <p:extLst>
              <p:ext uri="{D42A27DB-BD31-4B8C-83A1-F6EECF244321}">
                <p14:modId xmlns:p14="http://schemas.microsoft.com/office/powerpoint/2010/main" val="2910870661"/>
              </p:ext>
            </p:extLst>
          </p:nvPr>
        </p:nvGraphicFramePr>
        <p:xfrm>
          <a:off x="727278" y="3851150"/>
          <a:ext cx="3071516" cy="2331782"/>
        </p:xfrm>
        <a:graphic>
          <a:graphicData uri="http://schemas.openxmlformats.org/drawingml/2006/table">
            <a:tbl>
              <a:tblPr>
                <a:tableStyleId>{E83C75A5-541F-4068-BE22-2AE3A88C29BB}</a:tableStyleId>
              </a:tblPr>
              <a:tblGrid>
                <a:gridCol w="1535758">
                  <a:extLst>
                    <a:ext uri="{9D8B030D-6E8A-4147-A177-3AD203B41FA5}">
                      <a16:colId xmlns:a16="http://schemas.microsoft.com/office/drawing/2014/main" val="223936722"/>
                    </a:ext>
                  </a:extLst>
                </a:gridCol>
                <a:gridCol w="1535758">
                  <a:extLst>
                    <a:ext uri="{9D8B030D-6E8A-4147-A177-3AD203B41FA5}">
                      <a16:colId xmlns:a16="http://schemas.microsoft.com/office/drawing/2014/main" val="2279545708"/>
                    </a:ext>
                  </a:extLst>
                </a:gridCol>
              </a:tblGrid>
              <a:tr h="328420">
                <a:tc>
                  <a:txBody>
                    <a:bodyPr/>
                    <a:lstStyle/>
                    <a:p>
                      <a:pPr algn="ctr" fontAlgn="b"/>
                      <a:r>
                        <a:rPr lang="en-IN" sz="1600" b="1" u="none" strike="noStrike" dirty="0">
                          <a:effectLst/>
                          <a:latin typeface="Athelas" panose="02000503000000020003"/>
                        </a:rPr>
                        <a:t>Mx</a:t>
                      </a:r>
                      <a:endParaRPr lang="en-IN" sz="16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N" sz="1400" b="1" i="0" u="none" strike="noStrike" dirty="0">
                          <a:solidFill>
                            <a:srgbClr val="000000"/>
                          </a:solidFill>
                          <a:effectLst/>
                          <a:latin typeface="Athelas" panose="02000503000000020003"/>
                        </a:rPr>
                        <a:t>18.34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9326722"/>
                  </a:ext>
                </a:extLst>
              </a:tr>
              <a:tr h="328420">
                <a:tc>
                  <a:txBody>
                    <a:bodyPr/>
                    <a:lstStyle/>
                    <a:p>
                      <a:pPr algn="ctr" fontAlgn="b"/>
                      <a:r>
                        <a:rPr lang="en-IN" sz="1600" b="1" u="none" strike="noStrike" dirty="0">
                          <a:effectLst/>
                          <a:latin typeface="Athelas" panose="02000503000000020003"/>
                        </a:rPr>
                        <a:t>My</a:t>
                      </a:r>
                      <a:endParaRPr lang="en-IN" sz="16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Athelas" panose="02000503000000020003"/>
                        </a:rPr>
                        <a:t>15.92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4459855"/>
                  </a:ext>
                </a:extLst>
              </a:tr>
              <a:tr h="328420">
                <a:tc>
                  <a:txBody>
                    <a:bodyPr/>
                    <a:lstStyle/>
                    <a:p>
                      <a:pPr algn="ctr" fontAlgn="b"/>
                      <a:r>
                        <a:rPr lang="en-IN" sz="1600" b="1" u="none" strike="noStrike" dirty="0">
                          <a:effectLst/>
                          <a:latin typeface="Athelas" panose="02000503000000020003"/>
                        </a:rPr>
                        <a:t>N1</a:t>
                      </a:r>
                      <a:endParaRPr lang="en-IN" sz="16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Athelas" panose="02000503000000020003"/>
                        </a:rPr>
                        <a:t>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1761025"/>
                  </a:ext>
                </a:extLst>
              </a:tr>
              <a:tr h="328420">
                <a:tc>
                  <a:txBody>
                    <a:bodyPr/>
                    <a:lstStyle/>
                    <a:p>
                      <a:pPr algn="ctr" fontAlgn="b"/>
                      <a:r>
                        <a:rPr lang="en-IN" sz="1600" b="1" u="none" strike="noStrike" dirty="0">
                          <a:effectLst/>
                          <a:latin typeface="Athelas" panose="02000503000000020003"/>
                        </a:rPr>
                        <a:t>N2</a:t>
                      </a:r>
                      <a:endParaRPr lang="en-IN" sz="16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Athelas" panose="02000503000000020003"/>
                        </a:rPr>
                        <a:t>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9677044"/>
                  </a:ext>
                </a:extLst>
              </a:tr>
              <a:tr h="328420">
                <a:tc>
                  <a:txBody>
                    <a:bodyPr/>
                    <a:lstStyle/>
                    <a:p>
                      <a:pPr algn="ctr" fontAlgn="b"/>
                      <a:r>
                        <a:rPr lang="en-IN" sz="1600" b="1" u="none" strike="noStrike">
                          <a:effectLst/>
                          <a:latin typeface="Athelas" panose="02000503000000020003"/>
                        </a:rPr>
                        <a:t>Sx</a:t>
                      </a:r>
                      <a:endParaRPr lang="en-IN" sz="1600" b="1" i="0" u="none" strike="noStrike">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Athelas" panose="02000503000000020003"/>
                        </a:rPr>
                        <a:t>40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5752166"/>
                  </a:ext>
                </a:extLst>
              </a:tr>
              <a:tr h="344841">
                <a:tc>
                  <a:txBody>
                    <a:bodyPr/>
                    <a:lstStyle/>
                    <a:p>
                      <a:pPr algn="ctr" fontAlgn="b"/>
                      <a:r>
                        <a:rPr lang="en-IN" sz="1600" b="1" u="none" strike="noStrike" dirty="0">
                          <a:effectLst/>
                          <a:latin typeface="Athelas" panose="02000503000000020003"/>
                        </a:rPr>
                        <a:t>U</a:t>
                      </a:r>
                      <a:endParaRPr lang="en-IN" sz="16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Athelas" panose="02000503000000020003"/>
                        </a:rPr>
                        <a:t>25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9417477"/>
                  </a:ext>
                </a:extLst>
              </a:tr>
              <a:tr h="344841">
                <a:tc>
                  <a:txBody>
                    <a:bodyPr/>
                    <a:lstStyle/>
                    <a:p>
                      <a:pPr algn="ctr" fontAlgn="b"/>
                      <a:r>
                        <a:rPr lang="en-US" sz="1600" b="1" i="0" u="none" strike="noStrike" dirty="0">
                          <a:solidFill>
                            <a:srgbClr val="000000"/>
                          </a:solidFill>
                          <a:effectLst/>
                          <a:latin typeface="Athelas" panose="02000503000000020003"/>
                        </a:rPr>
                        <a:t>W</a:t>
                      </a:r>
                      <a:r>
                        <a:rPr lang="en-US" sz="1600" b="1" i="0" u="none" strike="noStrike" baseline="-25000" dirty="0">
                          <a:solidFill>
                            <a:srgbClr val="000000"/>
                          </a:solidFill>
                          <a:effectLst/>
                          <a:latin typeface="Athelas" panose="02000503000000020003"/>
                        </a:rPr>
                        <a:t>1-</a:t>
                      </a:r>
                      <a:r>
                        <a:rPr lang="el-GR" sz="1600" b="1" i="0" u="none" strike="noStrike" baseline="-25000" dirty="0">
                          <a:solidFill>
                            <a:srgbClr val="000000"/>
                          </a:solidFill>
                          <a:effectLst/>
                          <a:latin typeface="Calibri" panose="020F0502020204030204" pitchFamily="34" charset="0"/>
                        </a:rPr>
                        <a:t>α</a:t>
                      </a:r>
                      <a:r>
                        <a:rPr lang="en-US" sz="1600" b="1" i="0" u="none" strike="noStrike" baseline="-25000" dirty="0">
                          <a:solidFill>
                            <a:srgbClr val="000000"/>
                          </a:solidFill>
                          <a:effectLst/>
                          <a:latin typeface="Athelas" panose="02000503000000020003"/>
                        </a:rPr>
                        <a:t>,</a:t>
                      </a:r>
                      <a:endParaRPr lang="en-IN" sz="1600" b="1" i="0" u="none" strike="noStrike" dirty="0">
                        <a:solidFill>
                          <a:srgbClr val="000000"/>
                        </a:solidFill>
                        <a:effectLst/>
                        <a:latin typeface="Athelas" panose="02000503000000020003"/>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Athelas" panose="02000503000000020003"/>
                        </a:rPr>
                        <a:t>20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5424178"/>
                  </a:ext>
                </a:extLst>
              </a:tr>
            </a:tbl>
          </a:graphicData>
        </a:graphic>
      </p:graphicFrame>
      <p:sp>
        <p:nvSpPr>
          <p:cNvPr id="5" name="TextBox 4">
            <a:extLst>
              <a:ext uri="{FF2B5EF4-FFF2-40B4-BE49-F238E27FC236}">
                <a16:creationId xmlns:a16="http://schemas.microsoft.com/office/drawing/2014/main" id="{3B1ED7C7-077C-E1B3-4C31-5D5460C50544}"/>
              </a:ext>
            </a:extLst>
          </p:cNvPr>
          <p:cNvSpPr txBox="1"/>
          <p:nvPr/>
        </p:nvSpPr>
        <p:spPr>
          <a:xfrm>
            <a:off x="6096000" y="2620043"/>
            <a:ext cx="5050302" cy="3385542"/>
          </a:xfrm>
          <a:prstGeom prst="rect">
            <a:avLst/>
          </a:prstGeom>
          <a:noFill/>
        </p:spPr>
        <p:txBody>
          <a:bodyPr wrap="square" rtlCol="0">
            <a:spAutoFit/>
          </a:bodyPr>
          <a:lstStyle/>
          <a:p>
            <a:r>
              <a:rPr lang="en-US" sz="1600" dirty="0">
                <a:latin typeface="Athelas" panose="02000503000000020003"/>
              </a:rPr>
              <a:t>Since,</a:t>
            </a:r>
          </a:p>
          <a:p>
            <a:r>
              <a:rPr lang="en-US" sz="1600" dirty="0">
                <a:latin typeface="Athelas" panose="02000503000000020003"/>
              </a:rPr>
              <a:t>U &gt; W</a:t>
            </a:r>
            <a:r>
              <a:rPr lang="en-US" sz="1600" baseline="-25000" dirty="0">
                <a:latin typeface="Athelas" panose="02000503000000020003"/>
              </a:rPr>
              <a:t>1-</a:t>
            </a:r>
            <a:r>
              <a:rPr lang="el-GR" sz="1600" baseline="-25000" dirty="0"/>
              <a:t>α</a:t>
            </a:r>
            <a:r>
              <a:rPr lang="en-US" sz="1600" dirty="0">
                <a:latin typeface="Athelas" panose="02000503000000020003"/>
              </a:rPr>
              <a:t> </a:t>
            </a:r>
          </a:p>
          <a:p>
            <a:r>
              <a:rPr lang="en-US" sz="1600" dirty="0">
                <a:latin typeface="Athelas" panose="02000503000000020003"/>
              </a:rPr>
              <a:t>Therefore we reject null hypothesis</a:t>
            </a:r>
          </a:p>
          <a:p>
            <a:endParaRPr lang="en-US" sz="1600" dirty="0">
              <a:latin typeface="Athelas" panose="02000503000000020003"/>
            </a:endParaRPr>
          </a:p>
          <a:p>
            <a:r>
              <a:rPr lang="en-US" sz="1600" dirty="0">
                <a:latin typeface="Athelas" panose="02000503000000020003"/>
              </a:rPr>
              <a:t>Conclusion: Under H</a:t>
            </a:r>
            <a:r>
              <a:rPr lang="en-US" sz="1600" baseline="-25000" dirty="0">
                <a:latin typeface="Athelas" panose="02000503000000020003"/>
              </a:rPr>
              <a:t>0</a:t>
            </a:r>
            <a:r>
              <a:rPr lang="en-US" sz="1600" dirty="0">
                <a:latin typeface="Athelas" panose="02000503000000020003"/>
              </a:rPr>
              <a:t> we expect larger number of </a:t>
            </a:r>
            <a:r>
              <a:rPr lang="en-US" sz="1600" dirty="0" err="1">
                <a:latin typeface="Athelas" panose="02000503000000020003"/>
              </a:rPr>
              <a:t>Yj’s</a:t>
            </a:r>
            <a:r>
              <a:rPr lang="en-US" sz="1600" dirty="0">
                <a:latin typeface="Athelas" panose="02000503000000020003"/>
              </a:rPr>
              <a:t> which are less than Xi’s. Therefore, Private sector CAR is larger than the CAR of Public Sector banks. </a:t>
            </a:r>
          </a:p>
          <a:p>
            <a:endParaRPr lang="en-US" sz="1600" dirty="0">
              <a:latin typeface="Athelas" panose="02000503000000020003"/>
            </a:endParaRPr>
          </a:p>
          <a:p>
            <a:r>
              <a:rPr lang="en-US" b="0" i="0" dirty="0">
                <a:solidFill>
                  <a:srgbClr val="0D0D0D"/>
                </a:solidFill>
                <a:effectLst/>
                <a:latin typeface="Athelas" panose="02000503000000020003"/>
              </a:rPr>
              <a:t>This suggests that private sector banks generally maintain a stronger capital adequacy position compared to their public sector counterparts. A higher CAR indicates that a bank has a greater buffer to absorb potential losses and risks, thereby enhancing its stability and resilience to adverse economic conditions.</a:t>
            </a:r>
            <a:endParaRPr lang="en-US" dirty="0">
              <a:latin typeface="Athelas" panose="02000503000000020003"/>
            </a:endParaRPr>
          </a:p>
          <a:p>
            <a:endParaRPr lang="en-IN" sz="1600" dirty="0">
              <a:latin typeface="Athelas" panose="02000503000000020003"/>
            </a:endParaRPr>
          </a:p>
        </p:txBody>
      </p:sp>
    </p:spTree>
    <p:extLst>
      <p:ext uri="{BB962C8B-B14F-4D97-AF65-F5344CB8AC3E}">
        <p14:creationId xmlns:p14="http://schemas.microsoft.com/office/powerpoint/2010/main" val="28978784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02D474-4200-4CC3-D47A-A13203D97F73}"/>
              </a:ext>
            </a:extLst>
          </p:cNvPr>
          <p:cNvSpPr txBox="1"/>
          <p:nvPr/>
        </p:nvSpPr>
        <p:spPr>
          <a:xfrm>
            <a:off x="712694" y="1506071"/>
            <a:ext cx="6172200" cy="1015663"/>
          </a:xfrm>
          <a:prstGeom prst="rect">
            <a:avLst/>
          </a:prstGeom>
          <a:noFill/>
        </p:spPr>
        <p:txBody>
          <a:bodyPr wrap="square" rtlCol="0">
            <a:spAutoFit/>
          </a:bodyPr>
          <a:lstStyle/>
          <a:p>
            <a:r>
              <a:rPr lang="en-US" sz="2000" b="1" dirty="0">
                <a:latin typeface="Athelas" panose="02000503000000020003" pitchFamily="2" charset="77"/>
              </a:rPr>
              <a:t>Test for LTD (Loan to Deposit Ratio):</a:t>
            </a:r>
          </a:p>
          <a:p>
            <a:r>
              <a:rPr lang="en-US" sz="2000" b="1" dirty="0">
                <a:latin typeface="Athelas" panose="02000503000000020003" pitchFamily="2" charset="77"/>
              </a:rPr>
              <a:t>(Paired Sample sign test)</a:t>
            </a:r>
          </a:p>
          <a:p>
            <a:r>
              <a:rPr lang="en-US" sz="2000" b="1" dirty="0">
                <a:latin typeface="Athelas" panose="02000503000000020003" pitchFamily="2" charset="77"/>
              </a:rPr>
              <a:t>Private Bank (2022-2023)</a:t>
            </a:r>
            <a:endParaRPr lang="en-US" sz="2000" dirty="0"/>
          </a:p>
        </p:txBody>
      </p:sp>
      <p:sp>
        <p:nvSpPr>
          <p:cNvPr id="4" name="TextBox 3">
            <a:extLst>
              <a:ext uri="{FF2B5EF4-FFF2-40B4-BE49-F238E27FC236}">
                <a16:creationId xmlns:a16="http://schemas.microsoft.com/office/drawing/2014/main" id="{503CFAE9-4E8B-E375-0E4D-6E188856EDB1}"/>
              </a:ext>
            </a:extLst>
          </p:cNvPr>
          <p:cNvSpPr txBox="1"/>
          <p:nvPr/>
        </p:nvSpPr>
        <p:spPr>
          <a:xfrm>
            <a:off x="689317" y="2447778"/>
            <a:ext cx="3784209" cy="1323439"/>
          </a:xfrm>
          <a:prstGeom prst="rect">
            <a:avLst/>
          </a:prstGeom>
          <a:noFill/>
        </p:spPr>
        <p:txBody>
          <a:bodyPr wrap="square" rtlCol="0">
            <a:spAutoFit/>
          </a:bodyPr>
          <a:lstStyle/>
          <a:p>
            <a:r>
              <a:rPr lang="en-US" sz="1600" dirty="0">
                <a:latin typeface="Athelas" panose="02000503000000020003"/>
              </a:rPr>
              <a:t>H</a:t>
            </a:r>
            <a:r>
              <a:rPr lang="en-US" sz="1600" baseline="-25000" dirty="0">
                <a:latin typeface="Athelas" panose="02000503000000020003"/>
              </a:rPr>
              <a:t>0</a:t>
            </a:r>
            <a:r>
              <a:rPr lang="en-US" sz="1600" dirty="0">
                <a:latin typeface="Athelas" panose="02000503000000020003"/>
              </a:rPr>
              <a:t> : Mx = My</a:t>
            </a:r>
          </a:p>
          <a:p>
            <a:r>
              <a:rPr lang="en-US" sz="1600" dirty="0">
                <a:latin typeface="Athelas" panose="02000503000000020003"/>
              </a:rPr>
              <a:t>H</a:t>
            </a:r>
            <a:r>
              <a:rPr lang="en-US" sz="1600" baseline="-25000" dirty="0">
                <a:latin typeface="Athelas" panose="02000503000000020003"/>
              </a:rPr>
              <a:t>1</a:t>
            </a:r>
            <a:r>
              <a:rPr lang="en-US" sz="1600" dirty="0">
                <a:latin typeface="Athelas" panose="02000503000000020003"/>
              </a:rPr>
              <a:t> : Mx &gt; My</a:t>
            </a:r>
          </a:p>
          <a:p>
            <a:r>
              <a:rPr lang="en-US" sz="1600" dirty="0">
                <a:latin typeface="Athelas" panose="02000503000000020003"/>
              </a:rPr>
              <a:t>X :  Median Private Sector LTD </a:t>
            </a:r>
          </a:p>
          <a:p>
            <a:r>
              <a:rPr lang="en-US" sz="1600" dirty="0">
                <a:latin typeface="Athelas" panose="02000503000000020003"/>
              </a:rPr>
              <a:t>Y :  Median Public Sector Sample</a:t>
            </a:r>
          </a:p>
          <a:p>
            <a:r>
              <a:rPr lang="en-US" sz="1600" dirty="0">
                <a:latin typeface="Athelas" panose="02000503000000020003"/>
              </a:rPr>
              <a:t>Level of Significance = 0.05</a:t>
            </a:r>
            <a:endParaRPr lang="en-IN" sz="1600" dirty="0">
              <a:latin typeface="Athelas" panose="02000503000000020003"/>
            </a:endParaRPr>
          </a:p>
        </p:txBody>
      </p:sp>
      <p:graphicFrame>
        <p:nvGraphicFramePr>
          <p:cNvPr id="5" name="Table 4">
            <a:extLst>
              <a:ext uri="{FF2B5EF4-FFF2-40B4-BE49-F238E27FC236}">
                <a16:creationId xmlns:a16="http://schemas.microsoft.com/office/drawing/2014/main" id="{C3220D13-EB6A-EEF6-371E-F471998E5430}"/>
              </a:ext>
            </a:extLst>
          </p:cNvPr>
          <p:cNvGraphicFramePr>
            <a:graphicFrameLocks noGrp="1"/>
          </p:cNvGraphicFramePr>
          <p:nvPr>
            <p:extLst>
              <p:ext uri="{D42A27DB-BD31-4B8C-83A1-F6EECF244321}">
                <p14:modId xmlns:p14="http://schemas.microsoft.com/office/powerpoint/2010/main" val="2026890630"/>
              </p:ext>
            </p:extLst>
          </p:nvPr>
        </p:nvGraphicFramePr>
        <p:xfrm>
          <a:off x="749300" y="4095750"/>
          <a:ext cx="2514600" cy="1949450"/>
        </p:xfrm>
        <a:graphic>
          <a:graphicData uri="http://schemas.openxmlformats.org/drawingml/2006/table">
            <a:tbl>
              <a:tblPr>
                <a:tableStyleId>{E83C75A5-541F-4068-BE22-2AE3A88C29BB}</a:tableStyleId>
              </a:tblPr>
              <a:tblGrid>
                <a:gridCol w="1238997">
                  <a:extLst>
                    <a:ext uri="{9D8B030D-6E8A-4147-A177-3AD203B41FA5}">
                      <a16:colId xmlns:a16="http://schemas.microsoft.com/office/drawing/2014/main" val="3235672058"/>
                    </a:ext>
                  </a:extLst>
                </a:gridCol>
                <a:gridCol w="1275603">
                  <a:extLst>
                    <a:ext uri="{9D8B030D-6E8A-4147-A177-3AD203B41FA5}">
                      <a16:colId xmlns:a16="http://schemas.microsoft.com/office/drawing/2014/main" val="3173587029"/>
                    </a:ext>
                  </a:extLst>
                </a:gridCol>
              </a:tblGrid>
              <a:tr h="389890">
                <a:tc>
                  <a:txBody>
                    <a:bodyPr/>
                    <a:lstStyle/>
                    <a:p>
                      <a:pPr algn="ctr" fontAlgn="b"/>
                      <a:r>
                        <a:rPr lang="en-IN" sz="1400" b="1" u="none" strike="noStrike" dirty="0">
                          <a:effectLst/>
                          <a:latin typeface="Athelas" panose="02000503000000020003"/>
                        </a:rPr>
                        <a:t>Mx</a:t>
                      </a:r>
                      <a:endParaRPr lang="en-IN" sz="14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u="none" strike="noStrike">
                          <a:effectLst/>
                          <a:latin typeface="Athelas" panose="02000503000000020003"/>
                        </a:rPr>
                        <a:t>75.48</a:t>
                      </a:r>
                      <a:endParaRPr lang="en-IN" sz="1400" b="1" i="0" u="none" strike="noStrike">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6330956"/>
                  </a:ext>
                </a:extLst>
              </a:tr>
              <a:tr h="389890">
                <a:tc>
                  <a:txBody>
                    <a:bodyPr/>
                    <a:lstStyle/>
                    <a:p>
                      <a:pPr algn="ctr" fontAlgn="b"/>
                      <a:r>
                        <a:rPr lang="en-IN" sz="1400" b="1" u="none" strike="noStrike">
                          <a:effectLst/>
                          <a:latin typeface="Athelas" panose="02000503000000020003"/>
                        </a:rPr>
                        <a:t>My</a:t>
                      </a:r>
                      <a:endParaRPr lang="en-IN" sz="1400" b="1" i="0" u="none" strike="noStrike">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u="none" strike="noStrike" dirty="0">
                          <a:effectLst/>
                          <a:latin typeface="Athelas" panose="02000503000000020003"/>
                        </a:rPr>
                        <a:t>82.9</a:t>
                      </a:r>
                      <a:endParaRPr lang="en-IN" sz="14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984230"/>
                  </a:ext>
                </a:extLst>
              </a:tr>
              <a:tr h="389890">
                <a:tc>
                  <a:txBody>
                    <a:bodyPr/>
                    <a:lstStyle/>
                    <a:p>
                      <a:pPr algn="ctr" fontAlgn="b"/>
                      <a:r>
                        <a:rPr lang="en-IN" sz="1400" b="1" u="none" strike="noStrike">
                          <a:effectLst/>
                          <a:latin typeface="Athelas" panose="02000503000000020003"/>
                        </a:rPr>
                        <a:t>T+</a:t>
                      </a:r>
                      <a:endParaRPr lang="en-IN" sz="1400" b="1" i="0" u="none" strike="noStrike">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u="none" strike="noStrike" dirty="0">
                          <a:effectLst/>
                          <a:latin typeface="Athelas" panose="02000503000000020003"/>
                        </a:rPr>
                        <a:t>3</a:t>
                      </a:r>
                      <a:endParaRPr lang="en-IN" sz="14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0914715"/>
                  </a:ext>
                </a:extLst>
              </a:tr>
              <a:tr h="389890">
                <a:tc>
                  <a:txBody>
                    <a:bodyPr/>
                    <a:lstStyle/>
                    <a:p>
                      <a:pPr algn="ctr" fontAlgn="b"/>
                      <a:r>
                        <a:rPr lang="en-IN" sz="1400" b="1" u="none" strike="noStrike">
                          <a:effectLst/>
                          <a:latin typeface="Athelas" panose="02000503000000020003"/>
                        </a:rPr>
                        <a:t>T-</a:t>
                      </a:r>
                      <a:endParaRPr lang="en-IN" sz="1400" b="1" i="0" u="none" strike="noStrike">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u="none" strike="noStrike" dirty="0">
                          <a:effectLst/>
                          <a:latin typeface="Athelas" panose="02000503000000020003"/>
                        </a:rPr>
                        <a:t>2</a:t>
                      </a:r>
                      <a:endParaRPr lang="en-IN" sz="14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7532409"/>
                  </a:ext>
                </a:extLst>
              </a:tr>
              <a:tr h="389890">
                <a:tc>
                  <a:txBody>
                    <a:bodyPr/>
                    <a:lstStyle/>
                    <a:p>
                      <a:pPr algn="ctr" fontAlgn="b"/>
                      <a:r>
                        <a:rPr lang="en-IN" sz="1400" b="1" u="none" strike="noStrike">
                          <a:effectLst/>
                          <a:latin typeface="Athelas" panose="02000503000000020003"/>
                        </a:rPr>
                        <a:t>d1</a:t>
                      </a:r>
                      <a:endParaRPr lang="en-IN" sz="1400" b="1" i="0" u="none" strike="noStrike">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u="none" strike="noStrike" dirty="0">
                          <a:effectLst/>
                          <a:latin typeface="Athelas" panose="02000503000000020003"/>
                        </a:rPr>
                        <a:t>0</a:t>
                      </a:r>
                      <a:endParaRPr lang="en-IN" sz="14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8047873"/>
                  </a:ext>
                </a:extLst>
              </a:tr>
            </a:tbl>
          </a:graphicData>
        </a:graphic>
      </p:graphicFrame>
      <p:sp>
        <p:nvSpPr>
          <p:cNvPr id="6" name="TextBox 5">
            <a:extLst>
              <a:ext uri="{FF2B5EF4-FFF2-40B4-BE49-F238E27FC236}">
                <a16:creationId xmlns:a16="http://schemas.microsoft.com/office/drawing/2014/main" id="{CD72ADAC-0C3D-DBD8-BE90-AB7938E4D275}"/>
              </a:ext>
            </a:extLst>
          </p:cNvPr>
          <p:cNvSpPr txBox="1"/>
          <p:nvPr/>
        </p:nvSpPr>
        <p:spPr>
          <a:xfrm>
            <a:off x="6096000" y="2620043"/>
            <a:ext cx="5050302" cy="3847207"/>
          </a:xfrm>
          <a:prstGeom prst="rect">
            <a:avLst/>
          </a:prstGeom>
          <a:noFill/>
        </p:spPr>
        <p:txBody>
          <a:bodyPr wrap="square" rtlCol="0">
            <a:spAutoFit/>
          </a:bodyPr>
          <a:lstStyle/>
          <a:p>
            <a:r>
              <a:rPr lang="en-US" sz="1600" dirty="0">
                <a:latin typeface="Athelas" panose="02000503000000020003"/>
              </a:rPr>
              <a:t>Since,</a:t>
            </a:r>
          </a:p>
          <a:p>
            <a:r>
              <a:rPr lang="en-US" sz="1600" dirty="0">
                <a:latin typeface="Athelas" panose="02000503000000020003"/>
              </a:rPr>
              <a:t>T</a:t>
            </a:r>
            <a:r>
              <a:rPr lang="en-US" sz="1600" baseline="30000" dirty="0">
                <a:latin typeface="Athelas" panose="02000503000000020003"/>
              </a:rPr>
              <a:t>-</a:t>
            </a:r>
            <a:r>
              <a:rPr lang="en-US" sz="1600" dirty="0">
                <a:latin typeface="Athelas" panose="02000503000000020003"/>
              </a:rPr>
              <a:t> &gt; d1 </a:t>
            </a:r>
          </a:p>
          <a:p>
            <a:r>
              <a:rPr lang="en-US" sz="1600" dirty="0">
                <a:latin typeface="Athelas" panose="02000503000000020003"/>
              </a:rPr>
              <a:t>Therefore,  we do not reject null hypothesis</a:t>
            </a:r>
          </a:p>
          <a:p>
            <a:endParaRPr lang="en-US" sz="1600" dirty="0">
              <a:latin typeface="Athelas" panose="02000503000000020003"/>
            </a:endParaRPr>
          </a:p>
          <a:p>
            <a:r>
              <a:rPr lang="en-US" sz="1600" dirty="0">
                <a:latin typeface="Athelas" panose="02000503000000020003"/>
              </a:rPr>
              <a:t>Conclusion: Hence, we can say that there are no significant changes in LTD of previous year and current year of private sector banks.</a:t>
            </a:r>
          </a:p>
          <a:p>
            <a:endParaRPr lang="en-US" sz="1600" dirty="0">
              <a:latin typeface="Athelas" panose="02000503000000020003"/>
            </a:endParaRPr>
          </a:p>
          <a:p>
            <a:r>
              <a:rPr lang="en-US" b="0" i="0" dirty="0">
                <a:solidFill>
                  <a:srgbClr val="0D0D0D"/>
                </a:solidFill>
                <a:effectLst/>
                <a:latin typeface="Athelas" panose="02000503000000020003"/>
              </a:rPr>
              <a:t>This finding implies that private sector banks have maintained relatively stable LTD levels over the considered time period. A lack of significant changes in LTD indicates that private sector banks have likely managed their loan and deposit portfolios in a consistent manner, without experiencing drastic shifts in their lending or funding activities.</a:t>
            </a:r>
            <a:endParaRPr lang="en-US" dirty="0">
              <a:latin typeface="Athelas" panose="02000503000000020003"/>
            </a:endParaRPr>
          </a:p>
          <a:p>
            <a:endParaRPr lang="en-US" sz="1600" dirty="0">
              <a:latin typeface="Athelas" panose="02000503000000020003"/>
            </a:endParaRPr>
          </a:p>
          <a:p>
            <a:endParaRPr lang="en-IN" sz="1600" dirty="0">
              <a:latin typeface="Athelas" panose="02000503000000020003"/>
            </a:endParaRPr>
          </a:p>
        </p:txBody>
      </p:sp>
    </p:spTree>
    <p:extLst>
      <p:ext uri="{BB962C8B-B14F-4D97-AF65-F5344CB8AC3E}">
        <p14:creationId xmlns:p14="http://schemas.microsoft.com/office/powerpoint/2010/main" val="6407925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3E8D5B-D793-65F3-748D-CF569875DE67}"/>
              </a:ext>
            </a:extLst>
          </p:cNvPr>
          <p:cNvSpPr txBox="1"/>
          <p:nvPr/>
        </p:nvSpPr>
        <p:spPr>
          <a:xfrm>
            <a:off x="712694" y="1506071"/>
            <a:ext cx="6172200" cy="1015663"/>
          </a:xfrm>
          <a:prstGeom prst="rect">
            <a:avLst/>
          </a:prstGeom>
          <a:noFill/>
        </p:spPr>
        <p:txBody>
          <a:bodyPr wrap="square" rtlCol="0">
            <a:spAutoFit/>
          </a:bodyPr>
          <a:lstStyle/>
          <a:p>
            <a:r>
              <a:rPr lang="en-US" sz="2000" b="1" dirty="0">
                <a:latin typeface="Athelas" panose="02000503000000020003" pitchFamily="2" charset="77"/>
              </a:rPr>
              <a:t>Test for CAR (Capital Adequacy Ratio):</a:t>
            </a:r>
          </a:p>
          <a:p>
            <a:r>
              <a:rPr lang="en-US" sz="2000" b="1" dirty="0">
                <a:latin typeface="Athelas" panose="02000503000000020003" pitchFamily="2" charset="77"/>
              </a:rPr>
              <a:t>(Paired Sample sign test)</a:t>
            </a:r>
          </a:p>
          <a:p>
            <a:r>
              <a:rPr lang="en-US" sz="2000" b="1" dirty="0">
                <a:latin typeface="Athelas" panose="02000503000000020003" pitchFamily="2" charset="77"/>
              </a:rPr>
              <a:t>Public Bank (2022-2023)</a:t>
            </a:r>
            <a:endParaRPr lang="en-US" sz="2000" dirty="0"/>
          </a:p>
        </p:txBody>
      </p:sp>
      <p:sp>
        <p:nvSpPr>
          <p:cNvPr id="3" name="TextBox 2">
            <a:extLst>
              <a:ext uri="{FF2B5EF4-FFF2-40B4-BE49-F238E27FC236}">
                <a16:creationId xmlns:a16="http://schemas.microsoft.com/office/drawing/2014/main" id="{7797E55E-99A3-CC37-56EA-824836DE89A9}"/>
              </a:ext>
            </a:extLst>
          </p:cNvPr>
          <p:cNvSpPr txBox="1"/>
          <p:nvPr/>
        </p:nvSpPr>
        <p:spPr>
          <a:xfrm>
            <a:off x="712694" y="2521734"/>
            <a:ext cx="3784209" cy="1323439"/>
          </a:xfrm>
          <a:prstGeom prst="rect">
            <a:avLst/>
          </a:prstGeom>
          <a:noFill/>
        </p:spPr>
        <p:txBody>
          <a:bodyPr wrap="square" rtlCol="0">
            <a:spAutoFit/>
          </a:bodyPr>
          <a:lstStyle/>
          <a:p>
            <a:r>
              <a:rPr lang="en-US" sz="1600" dirty="0">
                <a:latin typeface="Athelas" panose="02000503000000020003"/>
              </a:rPr>
              <a:t>H</a:t>
            </a:r>
            <a:r>
              <a:rPr lang="en-US" sz="1600" baseline="-25000" dirty="0">
                <a:latin typeface="Athelas" panose="02000503000000020003"/>
              </a:rPr>
              <a:t>0</a:t>
            </a:r>
            <a:r>
              <a:rPr lang="en-US" sz="1600" dirty="0">
                <a:latin typeface="Athelas" panose="02000503000000020003"/>
              </a:rPr>
              <a:t> : Mx = My</a:t>
            </a:r>
          </a:p>
          <a:p>
            <a:r>
              <a:rPr lang="en-US" sz="1600" dirty="0">
                <a:latin typeface="Athelas" panose="02000503000000020003"/>
              </a:rPr>
              <a:t>H</a:t>
            </a:r>
            <a:r>
              <a:rPr lang="en-US" sz="1600" baseline="-25000" dirty="0">
                <a:latin typeface="Athelas" panose="02000503000000020003"/>
              </a:rPr>
              <a:t>1</a:t>
            </a:r>
            <a:r>
              <a:rPr lang="en-US" sz="1600" dirty="0">
                <a:latin typeface="Athelas" panose="02000503000000020003"/>
              </a:rPr>
              <a:t> : Mx &gt; My</a:t>
            </a:r>
          </a:p>
          <a:p>
            <a:r>
              <a:rPr lang="en-US" sz="1600" dirty="0">
                <a:latin typeface="Athelas" panose="02000503000000020003"/>
              </a:rPr>
              <a:t>X :  Median Private Sector LTD </a:t>
            </a:r>
          </a:p>
          <a:p>
            <a:r>
              <a:rPr lang="en-US" sz="1600" dirty="0">
                <a:latin typeface="Athelas" panose="02000503000000020003"/>
              </a:rPr>
              <a:t>Y :  Median Public Sector Sample</a:t>
            </a:r>
          </a:p>
          <a:p>
            <a:r>
              <a:rPr lang="en-US" sz="1600" dirty="0">
                <a:latin typeface="Athelas" panose="02000503000000020003"/>
              </a:rPr>
              <a:t>Level of Significance = 0.05</a:t>
            </a:r>
            <a:endParaRPr lang="en-IN" sz="1600" dirty="0">
              <a:latin typeface="Athelas" panose="02000503000000020003"/>
            </a:endParaRPr>
          </a:p>
        </p:txBody>
      </p:sp>
      <p:graphicFrame>
        <p:nvGraphicFramePr>
          <p:cNvPr id="5" name="Table 4">
            <a:extLst>
              <a:ext uri="{FF2B5EF4-FFF2-40B4-BE49-F238E27FC236}">
                <a16:creationId xmlns:a16="http://schemas.microsoft.com/office/drawing/2014/main" id="{C9F5935B-9A40-3150-4599-9A6B79A02181}"/>
              </a:ext>
            </a:extLst>
          </p:cNvPr>
          <p:cNvGraphicFramePr>
            <a:graphicFrameLocks noGrp="1"/>
          </p:cNvGraphicFramePr>
          <p:nvPr>
            <p:extLst>
              <p:ext uri="{D42A27DB-BD31-4B8C-83A1-F6EECF244321}">
                <p14:modId xmlns:p14="http://schemas.microsoft.com/office/powerpoint/2010/main" val="1024607278"/>
              </p:ext>
            </p:extLst>
          </p:nvPr>
        </p:nvGraphicFramePr>
        <p:xfrm>
          <a:off x="749300" y="4095750"/>
          <a:ext cx="2514600" cy="1949450"/>
        </p:xfrm>
        <a:graphic>
          <a:graphicData uri="http://schemas.openxmlformats.org/drawingml/2006/table">
            <a:tbl>
              <a:tblPr>
                <a:tableStyleId>{E83C75A5-541F-4068-BE22-2AE3A88C29BB}</a:tableStyleId>
              </a:tblPr>
              <a:tblGrid>
                <a:gridCol w="1238997">
                  <a:extLst>
                    <a:ext uri="{9D8B030D-6E8A-4147-A177-3AD203B41FA5}">
                      <a16:colId xmlns:a16="http://schemas.microsoft.com/office/drawing/2014/main" val="3235672058"/>
                    </a:ext>
                  </a:extLst>
                </a:gridCol>
                <a:gridCol w="1275603">
                  <a:extLst>
                    <a:ext uri="{9D8B030D-6E8A-4147-A177-3AD203B41FA5}">
                      <a16:colId xmlns:a16="http://schemas.microsoft.com/office/drawing/2014/main" val="3173587029"/>
                    </a:ext>
                  </a:extLst>
                </a:gridCol>
              </a:tblGrid>
              <a:tr h="389890">
                <a:tc>
                  <a:txBody>
                    <a:bodyPr/>
                    <a:lstStyle/>
                    <a:p>
                      <a:pPr algn="ctr" fontAlgn="b"/>
                      <a:r>
                        <a:rPr lang="en-IN" sz="1400" b="1" u="none" strike="noStrike" dirty="0">
                          <a:effectLst/>
                          <a:latin typeface="Athelas" panose="02000503000000020003"/>
                        </a:rPr>
                        <a:t>Mx</a:t>
                      </a:r>
                      <a:endParaRPr lang="en-IN" sz="14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Athelas" panose="02000503000000020003"/>
                        </a:rPr>
                        <a:t>82.97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6330956"/>
                  </a:ext>
                </a:extLst>
              </a:tr>
              <a:tr h="389890">
                <a:tc>
                  <a:txBody>
                    <a:bodyPr/>
                    <a:lstStyle/>
                    <a:p>
                      <a:pPr algn="ctr" fontAlgn="b"/>
                      <a:r>
                        <a:rPr lang="en-IN" sz="1400" b="1" u="none" strike="noStrike" dirty="0">
                          <a:effectLst/>
                          <a:latin typeface="Athelas" panose="02000503000000020003"/>
                        </a:rPr>
                        <a:t>My</a:t>
                      </a:r>
                      <a:endParaRPr lang="en-IN" sz="14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i="0" u="none" strike="noStrike" dirty="0">
                          <a:solidFill>
                            <a:srgbClr val="000000"/>
                          </a:solidFill>
                          <a:effectLst/>
                          <a:latin typeface="Athelas" panose="02000503000000020003"/>
                        </a:rPr>
                        <a:t>75.44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984230"/>
                  </a:ext>
                </a:extLst>
              </a:tr>
              <a:tr h="389890">
                <a:tc>
                  <a:txBody>
                    <a:bodyPr/>
                    <a:lstStyle/>
                    <a:p>
                      <a:pPr algn="ctr" fontAlgn="b"/>
                      <a:r>
                        <a:rPr lang="en-IN" sz="1400" b="1" u="none" strike="noStrike">
                          <a:effectLst/>
                          <a:latin typeface="Athelas" panose="02000503000000020003"/>
                        </a:rPr>
                        <a:t>T+</a:t>
                      </a:r>
                      <a:endParaRPr lang="en-IN" sz="1400" b="1" i="0" u="none" strike="noStrike">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400" b="1" i="0" u="none" strike="noStrike" dirty="0">
                          <a:solidFill>
                            <a:srgbClr val="000000"/>
                          </a:solidFill>
                          <a:effectLst/>
                          <a:latin typeface="Athelas" panose="02000503000000020003"/>
                        </a:rPr>
                        <a:t>5</a:t>
                      </a:r>
                      <a:endParaRPr lang="en-IN" sz="14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0914715"/>
                  </a:ext>
                </a:extLst>
              </a:tr>
              <a:tr h="389890">
                <a:tc>
                  <a:txBody>
                    <a:bodyPr/>
                    <a:lstStyle/>
                    <a:p>
                      <a:pPr algn="ctr" fontAlgn="b"/>
                      <a:r>
                        <a:rPr lang="en-IN" sz="1400" b="1" u="none" strike="noStrike">
                          <a:effectLst/>
                          <a:latin typeface="Athelas" panose="02000503000000020003"/>
                        </a:rPr>
                        <a:t>T-</a:t>
                      </a:r>
                      <a:endParaRPr lang="en-IN" sz="1400" b="1" i="0" u="none" strike="noStrike">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400" b="1" i="0" u="none" strike="noStrike" dirty="0">
                          <a:solidFill>
                            <a:srgbClr val="000000"/>
                          </a:solidFill>
                          <a:effectLst/>
                          <a:latin typeface="Athelas" panose="02000503000000020003"/>
                        </a:rPr>
                        <a:t>0</a:t>
                      </a:r>
                      <a:endParaRPr lang="en-IN" sz="14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7532409"/>
                  </a:ext>
                </a:extLst>
              </a:tr>
              <a:tr h="389890">
                <a:tc>
                  <a:txBody>
                    <a:bodyPr/>
                    <a:lstStyle/>
                    <a:p>
                      <a:pPr algn="ctr" fontAlgn="b"/>
                      <a:r>
                        <a:rPr lang="en-IN" sz="1400" b="1" u="none" strike="noStrike">
                          <a:effectLst/>
                          <a:latin typeface="Athelas" panose="02000503000000020003"/>
                        </a:rPr>
                        <a:t>d1</a:t>
                      </a:r>
                      <a:endParaRPr lang="en-IN" sz="1400" b="1" i="0" u="none" strike="noStrike">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400" b="1" u="none" strike="noStrike" dirty="0">
                          <a:effectLst/>
                          <a:latin typeface="Athelas" panose="02000503000000020003"/>
                        </a:rPr>
                        <a:t>0</a:t>
                      </a:r>
                      <a:endParaRPr lang="en-IN" sz="1400" b="1" i="0" u="none" strike="noStrike" dirty="0">
                        <a:solidFill>
                          <a:srgbClr val="000000"/>
                        </a:solidFill>
                        <a:effectLst/>
                        <a:latin typeface="Athelas" panose="02000503000000020003"/>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8047873"/>
                  </a:ext>
                </a:extLst>
              </a:tr>
            </a:tbl>
          </a:graphicData>
        </a:graphic>
      </p:graphicFrame>
      <p:sp>
        <p:nvSpPr>
          <p:cNvPr id="6" name="TextBox 5">
            <a:extLst>
              <a:ext uri="{FF2B5EF4-FFF2-40B4-BE49-F238E27FC236}">
                <a16:creationId xmlns:a16="http://schemas.microsoft.com/office/drawing/2014/main" id="{D9C46061-F098-3C9C-D5AD-B06108EACF6A}"/>
              </a:ext>
            </a:extLst>
          </p:cNvPr>
          <p:cNvSpPr txBox="1"/>
          <p:nvPr/>
        </p:nvSpPr>
        <p:spPr>
          <a:xfrm>
            <a:off x="6096000" y="2620043"/>
            <a:ext cx="5050302" cy="4339650"/>
          </a:xfrm>
          <a:prstGeom prst="rect">
            <a:avLst/>
          </a:prstGeom>
          <a:noFill/>
        </p:spPr>
        <p:txBody>
          <a:bodyPr wrap="square" rtlCol="0">
            <a:spAutoFit/>
          </a:bodyPr>
          <a:lstStyle/>
          <a:p>
            <a:r>
              <a:rPr lang="en-US" sz="1600" dirty="0">
                <a:latin typeface="Athelas" panose="02000503000000020003"/>
              </a:rPr>
              <a:t>Since,</a:t>
            </a:r>
          </a:p>
          <a:p>
            <a:r>
              <a:rPr lang="en-US" sz="1600" dirty="0">
                <a:latin typeface="Athelas" panose="02000503000000020003"/>
              </a:rPr>
              <a:t>T</a:t>
            </a:r>
            <a:r>
              <a:rPr lang="en-US" sz="1600" baseline="30000" dirty="0">
                <a:latin typeface="Athelas" panose="02000503000000020003"/>
              </a:rPr>
              <a:t>-</a:t>
            </a:r>
            <a:r>
              <a:rPr lang="en-US" sz="1600" dirty="0">
                <a:latin typeface="Athelas" panose="02000503000000020003"/>
              </a:rPr>
              <a:t> = d1 </a:t>
            </a:r>
          </a:p>
          <a:p>
            <a:r>
              <a:rPr lang="en-US" sz="1600" dirty="0">
                <a:latin typeface="Athelas" panose="02000503000000020003"/>
              </a:rPr>
              <a:t>Therefore, we will reject null hypothesis</a:t>
            </a:r>
          </a:p>
          <a:p>
            <a:endParaRPr lang="en-US" sz="1600" dirty="0">
              <a:latin typeface="Athelas" panose="02000503000000020003"/>
            </a:endParaRPr>
          </a:p>
          <a:p>
            <a:r>
              <a:rPr lang="en-US" sz="1600" dirty="0">
                <a:latin typeface="Athelas" panose="02000503000000020003"/>
              </a:rPr>
              <a:t>Conclusion: Hence, we can say that there is significant changes in LTD of previous year and current year of public sector banks.</a:t>
            </a:r>
          </a:p>
          <a:p>
            <a:endParaRPr lang="en-US" sz="1600" dirty="0">
              <a:latin typeface="Athelas" panose="02000503000000020003"/>
            </a:endParaRPr>
          </a:p>
          <a:p>
            <a:r>
              <a:rPr lang="en-US" b="0" i="0" dirty="0">
                <a:solidFill>
                  <a:srgbClr val="0D0D0D"/>
                </a:solidFill>
                <a:effectLst/>
                <a:latin typeface="Athelas" panose="02000503000000020003"/>
              </a:rPr>
              <a:t>The observed changes in LTD underscore the dynamic nature of public sector banks' balance sheets and their responsiveness to evolving market dynamics and regulatory environments. It suggests that these banks have been actively managing their loan and deposit portfolios to adapt to changing circumstances and optimize their financial performance.</a:t>
            </a:r>
            <a:endParaRPr lang="en-US" dirty="0">
              <a:latin typeface="Athelas" panose="02000503000000020003"/>
            </a:endParaRPr>
          </a:p>
          <a:p>
            <a:endParaRPr lang="en-US" sz="1600" dirty="0">
              <a:latin typeface="Athelas" panose="02000503000000020003"/>
            </a:endParaRPr>
          </a:p>
          <a:p>
            <a:endParaRPr lang="en-US" sz="1600" dirty="0">
              <a:latin typeface="Athelas" panose="02000503000000020003"/>
            </a:endParaRPr>
          </a:p>
          <a:p>
            <a:endParaRPr lang="en-US" sz="1600" dirty="0">
              <a:latin typeface="Athelas" panose="02000503000000020003"/>
            </a:endParaRPr>
          </a:p>
          <a:p>
            <a:endParaRPr lang="en-IN" sz="1600" dirty="0">
              <a:latin typeface="Athelas" panose="02000503000000020003"/>
            </a:endParaRPr>
          </a:p>
        </p:txBody>
      </p:sp>
    </p:spTree>
    <p:extLst>
      <p:ext uri="{BB962C8B-B14F-4D97-AF65-F5344CB8AC3E}">
        <p14:creationId xmlns:p14="http://schemas.microsoft.com/office/powerpoint/2010/main" val="625209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273CB3-349E-BAA4-A189-59E4F6B47919}"/>
              </a:ext>
            </a:extLst>
          </p:cNvPr>
          <p:cNvSpPr txBox="1"/>
          <p:nvPr/>
        </p:nvSpPr>
        <p:spPr>
          <a:xfrm>
            <a:off x="855382" y="1306174"/>
            <a:ext cx="3254189" cy="400110"/>
          </a:xfrm>
          <a:prstGeom prst="rect">
            <a:avLst/>
          </a:prstGeom>
          <a:noFill/>
        </p:spPr>
        <p:txBody>
          <a:bodyPr wrap="square" rtlCol="0">
            <a:spAutoFit/>
          </a:bodyPr>
          <a:lstStyle/>
          <a:p>
            <a:r>
              <a:rPr lang="en-US" sz="2000" b="1" dirty="0">
                <a:latin typeface="Athelas" panose="02000503000000020003" pitchFamily="2" charset="77"/>
              </a:rPr>
              <a:t>Conclusion</a:t>
            </a:r>
            <a:endParaRPr lang="en-US" b="1" dirty="0">
              <a:latin typeface="Athelas" panose="02000503000000020003" pitchFamily="2" charset="77"/>
            </a:endParaRPr>
          </a:p>
        </p:txBody>
      </p:sp>
      <p:sp>
        <p:nvSpPr>
          <p:cNvPr id="6" name="TextBox 5">
            <a:extLst>
              <a:ext uri="{FF2B5EF4-FFF2-40B4-BE49-F238E27FC236}">
                <a16:creationId xmlns:a16="http://schemas.microsoft.com/office/drawing/2014/main" id="{6B59E3CD-2A41-EC03-609A-B575B81625C8}"/>
              </a:ext>
            </a:extLst>
          </p:cNvPr>
          <p:cNvSpPr txBox="1"/>
          <p:nvPr/>
        </p:nvSpPr>
        <p:spPr>
          <a:xfrm>
            <a:off x="659653" y="1874728"/>
            <a:ext cx="8848165" cy="5570756"/>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rgbClr val="0D0D0D"/>
                </a:solidFill>
                <a:latin typeface="Söhne"/>
              </a:rPr>
              <a:t>P</a:t>
            </a:r>
            <a:r>
              <a:rPr lang="en-US" sz="1600" b="0" i="0" dirty="0">
                <a:solidFill>
                  <a:srgbClr val="0D0D0D"/>
                </a:solidFill>
                <a:effectLst/>
                <a:latin typeface="Söhne"/>
              </a:rPr>
              <a:t>rivate banks may exhibit greater efficiency in managing their interest income and expenses, resulting in a higher margin between interest earned on assets and interest paid on liabilities</a:t>
            </a:r>
            <a:r>
              <a:rPr lang="en-US" sz="1600" b="0" i="0" dirty="0">
                <a:solidFill>
                  <a:srgbClr val="0D0D0D"/>
                </a:solidFill>
                <a:effectLst/>
                <a:latin typeface="+mn-lt"/>
              </a:rPr>
              <a:t>.</a:t>
            </a:r>
          </a:p>
          <a:p>
            <a:endParaRPr lang="en-US" sz="1600" b="0" i="0" dirty="0">
              <a:solidFill>
                <a:srgbClr val="0D0D0D"/>
              </a:solidFill>
              <a:effectLst/>
              <a:latin typeface="+mn-lt"/>
            </a:endParaRPr>
          </a:p>
          <a:p>
            <a:pPr marL="285750" indent="-285750">
              <a:buFont typeface="Arial" panose="020B0604020202020204" pitchFamily="34" charset="0"/>
              <a:buChar char="•"/>
            </a:pPr>
            <a:r>
              <a:rPr lang="en-US" sz="1600" dirty="0">
                <a:solidFill>
                  <a:srgbClr val="0D0D0D"/>
                </a:solidFill>
                <a:latin typeface="Söhne"/>
              </a:rPr>
              <a:t>T</a:t>
            </a:r>
            <a:r>
              <a:rPr lang="en-US" sz="1600" b="0" i="0" dirty="0">
                <a:solidFill>
                  <a:srgbClr val="0D0D0D"/>
                </a:solidFill>
                <a:effectLst/>
                <a:latin typeface="Söhne"/>
              </a:rPr>
              <a:t>he Mann-Whitney U test indicates a significant difference in the Interest Coverage Ratio (ICR) between AXIS, a private sector bank, and SBI, a public sector bank. Despite AXIS consistently displaying lower ICR values, it demonstrates better ability to cover interest expenses compared to SBI, which shows higher ICR values over the period 2018-2023.</a:t>
            </a:r>
          </a:p>
          <a:p>
            <a:endParaRPr lang="en-US" sz="1600" b="0" i="0" dirty="0">
              <a:solidFill>
                <a:srgbClr val="0D0D0D"/>
              </a:solidFill>
              <a:effectLst/>
              <a:latin typeface="Söhne"/>
            </a:endParaRPr>
          </a:p>
          <a:p>
            <a:pPr marL="285750" indent="-285750">
              <a:buFont typeface="Arial" panose="020B0604020202020204" pitchFamily="34" charset="0"/>
              <a:buChar char="•"/>
            </a:pPr>
            <a:r>
              <a:rPr lang="en-US" altLang="en-US" sz="1600" dirty="0">
                <a:solidFill>
                  <a:schemeClr val="tx1"/>
                </a:solidFill>
                <a:latin typeface="Athelas" panose="02000503000000020003"/>
              </a:rPr>
              <a:t>P</a:t>
            </a:r>
            <a:r>
              <a:rPr kumimoji="0" lang="en-US" altLang="en-US" sz="1600" b="0" i="0" u="none" strike="noStrike" cap="none" normalizeH="0" baseline="0" dirty="0">
                <a:ln>
                  <a:noFill/>
                </a:ln>
                <a:solidFill>
                  <a:schemeClr val="tx1"/>
                </a:solidFill>
                <a:effectLst/>
                <a:latin typeface="Athelas" panose="02000503000000020003"/>
              </a:rPr>
              <a:t>rivate banks tend to maintain a stronger capital position, enhancing their stability and resilience against potential risks and losses.</a:t>
            </a:r>
          </a:p>
          <a:p>
            <a:endParaRPr kumimoji="0" lang="en-US" altLang="en-US" sz="1600" b="0" i="0" u="none" strike="noStrike" cap="none" normalizeH="0" baseline="0" dirty="0">
              <a:ln>
                <a:noFill/>
              </a:ln>
              <a:solidFill>
                <a:schemeClr val="tx1"/>
              </a:solidFill>
              <a:effectLst/>
              <a:latin typeface="Athelas" panose="02000503000000020003"/>
            </a:endParaRPr>
          </a:p>
          <a:p>
            <a:pPr marL="285750" indent="-285750">
              <a:buFont typeface="Arial" panose="020B0604020202020204" pitchFamily="34" charset="0"/>
              <a:buChar char="•"/>
            </a:pPr>
            <a:r>
              <a:rPr lang="en-US" sz="1600" dirty="0">
                <a:solidFill>
                  <a:srgbClr val="0D0D0D"/>
                </a:solidFill>
                <a:latin typeface="Söhne"/>
              </a:rPr>
              <a:t>Public sector banks</a:t>
            </a:r>
            <a:r>
              <a:rPr lang="en-US" sz="1600" b="0" i="0" dirty="0">
                <a:solidFill>
                  <a:srgbClr val="0D0D0D"/>
                </a:solidFill>
                <a:effectLst/>
                <a:latin typeface="Söhne"/>
              </a:rPr>
              <a:t> actively manage loan and deposit portfolios , likely in response to evolving market conditions and regulatory requirements.</a:t>
            </a:r>
          </a:p>
          <a:p>
            <a:endParaRPr lang="en-US" sz="1600" b="0" i="0" dirty="0">
              <a:solidFill>
                <a:srgbClr val="0D0D0D"/>
              </a:solidFill>
              <a:effectLst/>
              <a:latin typeface="Söhne"/>
            </a:endParaRPr>
          </a:p>
          <a:p>
            <a:pPr marL="285750" indent="-285750">
              <a:buFont typeface="Arial" panose="020B0604020202020204" pitchFamily="34" charset="0"/>
              <a:buChar char="•"/>
            </a:pPr>
            <a:r>
              <a:rPr lang="en-US" sz="1600" b="0" i="0" dirty="0">
                <a:solidFill>
                  <a:srgbClr val="0D0D0D"/>
                </a:solidFill>
                <a:effectLst/>
                <a:latin typeface="Söhne"/>
              </a:rPr>
              <a:t>In summary, private banks generally outperform public sector banks across various financial ratios, indicating better asset quality, profitability, and capital adequacy. However, public sector banks play a crucial role in extending credit to the economy despite facing challenges. </a:t>
            </a:r>
            <a:endParaRPr kumimoji="0" lang="en-US" altLang="en-US" sz="1600" b="0" i="0" u="none" strike="noStrike" cap="none" normalizeH="0" baseline="0" dirty="0">
              <a:ln>
                <a:noFill/>
              </a:ln>
              <a:solidFill>
                <a:schemeClr val="tx1"/>
              </a:solidFill>
              <a:effectLst/>
              <a:latin typeface="Athelas" panose="02000503000000020003"/>
            </a:endParaRPr>
          </a:p>
          <a:p>
            <a:pPr marL="285750" indent="-285750">
              <a:buFont typeface="Arial" panose="020B0604020202020204" pitchFamily="34" charset="0"/>
              <a:buChar char="•"/>
            </a:pPr>
            <a:endParaRPr lang="en-US" b="0" i="0" dirty="0">
              <a:solidFill>
                <a:srgbClr val="0D0D0D"/>
              </a:solidFill>
              <a:effectLst/>
              <a:latin typeface="Söhne"/>
            </a:endParaRPr>
          </a:p>
          <a:p>
            <a:pPr marL="285750" indent="-285750">
              <a:buFont typeface="Arial" panose="020B0604020202020204" pitchFamily="34" charset="0"/>
              <a:buChar char="•"/>
            </a:pPr>
            <a:endParaRPr lang="en-US" b="0" i="0" dirty="0">
              <a:solidFill>
                <a:srgbClr val="0D0D0D"/>
              </a:solidFill>
              <a:effectLst/>
              <a:latin typeface="Söhne"/>
            </a:endParaRPr>
          </a:p>
          <a:p>
            <a:pPr marL="285750" indent="-285750">
              <a:buFont typeface="Arial" panose="020B0604020202020204" pitchFamily="34" charset="0"/>
              <a:buChar char="•"/>
            </a:pPr>
            <a:endParaRPr lang="en-US" b="0" i="0" dirty="0">
              <a:solidFill>
                <a:srgbClr val="0D0D0D"/>
              </a:solidFill>
              <a:effectLst/>
              <a:latin typeface="+mn-lt"/>
            </a:endParaRPr>
          </a:p>
          <a:p>
            <a:pPr marL="285750" indent="-285750">
              <a:buFont typeface="Arial" panose="020B0604020202020204" pitchFamily="34" charset="0"/>
              <a:buChar char="•"/>
            </a:pPr>
            <a:endParaRPr lang="en-US" dirty="0">
              <a:latin typeface="Athelas" panose="02000503000000020003"/>
            </a:endParaRPr>
          </a:p>
          <a:p>
            <a:pPr marL="285750" indent="-285750">
              <a:buFont typeface="Arial" panose="020B0604020202020204" pitchFamily="34" charset="0"/>
              <a:buChar char="•"/>
            </a:pPr>
            <a:endParaRPr lang="en-US" dirty="0">
              <a:latin typeface="Athelas" panose="02000503000000020003"/>
            </a:endParaRPr>
          </a:p>
          <a:p>
            <a:pPr marL="285750" indent="-285750">
              <a:buFont typeface="Arial" panose="020B0604020202020204" pitchFamily="34" charset="0"/>
              <a:buChar char="•"/>
            </a:pPr>
            <a:endParaRPr lang="en-US" dirty="0">
              <a:latin typeface="Athelas" panose="02000503000000020003"/>
            </a:endParaRPr>
          </a:p>
        </p:txBody>
      </p:sp>
      <p:sp>
        <p:nvSpPr>
          <p:cNvPr id="8" name="Rectangle 2">
            <a:extLst>
              <a:ext uri="{FF2B5EF4-FFF2-40B4-BE49-F238E27FC236}">
                <a16:creationId xmlns:a16="http://schemas.microsoft.com/office/drawing/2014/main" id="{F7CC251B-1C83-F04D-6D39-EC285894EEB2}"/>
              </a:ext>
            </a:extLst>
          </p:cNvPr>
          <p:cNvSpPr>
            <a:spLocks noChangeArrowheads="1"/>
          </p:cNvSpPr>
          <p:nvPr/>
        </p:nvSpPr>
        <p:spPr bwMode="auto">
          <a:xfrm>
            <a:off x="0" y="0"/>
            <a:ext cx="25971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 name="Rectangle 6">
            <a:extLst>
              <a:ext uri="{FF2B5EF4-FFF2-40B4-BE49-F238E27FC236}">
                <a16:creationId xmlns:a16="http://schemas.microsoft.com/office/drawing/2014/main" id="{529EF238-1920-547F-C634-DABBE2B2995F}"/>
              </a:ext>
            </a:extLst>
          </p:cNvPr>
          <p:cNvSpPr>
            <a:spLocks noChangeArrowheads="1"/>
          </p:cNvSpPr>
          <p:nvPr/>
        </p:nvSpPr>
        <p:spPr bwMode="auto">
          <a:xfrm>
            <a:off x="152400" y="152400"/>
            <a:ext cx="25971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Rectangle 10">
            <a:extLst>
              <a:ext uri="{FF2B5EF4-FFF2-40B4-BE49-F238E27FC236}">
                <a16:creationId xmlns:a16="http://schemas.microsoft.com/office/drawing/2014/main" id="{FEB14654-9D11-7463-E9DC-7A82A03540EE}"/>
              </a:ext>
            </a:extLst>
          </p:cNvPr>
          <p:cNvSpPr>
            <a:spLocks noChangeArrowheads="1"/>
          </p:cNvSpPr>
          <p:nvPr/>
        </p:nvSpPr>
        <p:spPr bwMode="auto">
          <a:xfrm>
            <a:off x="304800" y="304800"/>
            <a:ext cx="25971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552209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917011-E085-65F9-FE97-4D761C2AE007}"/>
              </a:ext>
            </a:extLst>
          </p:cNvPr>
          <p:cNvSpPr txBox="1"/>
          <p:nvPr/>
        </p:nvSpPr>
        <p:spPr>
          <a:xfrm>
            <a:off x="1230405" y="2396758"/>
            <a:ext cx="8848165" cy="3416320"/>
          </a:xfrm>
          <a:prstGeom prst="rect">
            <a:avLst/>
          </a:prstGeom>
          <a:noFill/>
        </p:spPr>
        <p:txBody>
          <a:bodyPr wrap="square" rtlCol="0">
            <a:spAutoFit/>
          </a:bodyPr>
          <a:lstStyle/>
          <a:p>
            <a:pPr marL="285750" indent="-285750">
              <a:buFont typeface="Arial" panose="020B0604020202020204" pitchFamily="34" charset="0"/>
              <a:buChar char="•"/>
            </a:pPr>
            <a:r>
              <a:rPr lang="en-US" sz="1800" dirty="0">
                <a:latin typeface="Athelas" panose="02000503000000020003" pitchFamily="2" charset="77"/>
              </a:rPr>
              <a:t>The data for public sector banks was not available to the public, so it had to be manually calculated, leading to many variations due to human error which can cause inconsistencies or inaccuracies in the dataset.</a:t>
            </a:r>
          </a:p>
          <a:p>
            <a:endParaRPr lang="en-US" sz="1800" dirty="0">
              <a:latin typeface="Athelas" panose="02000503000000020003" pitchFamily="2" charset="77"/>
            </a:endParaRPr>
          </a:p>
          <a:p>
            <a:pPr marL="285750" indent="-285750">
              <a:buFont typeface="Arial" panose="020B0604020202020204" pitchFamily="34" charset="0"/>
              <a:buChar char="•"/>
            </a:pPr>
            <a:r>
              <a:rPr lang="en-US" sz="1800" dirty="0">
                <a:latin typeface="Athelas" panose="02000503000000020003" pitchFamily="2" charset="77"/>
              </a:rPr>
              <a:t>The dataset includes both private and public sector banks, which may differ in terms of size, operations, and regulatory environment. Comparisons between these banks may be affected by differences in their characteristics, making it challenging to draw meaningful conclusions.</a:t>
            </a:r>
          </a:p>
          <a:p>
            <a:endParaRPr lang="en-US" sz="1800" dirty="0">
              <a:latin typeface="Athelas" panose="02000503000000020003" pitchFamily="2" charset="77"/>
            </a:endParaRPr>
          </a:p>
          <a:p>
            <a:pPr marL="285750" indent="-285750">
              <a:buFont typeface="Arial" panose="020B0604020202020204" pitchFamily="34" charset="0"/>
              <a:buChar char="•"/>
            </a:pPr>
            <a:r>
              <a:rPr lang="en-US" sz="1800" dirty="0">
                <a:latin typeface="Athelas" panose="02000503000000020003" pitchFamily="2" charset="77"/>
              </a:rPr>
              <a:t>The dataset relies on publicly available data, which may vary in terms of reliability and consistency across sources. Differences in data collection methods or reporting standards can introduce biases or inconsistencies in the dataset.</a:t>
            </a:r>
          </a:p>
        </p:txBody>
      </p:sp>
      <p:sp>
        <p:nvSpPr>
          <p:cNvPr id="3" name="TextBox 2">
            <a:extLst>
              <a:ext uri="{FF2B5EF4-FFF2-40B4-BE49-F238E27FC236}">
                <a16:creationId xmlns:a16="http://schemas.microsoft.com/office/drawing/2014/main" id="{475A1332-B5D9-9A06-A2F6-6554A4608668}"/>
              </a:ext>
            </a:extLst>
          </p:cNvPr>
          <p:cNvSpPr txBox="1"/>
          <p:nvPr/>
        </p:nvSpPr>
        <p:spPr>
          <a:xfrm>
            <a:off x="1230405" y="1616395"/>
            <a:ext cx="7732059" cy="461665"/>
          </a:xfrm>
          <a:prstGeom prst="rect">
            <a:avLst/>
          </a:prstGeom>
          <a:noFill/>
        </p:spPr>
        <p:txBody>
          <a:bodyPr wrap="square" rtlCol="0">
            <a:spAutoFit/>
          </a:bodyPr>
          <a:lstStyle/>
          <a:p>
            <a:r>
              <a:rPr lang="en-US" sz="2400" b="1" dirty="0">
                <a:latin typeface="Athelas" panose="02000503000000020003" pitchFamily="2" charset="77"/>
              </a:rPr>
              <a:t>Limitation</a:t>
            </a:r>
            <a:endParaRPr lang="en-US" b="1" dirty="0">
              <a:latin typeface="Athelas" panose="02000503000000020003" pitchFamily="2" charset="77"/>
            </a:endParaRPr>
          </a:p>
        </p:txBody>
      </p:sp>
    </p:spTree>
    <p:extLst>
      <p:ext uri="{BB962C8B-B14F-4D97-AF65-F5344CB8AC3E}">
        <p14:creationId xmlns:p14="http://schemas.microsoft.com/office/powerpoint/2010/main" val="34176667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CB1530-8A2A-AACA-227A-65A1ADF5355D}"/>
              </a:ext>
            </a:extLst>
          </p:cNvPr>
          <p:cNvSpPr txBox="1"/>
          <p:nvPr/>
        </p:nvSpPr>
        <p:spPr>
          <a:xfrm>
            <a:off x="1196788" y="1573306"/>
            <a:ext cx="5244353" cy="400110"/>
          </a:xfrm>
          <a:prstGeom prst="rect">
            <a:avLst/>
          </a:prstGeom>
          <a:noFill/>
        </p:spPr>
        <p:txBody>
          <a:bodyPr wrap="square" rtlCol="0">
            <a:spAutoFit/>
          </a:bodyPr>
          <a:lstStyle/>
          <a:p>
            <a:r>
              <a:rPr lang="en-US" sz="2000" b="1" dirty="0">
                <a:latin typeface="Athelas" panose="02000503000000020003" pitchFamily="2" charset="77"/>
              </a:rPr>
              <a:t>Bibliography</a:t>
            </a:r>
            <a:endParaRPr lang="en-US" b="1" dirty="0">
              <a:latin typeface="Athelas" panose="02000503000000020003" pitchFamily="2" charset="77"/>
            </a:endParaRPr>
          </a:p>
        </p:txBody>
      </p:sp>
      <p:sp>
        <p:nvSpPr>
          <p:cNvPr id="3" name="TextBox 2">
            <a:extLst>
              <a:ext uri="{FF2B5EF4-FFF2-40B4-BE49-F238E27FC236}">
                <a16:creationId xmlns:a16="http://schemas.microsoft.com/office/drawing/2014/main" id="{DEC7003F-599C-ABC2-9D21-108F4BB2CFEF}"/>
              </a:ext>
            </a:extLst>
          </p:cNvPr>
          <p:cNvSpPr txBox="1"/>
          <p:nvPr/>
        </p:nvSpPr>
        <p:spPr>
          <a:xfrm>
            <a:off x="1196788" y="2339788"/>
            <a:ext cx="10260106" cy="4739759"/>
          </a:xfrm>
          <a:prstGeom prst="rect">
            <a:avLst/>
          </a:prstGeom>
          <a:noFill/>
        </p:spPr>
        <p:txBody>
          <a:bodyPr wrap="square" rtlCol="0">
            <a:spAutoFit/>
          </a:bodyPr>
          <a:lstStyle/>
          <a:p>
            <a:pPr indent="-304800">
              <a:lnSpc>
                <a:spcPct val="200000"/>
              </a:lnSpc>
              <a:buFont typeface="Arial" panose="020B0604020202020204" pitchFamily="34" charset="0"/>
              <a:buChar char="•"/>
            </a:pPr>
            <a:r>
              <a:rPr lang="en-IN" sz="1200" kern="0" dirty="0">
                <a:solidFill>
                  <a:srgbClr val="000000"/>
                </a:solidFill>
                <a:effectLst/>
                <a:latin typeface="Athelas" panose="02000503000000020003" pitchFamily="2" charset="77"/>
                <a:ea typeface="Times New Roman" panose="02020603050405020304" pitchFamily="18" charset="0"/>
                <a:cs typeface="Times New Roman" panose="02020603050405020304" pitchFamily="18" charset="0"/>
              </a:rPr>
              <a:t>Garg, N. (2019). Decoding the great </a:t>
            </a:r>
            <a:r>
              <a:rPr lang="en-IN" sz="1200" kern="0" dirty="0" err="1">
                <a:solidFill>
                  <a:srgbClr val="000000"/>
                </a:solidFill>
                <a:effectLst/>
                <a:latin typeface="Athelas" panose="02000503000000020003" pitchFamily="2" charset="77"/>
                <a:ea typeface="Times New Roman" panose="02020603050405020304" pitchFamily="18" charset="0"/>
                <a:cs typeface="Times New Roman" panose="02020603050405020304" pitchFamily="18" charset="0"/>
              </a:rPr>
              <a:t>indian</a:t>
            </a:r>
            <a:r>
              <a:rPr lang="en-IN" sz="1200" kern="0" dirty="0">
                <a:solidFill>
                  <a:srgbClr val="000000"/>
                </a:solidFill>
                <a:effectLst/>
                <a:latin typeface="Athelas" panose="02000503000000020003" pitchFamily="2" charset="77"/>
                <a:ea typeface="Times New Roman" panose="02020603050405020304" pitchFamily="18" charset="0"/>
                <a:cs typeface="Times New Roman" panose="02020603050405020304" pitchFamily="18" charset="0"/>
              </a:rPr>
              <a:t> recapitalisation plan: Restoring the health of public sector banks in </a:t>
            </a:r>
            <a:r>
              <a:rPr lang="en-IN" sz="1200" kern="0" dirty="0" err="1">
                <a:solidFill>
                  <a:srgbClr val="000000"/>
                </a:solidFill>
                <a:effectLst/>
                <a:latin typeface="Athelas" panose="02000503000000020003" pitchFamily="2" charset="77"/>
                <a:ea typeface="Times New Roman" panose="02020603050405020304" pitchFamily="18" charset="0"/>
                <a:cs typeface="Times New Roman" panose="02020603050405020304" pitchFamily="18" charset="0"/>
              </a:rPr>
              <a:t>india</a:t>
            </a:r>
            <a:r>
              <a:rPr lang="en-IN" sz="1200" kern="0" dirty="0">
                <a:solidFill>
                  <a:srgbClr val="000000"/>
                </a:solidFill>
                <a:effectLst/>
                <a:latin typeface="Athelas" panose="02000503000000020003" pitchFamily="2" charset="77"/>
                <a:ea typeface="Times New Roman" panose="02020603050405020304" pitchFamily="18" charset="0"/>
                <a:cs typeface="Times New Roman" panose="02020603050405020304" pitchFamily="18" charset="0"/>
              </a:rPr>
              <a:t>. </a:t>
            </a:r>
            <a:r>
              <a:rPr lang="en-IN" sz="1200" i="1" kern="0" dirty="0">
                <a:solidFill>
                  <a:srgbClr val="000000"/>
                </a:solidFill>
                <a:effectLst/>
                <a:latin typeface="Athelas" panose="02000503000000020003" pitchFamily="2" charset="77"/>
                <a:ea typeface="Times New Roman" panose="02020603050405020304" pitchFamily="18" charset="0"/>
                <a:cs typeface="Times New Roman" panose="02020603050405020304" pitchFamily="18" charset="0"/>
              </a:rPr>
              <a:t>South Asian Survey</a:t>
            </a:r>
            <a:r>
              <a:rPr lang="en-IN" sz="1200" kern="0" dirty="0">
                <a:solidFill>
                  <a:srgbClr val="000000"/>
                </a:solidFill>
                <a:effectLst/>
                <a:latin typeface="Athelas" panose="02000503000000020003" pitchFamily="2" charset="77"/>
                <a:ea typeface="Times New Roman" panose="02020603050405020304" pitchFamily="18" charset="0"/>
                <a:cs typeface="Times New Roman" panose="02020603050405020304" pitchFamily="18" charset="0"/>
              </a:rPr>
              <a:t>, </a:t>
            </a:r>
            <a:r>
              <a:rPr lang="en-IN" sz="1200" i="1" kern="0" dirty="0">
                <a:solidFill>
                  <a:srgbClr val="000000"/>
                </a:solidFill>
                <a:effectLst/>
                <a:latin typeface="Athelas" panose="02000503000000020003" pitchFamily="2" charset="77"/>
                <a:ea typeface="Times New Roman" panose="02020603050405020304" pitchFamily="18" charset="0"/>
                <a:cs typeface="Times New Roman" panose="02020603050405020304" pitchFamily="18" charset="0"/>
              </a:rPr>
              <a:t>26</a:t>
            </a:r>
            <a:r>
              <a:rPr lang="en-IN" sz="1200" kern="0" dirty="0">
                <a:solidFill>
                  <a:srgbClr val="000000"/>
                </a:solidFill>
                <a:effectLst/>
                <a:latin typeface="Athelas" panose="02000503000000020003" pitchFamily="2" charset="77"/>
                <a:ea typeface="Times New Roman" panose="02020603050405020304" pitchFamily="18" charset="0"/>
                <a:cs typeface="Times New Roman" panose="02020603050405020304" pitchFamily="18" charset="0"/>
              </a:rPr>
              <a:t>(1), 28–54. https://</a:t>
            </a:r>
            <a:r>
              <a:rPr lang="en-IN" sz="1200" kern="0" dirty="0" err="1">
                <a:solidFill>
                  <a:srgbClr val="000000"/>
                </a:solidFill>
                <a:effectLst/>
                <a:latin typeface="Athelas" panose="02000503000000020003" pitchFamily="2" charset="77"/>
                <a:ea typeface="Times New Roman" panose="02020603050405020304" pitchFamily="18" charset="0"/>
                <a:cs typeface="Times New Roman" panose="02020603050405020304" pitchFamily="18" charset="0"/>
              </a:rPr>
              <a:t>doi.org</a:t>
            </a:r>
            <a:r>
              <a:rPr lang="en-IN" sz="1200" kern="0" dirty="0">
                <a:solidFill>
                  <a:srgbClr val="000000"/>
                </a:solidFill>
                <a:effectLst/>
                <a:latin typeface="Athelas" panose="02000503000000020003" pitchFamily="2" charset="77"/>
                <a:ea typeface="Times New Roman" panose="02020603050405020304" pitchFamily="18" charset="0"/>
                <a:cs typeface="Times New Roman" panose="02020603050405020304" pitchFamily="18" charset="0"/>
              </a:rPr>
              <a:t>/10.1177/0971523118825393</a:t>
            </a:r>
            <a:endParaRPr lang="en-IN" sz="1200" kern="100" dirty="0">
              <a:effectLst/>
              <a:latin typeface="Athelas" panose="02000503000000020003" pitchFamily="2" charset="77"/>
              <a:ea typeface="Calibri" panose="020F0502020204030204" pitchFamily="34" charset="0"/>
              <a:cs typeface="Times New Roman" panose="02020603050405020304" pitchFamily="18" charset="0"/>
            </a:endParaRPr>
          </a:p>
          <a:p>
            <a:pPr indent="-304800">
              <a:lnSpc>
                <a:spcPct val="200000"/>
              </a:lnSpc>
              <a:buFont typeface="Arial" panose="020B0604020202020204" pitchFamily="34" charset="0"/>
              <a:buChar char="•"/>
            </a:pPr>
            <a:r>
              <a:rPr lang="en-IN" sz="1200" kern="0" dirty="0">
                <a:solidFill>
                  <a:srgbClr val="000000"/>
                </a:solidFill>
                <a:effectLst/>
                <a:latin typeface="Athelas" panose="02000503000000020003" pitchFamily="2" charset="77"/>
                <a:ea typeface="Times New Roman" panose="02020603050405020304" pitchFamily="18" charset="0"/>
                <a:cs typeface="Times New Roman" panose="02020603050405020304" pitchFamily="18" charset="0"/>
              </a:rPr>
              <a:t>Keil, J., &amp; </a:t>
            </a:r>
            <a:r>
              <a:rPr lang="en-IN" sz="1200" kern="0" dirty="0" err="1">
                <a:solidFill>
                  <a:srgbClr val="000000"/>
                </a:solidFill>
                <a:effectLst/>
                <a:latin typeface="Athelas" panose="02000503000000020003" pitchFamily="2" charset="77"/>
                <a:ea typeface="Times New Roman" panose="02020603050405020304" pitchFamily="18" charset="0"/>
                <a:cs typeface="Times New Roman" panose="02020603050405020304" pitchFamily="18" charset="0"/>
              </a:rPr>
              <a:t>Ongena</a:t>
            </a:r>
            <a:r>
              <a:rPr lang="en-IN" sz="1200" kern="0" dirty="0">
                <a:solidFill>
                  <a:srgbClr val="000000"/>
                </a:solidFill>
                <a:effectLst/>
                <a:latin typeface="Athelas" panose="02000503000000020003" pitchFamily="2" charset="77"/>
                <a:ea typeface="Times New Roman" panose="02020603050405020304" pitchFamily="18" charset="0"/>
                <a:cs typeface="Times New Roman" panose="02020603050405020304" pitchFamily="18" charset="0"/>
              </a:rPr>
              <a:t>, S. (2024). The demise of branch banking – Technology, consolidation, bank fragility. </a:t>
            </a:r>
            <a:r>
              <a:rPr lang="en-IN" sz="1200" i="1" kern="0" dirty="0">
                <a:solidFill>
                  <a:srgbClr val="000000"/>
                </a:solidFill>
                <a:effectLst/>
                <a:latin typeface="Athelas" panose="02000503000000020003" pitchFamily="2" charset="77"/>
                <a:ea typeface="Times New Roman" panose="02020603050405020304" pitchFamily="18" charset="0"/>
                <a:cs typeface="Times New Roman" panose="02020603050405020304" pitchFamily="18" charset="0"/>
              </a:rPr>
              <a:t>Journal of Banking &amp; Finance</a:t>
            </a:r>
            <a:r>
              <a:rPr lang="en-IN" sz="1200" kern="0" dirty="0">
                <a:solidFill>
                  <a:srgbClr val="000000"/>
                </a:solidFill>
                <a:effectLst/>
                <a:latin typeface="Athelas" panose="02000503000000020003" pitchFamily="2" charset="77"/>
                <a:ea typeface="Times New Roman" panose="02020603050405020304" pitchFamily="18" charset="0"/>
                <a:cs typeface="Times New Roman" panose="02020603050405020304" pitchFamily="18" charset="0"/>
              </a:rPr>
              <a:t>, </a:t>
            </a:r>
            <a:r>
              <a:rPr lang="en-IN" sz="1200" i="1" kern="0" dirty="0">
                <a:solidFill>
                  <a:srgbClr val="000000"/>
                </a:solidFill>
                <a:effectLst/>
                <a:latin typeface="Athelas" panose="02000503000000020003" pitchFamily="2" charset="77"/>
                <a:ea typeface="Times New Roman" panose="02020603050405020304" pitchFamily="18" charset="0"/>
                <a:cs typeface="Times New Roman" panose="02020603050405020304" pitchFamily="18" charset="0"/>
              </a:rPr>
              <a:t>158</a:t>
            </a:r>
            <a:r>
              <a:rPr lang="en-IN" sz="1200" kern="0" dirty="0">
                <a:solidFill>
                  <a:srgbClr val="000000"/>
                </a:solidFill>
                <a:effectLst/>
                <a:latin typeface="Athelas" panose="02000503000000020003" pitchFamily="2" charset="77"/>
                <a:ea typeface="Times New Roman" panose="02020603050405020304" pitchFamily="18" charset="0"/>
                <a:cs typeface="Times New Roman" panose="02020603050405020304" pitchFamily="18" charset="0"/>
              </a:rPr>
              <a:t>, 107038. https://</a:t>
            </a:r>
            <a:r>
              <a:rPr lang="en-IN" sz="1200" kern="0" dirty="0" err="1">
                <a:solidFill>
                  <a:srgbClr val="000000"/>
                </a:solidFill>
                <a:effectLst/>
                <a:latin typeface="Athelas" panose="02000503000000020003" pitchFamily="2" charset="77"/>
                <a:ea typeface="Times New Roman" panose="02020603050405020304" pitchFamily="18" charset="0"/>
                <a:cs typeface="Times New Roman" panose="02020603050405020304" pitchFamily="18" charset="0"/>
              </a:rPr>
              <a:t>doi.org</a:t>
            </a:r>
            <a:r>
              <a:rPr lang="en-IN" sz="1200" kern="0" dirty="0">
                <a:solidFill>
                  <a:srgbClr val="000000"/>
                </a:solidFill>
                <a:effectLst/>
                <a:latin typeface="Athelas" panose="02000503000000020003" pitchFamily="2" charset="77"/>
                <a:ea typeface="Times New Roman" panose="02020603050405020304" pitchFamily="18" charset="0"/>
                <a:cs typeface="Times New Roman" panose="02020603050405020304" pitchFamily="18" charset="0"/>
              </a:rPr>
              <a:t>/10.1016/j.jbankfin.2023.107038</a:t>
            </a:r>
            <a:endParaRPr lang="en-IN" sz="1200" kern="100" dirty="0">
              <a:effectLst/>
              <a:latin typeface="Athelas" panose="02000503000000020003" pitchFamily="2" charset="77"/>
              <a:ea typeface="Calibri" panose="020F0502020204030204" pitchFamily="34" charset="0"/>
              <a:cs typeface="Times New Roman" panose="02020603050405020304" pitchFamily="18" charset="0"/>
            </a:endParaRPr>
          </a:p>
          <a:p>
            <a:pPr indent="-304800">
              <a:lnSpc>
                <a:spcPct val="200000"/>
              </a:lnSpc>
              <a:buFont typeface="Arial" panose="020B0604020202020204" pitchFamily="34" charset="0"/>
              <a:buChar char="•"/>
            </a:pPr>
            <a:r>
              <a:rPr lang="en-IN" sz="1200" kern="100" dirty="0">
                <a:solidFill>
                  <a:schemeClr val="tx1"/>
                </a:solidFill>
                <a:effectLst/>
                <a:latin typeface="Athelas" panose="02000503000000020003" pitchFamily="2" charset="77"/>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https://gh.bmj.com/content/3/Suppl_1/e000597</a:t>
            </a:r>
            <a:endParaRPr lang="en-IN" sz="1200" kern="100" dirty="0">
              <a:solidFill>
                <a:schemeClr val="tx1"/>
              </a:solidFill>
              <a:effectLst/>
              <a:latin typeface="Athelas" panose="02000503000000020003" pitchFamily="2" charset="77"/>
              <a:ea typeface="Calibri" panose="020F0502020204030204" pitchFamily="34" charset="0"/>
              <a:cs typeface="Times New Roman" panose="02020603050405020304" pitchFamily="18" charset="0"/>
            </a:endParaRPr>
          </a:p>
          <a:p>
            <a:pPr indent="-304800">
              <a:lnSpc>
                <a:spcPct val="200000"/>
              </a:lnSpc>
              <a:buFont typeface="Arial" panose="020B0604020202020204" pitchFamily="34" charset="0"/>
              <a:buChar char="•"/>
            </a:pPr>
            <a:r>
              <a:rPr lang="en-IN" sz="1200" kern="100" dirty="0">
                <a:effectLst/>
                <a:latin typeface="Athelas" panose="02000503000000020003" pitchFamily="2" charset="77"/>
                <a:ea typeface="Calibri" panose="020F0502020204030204" pitchFamily="34" charset="0"/>
                <a:cs typeface="Times New Roman" panose="02020603050405020304" pitchFamily="18" charset="0"/>
                <a:hlinkClick r:id="rId3"/>
              </a:rPr>
              <a:t>https://bfsi.economictimes.indiatimes.com/news/banking/indian-banking-health-fortified-by-low-npas-capital-adequacy-and-liquidity-buffers-rbi/101362139</a:t>
            </a:r>
            <a:endParaRPr lang="en-IN" sz="1200" kern="100" dirty="0">
              <a:latin typeface="Athelas" panose="02000503000000020003" pitchFamily="2" charset="77"/>
              <a:ea typeface="Calibri" panose="020F0502020204030204" pitchFamily="34" charset="0"/>
              <a:cs typeface="Times New Roman" panose="02020603050405020304" pitchFamily="18" charset="0"/>
            </a:endParaRPr>
          </a:p>
          <a:p>
            <a:pPr indent="-304800">
              <a:lnSpc>
                <a:spcPct val="200000"/>
              </a:lnSpc>
              <a:buFont typeface="Arial" panose="020B0604020202020204" pitchFamily="34" charset="0"/>
              <a:buChar char="•"/>
            </a:pPr>
            <a:r>
              <a:rPr lang="en-US" sz="1200" dirty="0">
                <a:effectLst/>
              </a:rPr>
              <a:t>Ali, M. A., Pervez, A., Bansal, R., &amp; Khan, M. A. (2022). Analyzing performance of banks in </a:t>
            </a:r>
            <a:r>
              <a:rPr lang="en-US" sz="1200" dirty="0" err="1">
                <a:effectLst/>
              </a:rPr>
              <a:t>india</a:t>
            </a:r>
            <a:r>
              <a:rPr lang="en-US" sz="1200" dirty="0">
                <a:effectLst/>
              </a:rPr>
              <a:t>: A robust regression analysis approach. </a:t>
            </a:r>
            <a:r>
              <a:rPr lang="en-US" sz="1200" i="1" dirty="0">
                <a:effectLst/>
              </a:rPr>
              <a:t>Discrete Dynamics in Nature and Society</a:t>
            </a:r>
            <a:r>
              <a:rPr lang="en-US" sz="1200" dirty="0">
                <a:effectLst/>
              </a:rPr>
              <a:t>, </a:t>
            </a:r>
            <a:r>
              <a:rPr lang="en-US" sz="1200" i="1" dirty="0">
                <a:effectLst/>
              </a:rPr>
              <a:t>2022</a:t>
            </a:r>
            <a:r>
              <a:rPr lang="en-US" sz="1200" dirty="0">
                <a:effectLst/>
              </a:rPr>
              <a:t>, 1–9. </a:t>
            </a:r>
            <a:r>
              <a:rPr lang="en-US" sz="1200" dirty="0">
                <a:effectLst/>
                <a:hlinkClick r:id="rId4"/>
              </a:rPr>
              <a:t>https://doi.org/10.1155/2022/8103510</a:t>
            </a:r>
            <a:endParaRPr lang="en-US" sz="1200" dirty="0">
              <a:effectLst/>
            </a:endParaRPr>
          </a:p>
          <a:p>
            <a:pPr indent="-304800">
              <a:lnSpc>
                <a:spcPct val="200000"/>
              </a:lnSpc>
              <a:buFont typeface="Arial" panose="020B0604020202020204" pitchFamily="34" charset="0"/>
              <a:buChar char="•"/>
            </a:pPr>
            <a:r>
              <a:rPr lang="en-US" sz="1200" dirty="0">
                <a:effectLst/>
              </a:rPr>
              <a:t>Uppal, R. K. (2011). Comparative study of performance of </a:t>
            </a:r>
            <a:r>
              <a:rPr lang="en-US" sz="1200" dirty="0" err="1">
                <a:effectLst/>
              </a:rPr>
              <a:t>indian</a:t>
            </a:r>
            <a:r>
              <a:rPr lang="en-US" sz="1200" dirty="0">
                <a:effectLst/>
              </a:rPr>
              <a:t> commercial banks in the era of global melt-down. </a:t>
            </a:r>
            <a:r>
              <a:rPr lang="en-US" sz="1200" i="1" dirty="0">
                <a:effectLst/>
              </a:rPr>
              <a:t>Journal of Social and Development Sciences</a:t>
            </a:r>
            <a:r>
              <a:rPr lang="en-US" sz="1200" dirty="0">
                <a:effectLst/>
              </a:rPr>
              <a:t>, </a:t>
            </a:r>
            <a:r>
              <a:rPr lang="en-US" sz="1200" i="1" dirty="0">
                <a:effectLst/>
              </a:rPr>
              <a:t>1</a:t>
            </a:r>
            <a:r>
              <a:rPr lang="en-US" sz="1200" dirty="0">
                <a:effectLst/>
              </a:rPr>
              <a:t>(2), 60–66. https://doi.org/10.22610/jsds.v1i2.628</a:t>
            </a:r>
          </a:p>
          <a:p>
            <a:pPr>
              <a:lnSpc>
                <a:spcPct val="200000"/>
              </a:lnSpc>
            </a:pPr>
            <a:endParaRPr lang="en-US" sz="1200" dirty="0">
              <a:effectLst/>
            </a:endParaRPr>
          </a:p>
          <a:p>
            <a:pPr indent="-304800">
              <a:lnSpc>
                <a:spcPct val="200000"/>
              </a:lnSpc>
              <a:buFont typeface="Arial" panose="020B0604020202020204" pitchFamily="34" charset="0"/>
              <a:buChar char="•"/>
            </a:pPr>
            <a:endParaRPr lang="en-IN" sz="1200" kern="100" dirty="0">
              <a:effectLst/>
              <a:latin typeface="Athelas" panose="02000503000000020003" pitchFamily="2" charset="77"/>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5453420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C5A700-411F-D97E-1D96-684688DF66E2}"/>
              </a:ext>
            </a:extLst>
          </p:cNvPr>
          <p:cNvSpPr txBox="1"/>
          <p:nvPr/>
        </p:nvSpPr>
        <p:spPr>
          <a:xfrm>
            <a:off x="1465006" y="3044279"/>
            <a:ext cx="9261987" cy="1200329"/>
          </a:xfrm>
          <a:prstGeom prst="rect">
            <a:avLst/>
          </a:prstGeom>
          <a:noFill/>
        </p:spPr>
        <p:txBody>
          <a:bodyPr wrap="square" rtlCol="0">
            <a:spAutoFit/>
          </a:bodyPr>
          <a:lstStyle/>
          <a:p>
            <a:pPr algn="ctr"/>
            <a:r>
              <a:rPr lang="en-IN" sz="7200" dirty="0">
                <a:latin typeface="Athelas" panose="02000503000000020003"/>
              </a:rPr>
              <a:t>THANK YOU!</a:t>
            </a:r>
          </a:p>
        </p:txBody>
      </p:sp>
    </p:spTree>
    <p:extLst>
      <p:ext uri="{BB962C8B-B14F-4D97-AF65-F5344CB8AC3E}">
        <p14:creationId xmlns:p14="http://schemas.microsoft.com/office/powerpoint/2010/main" val="190236731"/>
      </p:ext>
    </p:extLst>
  </p:cSld>
  <p:clrMapOvr>
    <a:masterClrMapping/>
  </p:clrMapOvr>
</p:sld>
</file>

<file path=ppt/theme/theme1.xml><?xml version="1.0" encoding="utf-8"?>
<a:theme xmlns:a="http://schemas.openxmlformats.org/drawingml/2006/main" name="15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10543</TotalTime>
  <Words>3595</Words>
  <Application>Microsoft Office PowerPoint</Application>
  <PresentationFormat>Widescreen</PresentationFormat>
  <Paragraphs>426</Paragraphs>
  <Slides>25</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25</vt:i4>
      </vt:variant>
    </vt:vector>
  </HeadingPairs>
  <TitlesOfParts>
    <vt:vector size="34" baseType="lpstr">
      <vt:lpstr>Arial</vt:lpstr>
      <vt:lpstr>Athelas</vt:lpstr>
      <vt:lpstr>Calibri</vt:lpstr>
      <vt:lpstr>Calibri Light</vt:lpstr>
      <vt:lpstr>Cambria Math</vt:lpstr>
      <vt:lpstr>Söhne</vt:lpstr>
      <vt:lpstr>Times New Roman</vt:lpstr>
      <vt:lpstr>15_Custom Design</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Prashant Dhamale</dc:creator>
  <cp:lastModifiedBy>Taksh Mathur</cp:lastModifiedBy>
  <cp:revision>59</cp:revision>
  <dcterms:created xsi:type="dcterms:W3CDTF">2013-10-09T13:08:33Z</dcterms:created>
  <dcterms:modified xsi:type="dcterms:W3CDTF">2024-04-15T17:25:11Z</dcterms:modified>
</cp:coreProperties>
</file>